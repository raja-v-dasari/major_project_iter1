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of this presentation is the pipeline up to the assembled booklet document. Marking and evaluation are a separate stage and are not covered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it as a bottleneck, not as an OCR problem. The reading is what blocks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three times: because any one of them can be bypassed by running a stage on its 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asymmetry is the design. It is why the project survived losing GPU quota part way through.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this slide. The deletions are the result. A reviewer who asks 'why not segmentation' is answered here with numbers.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marker in the output carries a description, not coordinates. Asking the model for pixel boxes produced round numbers in its own resized space that mostly missed the figure.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measurement rule we kept: a benchmark page must never become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Honesty point: v2 is about 27% worse on clean prose and about 36% better on hard pages. We chose it knowing that.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general lesson: a resume rule that trusts 'the file exists' will happily preserve a broken result forever.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oversell the buckets. Thirteen pages is a small benchmark and we say so.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regex is in build_booklet.py. It is deliberately liberal, because the cost of a missed label is a whole lost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duplicate-table decision was signed off deliberately, not an oversight.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'what happens when it fails'.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deliverable the project set out to produce.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here. Evaluation is out of scope for this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10241280" cy="1463040"/>
          </a:xfrm>
          <a:prstGeom prst="rect">
            <a:avLst/>
          </a:prstGeom>
          <a:noFill/>
        </p:spPr>
        <p:txBody>
          <a:bodyPr wrap="square" lIns="0" rIns="0" tIns="0" bIns="0">
            <a:spAutoFit/>
          </a:bodyPr>
          <a:lstStyle/>
          <a:p>
            <a:pPr algn="l"/>
            <a:r>
              <a:rPr sz="4400" b="1" i="0">
                <a:solidFill>
                  <a:srgbClr val="222630"/>
                </a:solidFill>
                <a:latin typeface="Calibri"/>
              </a:rPr>
              <a:t>Reading handwritten exam booklets</a:t>
            </a:r>
          </a:p>
          <a:p>
            <a:r>
              <a:rPr sz="4400" b="1" i="0">
                <a:solidFill>
                  <a:srgbClr val="2E5A88"/>
                </a:solidFill>
                <a:latin typeface="Calibri"/>
              </a:rPr>
              <a:t>into one Markdown document per booklet</a:t>
            </a:r>
          </a:p>
        </p:txBody>
      </p:sp>
      <p:sp>
        <p:nvSpPr>
          <p:cNvPr id="4" name="TextBox 3"/>
          <p:cNvSpPr txBox="1"/>
          <p:nvPr/>
        </p:nvSpPr>
        <p:spPr>
          <a:xfrm>
            <a:off x="1005840" y="3794760"/>
            <a:ext cx="9601200" cy="457200"/>
          </a:xfrm>
          <a:prstGeom prst="rect">
            <a:avLst/>
          </a:prstGeom>
          <a:noFill/>
        </p:spPr>
        <p:txBody>
          <a:bodyPr wrap="square" lIns="0" rIns="0" tIns="0" bIns="0">
            <a:spAutoFit/>
          </a:bodyPr>
          <a:lstStyle/>
          <a:p>
            <a:pPr algn="l"/>
            <a:r>
              <a:rPr sz="1900" b="0" i="0">
                <a:solidFill>
                  <a:srgbClr val="6E7582"/>
                </a:solidFill>
                <a:latin typeface="Calibri"/>
              </a:rPr>
              <a:t>A vision-language pipeline for scanned answer scripts</a:t>
            </a:r>
          </a:p>
        </p:txBody>
      </p:sp>
      <p:sp>
        <p:nvSpPr>
          <p:cNvPr id="5" name="Rectangle 4"/>
          <p:cNvSpPr/>
          <p:nvPr/>
        </p:nvSpPr>
        <p:spPr>
          <a:xfrm>
            <a:off x="1005840" y="4434840"/>
            <a:ext cx="1828800" cy="3175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709160"/>
            <a:ext cx="9601200" cy="914400"/>
          </a:xfrm>
          <a:prstGeom prst="rect">
            <a:avLst/>
          </a:prstGeom>
          <a:noFill/>
        </p:spPr>
        <p:txBody>
          <a:bodyPr wrap="square" lIns="0" rIns="0" tIns="0" bIns="0">
            <a:spAutoFit/>
          </a:bodyPr>
          <a:lstStyle/>
          <a:p>
            <a:pPr algn="l"/>
            <a:r>
              <a:rPr sz="1600" b="0" i="0">
                <a:solidFill>
                  <a:srgbClr val="222630"/>
                </a:solidFill>
                <a:latin typeface="Calibri"/>
              </a:rPr>
              <a:t>Major Project  |  Computer Science &amp; Engineering</a:t>
            </a:r>
          </a:p>
          <a:p>
            <a:pPr>
              <a:spcBef>
                <a:spcPts val="400"/>
              </a:spcBef>
            </a:pPr>
            <a:r>
              <a:rPr sz="1600" b="0" i="0">
                <a:solidFill>
                  <a:srgbClr val="6E7582"/>
                </a:solidFill>
                <a:latin typeface="Calibri"/>
              </a:rPr>
              <a:t>B.M.S. College of Engineering</a:t>
            </a:r>
          </a:p>
          <a:p>
            <a:pPr>
              <a:spcBef>
                <a:spcPts val="1000"/>
              </a:spcBef>
            </a:pPr>
            <a:r>
              <a:rPr sz="1400" b="0" i="0">
                <a:solidFill>
                  <a:srgbClr val="6E7582"/>
                </a:solidFill>
                <a:latin typeface="Calibri"/>
              </a:rPr>
              <a:t>Corpus: Computer Networks CIE 1–3, 25CS5PCCON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The problem</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10424160" cy="502920"/>
          </a:xfrm>
          <a:prstGeom prst="rect">
            <a:avLst/>
          </a:prstGeom>
          <a:noFill/>
        </p:spPr>
        <p:txBody>
          <a:bodyPr wrap="square" lIns="0" rIns="0" tIns="0" bIns="0">
            <a:spAutoFit/>
          </a:bodyPr>
          <a:lstStyle/>
          <a:p>
            <a:pPr algn="l"/>
            <a:r>
              <a:rPr sz="1600" b="0" i="1">
                <a:solidFill>
                  <a:srgbClr val="6E7582"/>
                </a:solidFill>
                <a:latin typeface="Calibri"/>
              </a:rPr>
              <a:t>Answer scripts are read by hand, one page at a time.</a:t>
            </a:r>
          </a:p>
        </p:txBody>
      </p:sp>
      <p:sp>
        <p:nvSpPr>
          <p:cNvPr id="5" name="TextBox 4"/>
          <p:cNvSpPr txBox="1"/>
          <p:nvPr/>
        </p:nvSpPr>
        <p:spPr>
          <a:xfrm>
            <a:off x="777240" y="2057400"/>
            <a:ext cx="10515600" cy="4206240"/>
          </a:xfrm>
          <a:prstGeom prst="rect">
            <a:avLst/>
          </a:prstGeom>
          <a:noFill/>
        </p:spPr>
        <p:txBody>
          <a:bodyPr wrap="square" lIns="0" rIns="0" tIns="0" bIns="0">
            <a:spAutoFit/>
          </a:bodyPr>
          <a:lstStyle/>
          <a:p>
            <a:pPr algn="l">
              <a:lnSpc>
                <a:spcPct val="115000"/>
              </a:lnSpc>
              <a:spcAft>
                <a:spcPts val="1300"/>
              </a:spcAft>
            </a:pPr>
            <a:r>
              <a:rPr sz="1900" b="0" i="0">
                <a:solidFill>
                  <a:srgbClr val="2E5A88"/>
                </a:solidFill>
                <a:latin typeface="Calibri"/>
              </a:rPr>
              <a:t>•   </a:t>
            </a:r>
            <a:r>
              <a:rPr sz="1900" b="0" i="0">
                <a:solidFill>
                  <a:srgbClr val="222630"/>
                </a:solidFill>
                <a:latin typeface="Calibri"/>
              </a:rPr>
              <a:t>Each internal exam produces a stack of handwritten booklets. For our corpus that is </a:t>
            </a:r>
            <a:r>
              <a:rPr sz="1900" b="1" i="0">
                <a:solidFill>
                  <a:srgbClr val="222630"/>
                </a:solidFill>
                <a:latin typeface="Calibri"/>
              </a:rPr>
              <a:t>122 booklets</a:t>
            </a:r>
            <a:r>
              <a:rPr sz="1900" b="0" i="0">
                <a:solidFill>
                  <a:srgbClr val="222630"/>
                </a:solidFill>
                <a:latin typeface="Calibri"/>
              </a:rPr>
              <a:t> across three CIEs.</a:t>
            </a:r>
          </a:p>
          <a:p>
            <a:pPr>
              <a:lnSpc>
                <a:spcPct val="115000"/>
              </a:lnSpc>
              <a:spcAft>
                <a:spcPts val="1300"/>
              </a:spcAft>
            </a:pPr>
            <a:r>
              <a:rPr sz="1900" b="0" i="0">
                <a:solidFill>
                  <a:srgbClr val="2E5A88"/>
                </a:solidFill>
                <a:latin typeface="Calibri"/>
              </a:rPr>
              <a:t>•   </a:t>
            </a:r>
            <a:r>
              <a:rPr sz="1900" b="0" i="0">
                <a:solidFill>
                  <a:srgbClr val="222630"/>
                </a:solidFill>
                <a:latin typeface="Calibri"/>
              </a:rPr>
              <a:t>Everything downstream of reading them (marking, moderation, analytics, keeping a record) is blocked until somebody has read them.</a:t>
            </a:r>
          </a:p>
          <a:p>
            <a:pPr>
              <a:lnSpc>
                <a:spcPct val="115000"/>
              </a:lnSpc>
              <a:spcAft>
                <a:spcPts val="1300"/>
              </a:spcAft>
            </a:pPr>
            <a:r>
              <a:rPr sz="1900" b="0" i="0">
                <a:solidFill>
                  <a:srgbClr val="2E5A88"/>
                </a:solidFill>
                <a:latin typeface="Calibri"/>
              </a:rPr>
              <a:t>•   </a:t>
            </a:r>
            <a:r>
              <a:rPr sz="1900" b="0" i="0">
                <a:solidFill>
                  <a:srgbClr val="222630"/>
                </a:solidFill>
                <a:latin typeface="Calibri"/>
              </a:rPr>
              <a:t>Scans are not searchable. A booklet is an image, so nothing can be looked up, counted or compared.</a:t>
            </a:r>
          </a:p>
          <a:p>
            <a:pPr>
              <a:lnSpc>
                <a:spcPct val="115000"/>
              </a:lnSpc>
              <a:spcAft>
                <a:spcPts val="1300"/>
              </a:spcAft>
            </a:pPr>
            <a:r>
              <a:rPr sz="1900" b="0" i="0">
                <a:solidFill>
                  <a:srgbClr val="222630"/>
                </a:solidFill>
                <a:latin typeface="Calibri"/>
              </a:rPr>
              <a:t/>
            </a:r>
          </a:p>
          <a:p>
            <a:pPr>
              <a:lnSpc>
                <a:spcPct val="115000"/>
              </a:lnSpc>
              <a:spcAft>
                <a:spcPts val="1300"/>
              </a:spcAft>
            </a:pPr>
            <a:r>
              <a:rPr sz="1900" b="0" i="0">
                <a:solidFill>
                  <a:srgbClr val="2E5A88"/>
                </a:solidFill>
                <a:latin typeface="Calibri"/>
              </a:rPr>
              <a:t>•   </a:t>
            </a:r>
            <a:r>
              <a:rPr sz="1900" b="1" i="0">
                <a:solidFill>
                  <a:srgbClr val="222630"/>
                </a:solidFill>
                <a:latin typeface="Calibri"/>
              </a:rPr>
              <a:t>What we wanted at the end:</a:t>
            </a:r>
            <a:r>
              <a:rPr sz="1900" b="0" i="0">
                <a:solidFill>
                  <a:srgbClr val="222630"/>
                </a:solidFill>
                <a:latin typeface="Calibri"/>
              </a:rPr>
              <a:t> one Markdown file per booklet, questions in order, diagrams embedded as real images, ready to be marked by whatever comes next.</a:t>
            </a:r>
          </a:p>
        </p:txBody>
      </p:sp>
      <p:sp>
        <p:nvSpPr>
          <p:cNvPr id="6" name="Rounded Rectangle 5"/>
          <p:cNvSpPr/>
          <p:nvPr/>
        </p:nvSpPr>
        <p:spPr>
          <a:xfrm>
            <a:off x="777240" y="5074920"/>
            <a:ext cx="7863840" cy="1051560"/>
          </a:xfrm>
          <a:prstGeom prst="roundRect">
            <a:avLst>
              <a:gd name="adj" fmla="val 3000"/>
            </a:avLst>
          </a:prstGeom>
          <a:solidFill>
            <a:srgbClr val="F2F4F7"/>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tIns="146304"/>
          <a:lstStyle/>
          <a:p>
            <a:pPr algn="ctr">
              <a:spcAft>
                <a:spcPts val="200"/>
              </a:spcAft>
            </a:pPr>
            <a:r>
              <a:rPr sz="1250" b="0" i="0">
                <a:solidFill>
                  <a:srgbClr val="222630"/>
                </a:solidFill>
                <a:latin typeface="Consolas"/>
              </a:rPr>
              <a:t>student_07_cie_2/</a:t>
            </a:r>
          </a:p>
          <a:p>
            <a:pPr>
              <a:spcAft>
                <a:spcPts val="200"/>
              </a:spcAft>
            </a:pPr>
            <a:r>
              <a:rPr sz="1250" b="0" i="0">
                <a:solidFill>
                  <a:srgbClr val="222630"/>
                </a:solidFill>
                <a:latin typeface="Consolas"/>
              </a:rPr>
              <a:t>    booklet.md          &lt;- one document, whole booklet</a:t>
            </a:r>
          </a:p>
          <a:p>
            <a:pPr>
              <a:spcAft>
                <a:spcPts val="200"/>
              </a:spcAft>
            </a:pPr>
            <a:r>
              <a:rPr sz="1250" b="0" i="0">
                <a:solidFill>
                  <a:srgbClr val="222630"/>
                </a:solidFill>
                <a:latin typeface="Consolas"/>
              </a:rPr>
              <a:t>    figures/            &lt;- diagrams cropped out of the pages</a:t>
            </a:r>
          </a:p>
        </p:txBody>
      </p:sp>
      <p:sp>
        <p:nvSpPr>
          <p:cNvPr id="7" name="TextBox 6"/>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The corpus</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737360"/>
          <a:ext cx="5943600" cy="1920240"/>
        </p:xfrm>
        <a:graphic>
          <a:graphicData uri="http://schemas.openxmlformats.org/drawingml/2006/table">
            <a:tbl>
              <a:tblPr firstRow="1" bandRow="1">
                <a:tableStyleId>{5C22544A-7EE6-4342-B048-85BDC9FD1C3A}</a:tableStyleId>
              </a:tblPr>
              <a:tblGrid>
                <a:gridCol w="2103120"/>
                <a:gridCol w="1371600"/>
                <a:gridCol w="2468880"/>
              </a:tblGrid>
              <a:tr h="384048">
                <a:tc>
                  <a:txBody>
                    <a:bodyPr wrap="square"/>
                    <a:lstStyle/>
                    <a:p>
                      <a:pPr algn="l"/>
                      <a:r>
                        <a:rPr sz="1500" b="1" i="0">
                          <a:solidFill>
                            <a:srgbClr val="FFFFFF"/>
                          </a:solidFill>
                          <a:latin typeface="Calibri"/>
                        </a:rPr>
                        <a:t/>
                      </a:r>
                    </a:p>
                  </a:txBody>
                  <a:tcPr marL="128016" marT="36576" marB="36576" anchor="ctr">
                    <a:solidFill>
                      <a:srgbClr val="2E5A88"/>
                    </a:solidFill>
                  </a:tcPr>
                </a:tc>
                <a:tc>
                  <a:txBody>
                    <a:bodyPr wrap="square"/>
                    <a:lstStyle/>
                    <a:p>
                      <a:pPr algn="l"/>
                      <a:r>
                        <a:rPr sz="1500" b="1" i="0">
                          <a:solidFill>
                            <a:srgbClr val="FFFFFF"/>
                          </a:solidFill>
                          <a:latin typeface="Calibri"/>
                        </a:rPr>
                        <a:t>count</a:t>
                      </a:r>
                    </a:p>
                  </a:txBody>
                  <a:tcPr marL="128016" marT="36576" marB="36576" anchor="ctr">
                    <a:solidFill>
                      <a:srgbClr val="2E5A88"/>
                    </a:solidFill>
                  </a:tcPr>
                </a:tc>
                <a:tc>
                  <a:txBody>
                    <a:bodyPr wrap="square"/>
                    <a:lstStyle/>
                    <a:p>
                      <a:pPr algn="l"/>
                      <a:r>
                        <a:rPr sz="1500" b="1" i="0">
                          <a:solidFill>
                            <a:srgbClr val="FFFFFF"/>
                          </a:solidFill>
                          <a:latin typeface="Calibri"/>
                        </a:rPr>
                        <a:t>note</a:t>
                      </a:r>
                    </a:p>
                  </a:txBody>
                  <a:tcPr marL="128016" marT="36576" marB="36576" anchor="ctr">
                    <a:solidFill>
                      <a:srgbClr val="2E5A88"/>
                    </a:solidFill>
                  </a:tcPr>
                </a:tc>
              </a:tr>
              <a:tr h="384048">
                <a:tc>
                  <a:txBody>
                    <a:bodyPr wrap="square"/>
                    <a:lstStyle/>
                    <a:p>
                      <a:pPr algn="l"/>
                      <a:r>
                        <a:rPr sz="1500" b="0" i="0">
                          <a:solidFill>
                            <a:srgbClr val="222630"/>
                          </a:solidFill>
                          <a:latin typeface="Calibri"/>
                        </a:rPr>
                        <a:t>Booklets</a:t>
                      </a:r>
                    </a:p>
                  </a:txBody>
                  <a:tcPr marL="128016" marT="36576" marB="36576" anchor="ctr">
                    <a:solidFill>
                      <a:srgbClr val="FFFFFF"/>
                    </a:solidFill>
                  </a:tcPr>
                </a:tc>
                <a:tc>
                  <a:txBody>
                    <a:bodyPr wrap="square"/>
                    <a:lstStyle/>
                    <a:p>
                      <a:pPr algn="r"/>
                      <a:r>
                        <a:rPr sz="1500" b="0" i="0">
                          <a:solidFill>
                            <a:srgbClr val="222630"/>
                          </a:solidFill>
                          <a:latin typeface="Consolas"/>
                        </a:rPr>
                        <a:t>122</a:t>
                      </a:r>
                    </a:p>
                  </a:txBody>
                  <a:tcPr marL="128016" marT="36576" marB="36576" anchor="ctr">
                    <a:solidFill>
                      <a:srgbClr val="FFFFFF"/>
                    </a:solidFill>
                  </a:tcPr>
                </a:tc>
                <a:tc>
                  <a:txBody>
                    <a:bodyPr wrap="square"/>
                    <a:lstStyle/>
                    <a:p>
                      <a:pPr algn="l"/>
                      <a:r>
                        <a:rPr sz="1500" b="0" i="0">
                          <a:solidFill>
                            <a:srgbClr val="222630"/>
                          </a:solidFill>
                          <a:latin typeface="Calibri"/>
                        </a:rPr>
                        <a:t>student x CIE</a:t>
                      </a:r>
                    </a:p>
                  </a:txBody>
                  <a:tcPr marL="128016" marT="36576" marB="36576" anchor="ctr">
                    <a:solidFill>
                      <a:srgbClr val="FFFFFF"/>
                    </a:solidFill>
                  </a:tcPr>
                </a:tc>
              </a:tr>
              <a:tr h="384048">
                <a:tc>
                  <a:txBody>
                    <a:bodyPr wrap="square"/>
                    <a:lstStyle/>
                    <a:p>
                      <a:pPr algn="l"/>
                      <a:r>
                        <a:rPr sz="1500" b="0" i="0">
                          <a:solidFill>
                            <a:srgbClr val="222630"/>
                          </a:solidFill>
                          <a:latin typeface="Calibri"/>
                        </a:rPr>
                        <a:t>Pages total</a:t>
                      </a:r>
                    </a:p>
                  </a:txBody>
                  <a:tcPr marL="128016" marT="36576" marB="36576" anchor="ctr">
                    <a:solidFill>
                      <a:srgbClr val="F2F4F7"/>
                    </a:solidFill>
                  </a:tcPr>
                </a:tc>
                <a:tc>
                  <a:txBody>
                    <a:bodyPr wrap="square"/>
                    <a:lstStyle/>
                    <a:p>
                      <a:pPr algn="r"/>
                      <a:r>
                        <a:rPr sz="1500" b="0" i="0">
                          <a:solidFill>
                            <a:srgbClr val="222630"/>
                          </a:solidFill>
                          <a:latin typeface="Calibri"/>
                        </a:rPr>
                        <a:t>1,231</a:t>
                      </a:r>
                    </a:p>
                  </a:txBody>
                  <a:tcPr marL="128016" marT="36576" marB="36576" anchor="ctr">
                    <a:solidFill>
                      <a:srgbClr val="F2F4F7"/>
                    </a:solidFill>
                  </a:tcPr>
                </a:tc>
                <a:tc>
                  <a:txBody>
                    <a:bodyPr wrap="square"/>
                    <a:lstStyle/>
                    <a:p>
                      <a:pPr algn="l"/>
                      <a:r>
                        <a:rPr sz="1500" b="0" i="0">
                          <a:solidFill>
                            <a:srgbClr val="222630"/>
                          </a:solidFill>
                          <a:latin typeface="Calibri"/>
                        </a:rPr>
                        <a:t>batch04 still to read</a:t>
                      </a:r>
                    </a:p>
                  </a:txBody>
                  <a:tcPr marL="128016" marT="36576" marB="36576" anchor="ctr">
                    <a:solidFill>
                      <a:srgbClr val="F2F4F7"/>
                    </a:solidFill>
                  </a:tcPr>
                </a:tc>
              </a:tr>
              <a:tr h="384048">
                <a:tc>
                  <a:txBody>
                    <a:bodyPr wrap="square"/>
                    <a:lstStyle/>
                    <a:p>
                      <a:pPr algn="l"/>
                      <a:r>
                        <a:rPr sz="1500" b="0" i="0">
                          <a:solidFill>
                            <a:srgbClr val="222630"/>
                          </a:solidFill>
                          <a:latin typeface="Calibri"/>
                        </a:rPr>
                        <a:t>Pages read so far</a:t>
                      </a:r>
                    </a:p>
                  </a:txBody>
                  <a:tcPr marL="128016" marT="36576" marB="36576" anchor="ctr">
                    <a:solidFill>
                      <a:srgbClr val="FFFFFF"/>
                    </a:solidFill>
                  </a:tcPr>
                </a:tc>
                <a:tc>
                  <a:txBody>
                    <a:bodyPr wrap="square"/>
                    <a:lstStyle/>
                    <a:p>
                      <a:pPr algn="r"/>
                      <a:r>
                        <a:rPr sz="1500" b="0" i="0">
                          <a:solidFill>
                            <a:srgbClr val="222630"/>
                          </a:solidFill>
                          <a:latin typeface="Calibri"/>
                        </a:rPr>
                        <a:t>1,000</a:t>
                      </a:r>
                    </a:p>
                  </a:txBody>
                  <a:tcPr marL="128016" marT="36576" marB="36576" anchor="ctr">
                    <a:solidFill>
                      <a:srgbClr val="FFFFFF"/>
                    </a:solidFill>
                  </a:tcPr>
                </a:tc>
                <a:tc>
                  <a:txBody>
                    <a:bodyPr wrap="square"/>
                    <a:lstStyle/>
                    <a:p>
                      <a:pPr algn="l"/>
                      <a:r>
                        <a:rPr sz="1500" b="0" i="0">
                          <a:solidFill>
                            <a:srgbClr val="222630"/>
                          </a:solidFill>
                          <a:latin typeface="Calibri"/>
                        </a:rPr>
                        <a:t>batches 00–03</a:t>
                      </a:r>
                    </a:p>
                  </a:txBody>
                  <a:tcPr marL="128016" marT="36576" marB="36576" anchor="ctr">
                    <a:solidFill>
                      <a:srgbClr val="FFFFFF"/>
                    </a:solidFill>
                  </a:tcPr>
                </a:tc>
              </a:tr>
              <a:tr h="384048">
                <a:tc>
                  <a:txBody>
                    <a:bodyPr wrap="square"/>
                    <a:lstStyle/>
                    <a:p>
                      <a:pPr algn="l"/>
                      <a:r>
                        <a:rPr sz="1500" b="0" i="0">
                          <a:solidFill>
                            <a:srgbClr val="222630"/>
                          </a:solidFill>
                          <a:latin typeface="Calibri"/>
                        </a:rPr>
                        <a:t>CIEs</a:t>
                      </a:r>
                    </a:p>
                  </a:txBody>
                  <a:tcPr marL="128016" marT="36576" marB="36576" anchor="ctr">
                    <a:solidFill>
                      <a:srgbClr val="F2F4F7"/>
                    </a:solidFill>
                  </a:tcPr>
                </a:tc>
                <a:tc>
                  <a:txBody>
                    <a:bodyPr wrap="square"/>
                    <a:lstStyle/>
                    <a:p>
                      <a:pPr algn="r"/>
                      <a:r>
                        <a:rPr sz="1500" b="0" i="0">
                          <a:solidFill>
                            <a:srgbClr val="222630"/>
                          </a:solidFill>
                          <a:latin typeface="Consolas"/>
                        </a:rPr>
                        <a:t>3</a:t>
                      </a:r>
                    </a:p>
                  </a:txBody>
                  <a:tcPr marL="128016" marT="36576" marB="36576" anchor="ctr">
                    <a:solidFill>
                      <a:srgbClr val="F2F4F7"/>
                    </a:solidFill>
                  </a:tcPr>
                </a:tc>
                <a:tc>
                  <a:txBody>
                    <a:bodyPr wrap="square"/>
                    <a:lstStyle/>
                    <a:p>
                      <a:pPr algn="l"/>
                      <a:r>
                        <a:rPr sz="1500" b="0" i="0">
                          <a:solidFill>
                            <a:srgbClr val="222630"/>
                          </a:solidFill>
                          <a:latin typeface="Calibri"/>
                        </a:rPr>
                        <a:t>same course, same format</a:t>
                      </a:r>
                    </a:p>
                  </a:txBody>
                  <a:tcPr marL="128016" marT="36576" marB="36576" anchor="ctr">
                    <a:solidFill>
                      <a:srgbClr val="F2F4F7"/>
                    </a:solidFill>
                  </a:tcPr>
                </a:tc>
              </a:tr>
            </a:tbl>
          </a:graphicData>
        </a:graphic>
      </p:graphicFrame>
      <p:sp>
        <p:nvSpPr>
          <p:cNvPr id="5" name="TextBox 4"/>
          <p:cNvSpPr txBox="1"/>
          <p:nvPr/>
        </p:nvSpPr>
        <p:spPr>
          <a:xfrm>
            <a:off x="7223760" y="1737360"/>
            <a:ext cx="4206240" cy="2743200"/>
          </a:xfrm>
          <a:prstGeom prst="rect">
            <a:avLst/>
          </a:prstGeom>
          <a:noFill/>
        </p:spPr>
        <p:txBody>
          <a:bodyPr wrap="square" lIns="0" rIns="0" tIns="0" bIns="0">
            <a:spAutoFit/>
          </a:bodyPr>
          <a:lstStyle/>
          <a:p>
            <a:pPr algn="l"/>
            <a:r>
              <a:rPr sz="1800" b="1" i="0">
                <a:solidFill>
                  <a:srgbClr val="222630"/>
                </a:solidFill>
                <a:latin typeface="Calibri"/>
              </a:rPr>
              <a:t>Page images</a:t>
            </a:r>
          </a:p>
          <a:p>
            <a:pPr>
              <a:spcBef>
                <a:spcPts val="600"/>
              </a:spcBef>
            </a:pPr>
            <a:r>
              <a:rPr sz="1600" b="0" i="0">
                <a:solidFill>
                  <a:srgbClr val="6E7582"/>
                </a:solidFill>
                <a:latin typeface="Calibri"/>
              </a:rPr>
              <a:t>1598 x 2177, greyscale</a:t>
            </a:r>
          </a:p>
          <a:p>
            <a:pPr>
              <a:spcBef>
                <a:spcPts val="600"/>
              </a:spcBef>
            </a:pPr>
            <a:r>
              <a:rPr sz="1600" b="0" i="0">
                <a:solidFill>
                  <a:srgbClr val="6E7582"/>
                </a:solidFill>
                <a:latin typeface="Calibri"/>
              </a:rPr>
              <a:t>Deskewed, cropped and tone-flattened</a:t>
            </a:r>
          </a:p>
          <a:p>
            <a:pPr>
              <a:spcBef>
                <a:spcPts val="600"/>
              </a:spcBef>
            </a:pPr>
            <a:r>
              <a:rPr sz="1600" b="0" i="0">
                <a:solidFill>
                  <a:srgbClr val="6E7582"/>
                </a:solidFill>
                <a:latin typeface="Calibri"/>
              </a:rPr>
              <a:t>Never binarised — pencil and light ink</a:t>
            </a:r>
          </a:p>
          <a:p>
            <a:pPr>
              <a:spcBef>
                <a:spcPts val="600"/>
              </a:spcBef>
            </a:pPr>
            <a:r>
              <a:rPr sz="1600" b="0" i="0">
                <a:solidFill>
                  <a:srgbClr val="6E7582"/>
                </a:solidFill>
                <a:latin typeface="Calibri"/>
              </a:rPr>
              <a:t>survive better in grey</a:t>
            </a:r>
          </a:p>
        </p:txBody>
      </p:sp>
      <p:sp>
        <p:nvSpPr>
          <p:cNvPr id="6" name="Rounded Rectangle 5"/>
          <p:cNvSpPr/>
          <p:nvPr/>
        </p:nvSpPr>
        <p:spPr>
          <a:xfrm>
            <a:off x="777240" y="4434840"/>
            <a:ext cx="10607040" cy="1371600"/>
          </a:xfrm>
          <a:prstGeom prst="roundRect">
            <a:avLst/>
          </a:prstGeom>
          <a:solidFill>
            <a:srgbClr val="FDF3F3"/>
          </a:solidFill>
          <a:ln>
            <a:solidFill>
              <a:srgbClr val="E8C4C4"/>
            </a:solidFill>
          </a:ln>
          <a:effectLst/>
        </p:spPr>
        <p:style>
          <a:lnRef idx="1">
            <a:schemeClr val="accent1"/>
          </a:lnRef>
          <a:fillRef idx="3">
            <a:schemeClr val="accent1"/>
          </a:fillRef>
          <a:effectRef idx="2">
            <a:schemeClr val="accent1"/>
          </a:effectRef>
          <a:fontRef idx="minor">
            <a:schemeClr val="lt1"/>
          </a:fontRef>
        </p:style>
        <p:txBody>
          <a:bodyPr rtlCol="0" anchor="ctr" lIns="274320" tIns="182880" wrap="square"/>
          <a:lstStyle/>
          <a:p>
            <a:pPr algn="ctr"/>
            <a:r>
              <a:rPr sz="1900" b="1" i="0">
                <a:solidFill>
                  <a:srgbClr val="9B2C2C"/>
                </a:solidFill>
                <a:latin typeface="Calibri"/>
              </a:rPr>
              <a:t>Page 1 of every booklet is never processed.</a:t>
            </a:r>
          </a:p>
          <a:p>
            <a:pPr>
              <a:spcBef>
                <a:spcPts val="600"/>
              </a:spcBef>
            </a:pPr>
            <a:r>
              <a:rPr sz="1550" b="0" i="0">
                <a:solidFill>
                  <a:srgbClr val="222630"/>
                </a:solidFill>
                <a:latin typeface="Calibri"/>
              </a:rPr>
              <a:t>It carries the name, USN, signature and awarded marks. It is excluded three separate times — when the batches are packed, again inside the notebook when they arrive, and again in the pipeline driver. The redundancy is deliberate: “the caller already handled it” is how student data leaks to a hosted GPU.</a:t>
            </a:r>
          </a:p>
        </p:txBody>
      </p:sp>
      <p:sp>
        <p:nvSpPr>
          <p:cNvPr id="7" name="TextBox 6"/>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How it fits together</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10424160" cy="502920"/>
          </a:xfrm>
          <a:prstGeom prst="rect">
            <a:avLst/>
          </a:prstGeom>
          <a:noFill/>
        </p:spPr>
        <p:txBody>
          <a:bodyPr wrap="square" lIns="0" rIns="0" tIns="0" bIns="0">
            <a:spAutoFit/>
          </a:bodyPr>
          <a:lstStyle/>
          <a:p>
            <a:pPr algn="l"/>
            <a:r>
              <a:rPr sz="1600" b="0" i="1">
                <a:solidFill>
                  <a:srgbClr val="6E7582"/>
                </a:solidFill>
                <a:latin typeface="Calibri"/>
              </a:rPr>
              <a:t>Four stages. Only one of them needs a GPU.</a:t>
            </a:r>
          </a:p>
        </p:txBody>
      </p:sp>
      <p:sp>
        <p:nvSpPr>
          <p:cNvPr id="5" name="Rounded Rectangle 4"/>
          <p:cNvSpPr/>
          <p:nvPr/>
        </p:nvSpPr>
        <p:spPr>
          <a:xfrm>
            <a:off x="777240" y="2377440"/>
            <a:ext cx="2331720" cy="1417320"/>
          </a:xfrm>
          <a:prstGeom prst="roundRect">
            <a:avLst>
              <a:gd name="adj" fmla="val 9000"/>
            </a:avLst>
          </a:prstGeom>
          <a:solidFill>
            <a:srgbClr val="F2F4F7"/>
          </a:solidFill>
          <a:ln w="1270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222630"/>
                </a:solidFill>
                <a:latin typeface="Consolas"/>
              </a:rPr>
              <a:t>01_prepare</a:t>
            </a:r>
          </a:p>
          <a:p>
            <a:pPr algn="ctr">
              <a:spcBef>
                <a:spcPts val="500"/>
              </a:spcBef>
            </a:pPr>
            <a:r>
              <a:rPr sz="1350" b="0" i="0">
                <a:solidFill>
                  <a:srgbClr val="6E7582"/>
                </a:solidFill>
                <a:latin typeface="Calibri"/>
              </a:rPr>
              <a:t>deskew, crop,
tone</a:t>
            </a:r>
          </a:p>
        </p:txBody>
      </p:sp>
      <p:sp>
        <p:nvSpPr>
          <p:cNvPr id="6" name="Right Arrow 5"/>
          <p:cNvSpPr/>
          <p:nvPr/>
        </p:nvSpPr>
        <p:spPr>
          <a:xfrm>
            <a:off x="3172968" y="2971800"/>
            <a:ext cx="384048" cy="237744"/>
          </a:xfrm>
          <a:prstGeom prst="rightArrow">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566160" y="2377440"/>
            <a:ext cx="2331720" cy="1417320"/>
          </a:xfrm>
          <a:prstGeom prst="roundRect">
            <a:avLst>
              <a:gd name="adj" fmla="val 9000"/>
            </a:avLst>
          </a:prstGeom>
          <a:solidFill>
            <a:srgbClr val="2E5A88"/>
          </a:solidFill>
          <a:ln w="1270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onsolas"/>
              </a:rPr>
              <a:t>02_read</a:t>
            </a:r>
          </a:p>
          <a:p>
            <a:pPr algn="ctr">
              <a:spcBef>
                <a:spcPts val="500"/>
              </a:spcBef>
            </a:pPr>
            <a:r>
              <a:rPr sz="1350" b="0" i="0">
                <a:solidFill>
                  <a:srgbClr val="DCE6F2"/>
                </a:solidFill>
                <a:latin typeface="Calibri"/>
              </a:rPr>
              <a:t>page → Markdown
Qwen2.5-VL-7B</a:t>
            </a:r>
          </a:p>
        </p:txBody>
      </p:sp>
      <p:sp>
        <p:nvSpPr>
          <p:cNvPr id="8" name="Right Arrow 7"/>
          <p:cNvSpPr/>
          <p:nvPr/>
        </p:nvSpPr>
        <p:spPr>
          <a:xfrm>
            <a:off x="5961888" y="2971800"/>
            <a:ext cx="384048" cy="237744"/>
          </a:xfrm>
          <a:prstGeom prst="rightArrow">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55079" y="2377440"/>
            <a:ext cx="2331720" cy="1417320"/>
          </a:xfrm>
          <a:prstGeom prst="roundRect">
            <a:avLst>
              <a:gd name="adj" fmla="val 9000"/>
            </a:avLst>
          </a:prstGeom>
          <a:solidFill>
            <a:srgbClr val="F2F4F7"/>
          </a:solidFill>
          <a:ln w="1270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222630"/>
                </a:solidFill>
                <a:latin typeface="Consolas"/>
              </a:rPr>
              <a:t>03_assemble</a:t>
            </a:r>
          </a:p>
          <a:p>
            <a:pPr algn="ctr">
              <a:spcBef>
                <a:spcPts val="500"/>
              </a:spcBef>
            </a:pPr>
            <a:r>
              <a:rPr sz="1350" b="0" i="0">
                <a:solidFill>
                  <a:srgbClr val="6E7582"/>
                </a:solidFill>
                <a:latin typeface="Calibri"/>
              </a:rPr>
              <a:t>group by question,
crop figures</a:t>
            </a:r>
          </a:p>
        </p:txBody>
      </p:sp>
      <p:sp>
        <p:nvSpPr>
          <p:cNvPr id="10" name="Right Arrow 9"/>
          <p:cNvSpPr/>
          <p:nvPr/>
        </p:nvSpPr>
        <p:spPr>
          <a:xfrm>
            <a:off x="8750808" y="2971800"/>
            <a:ext cx="384048" cy="237744"/>
          </a:xfrm>
          <a:prstGeom prst="rightArrow">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0" y="2377440"/>
            <a:ext cx="2331720" cy="1417320"/>
          </a:xfrm>
          <a:prstGeom prst="roundRect">
            <a:avLst>
              <a:gd name="adj" fmla="val 9000"/>
            </a:avLst>
          </a:prstGeom>
          <a:solidFill>
            <a:srgbClr val="F2F4F7"/>
          </a:solidFill>
          <a:ln w="1270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222630"/>
                </a:solidFill>
                <a:latin typeface="Consolas"/>
              </a:rPr>
              <a:t>booklet.md</a:t>
            </a:r>
          </a:p>
          <a:p>
            <a:pPr algn="ctr">
              <a:spcBef>
                <a:spcPts val="500"/>
              </a:spcBef>
            </a:pPr>
            <a:r>
              <a:rPr sz="1350" b="0" i="0">
                <a:solidFill>
                  <a:srgbClr val="6E7582"/>
                </a:solidFill>
                <a:latin typeface="Calibri"/>
              </a:rPr>
              <a:t>one file
per booklet</a:t>
            </a:r>
          </a:p>
        </p:txBody>
      </p:sp>
      <p:sp>
        <p:nvSpPr>
          <p:cNvPr id="12" name="TextBox 11"/>
          <p:cNvSpPr txBox="1"/>
          <p:nvPr/>
        </p:nvSpPr>
        <p:spPr>
          <a:xfrm>
            <a:off x="777240" y="4114800"/>
            <a:ext cx="4572000" cy="365760"/>
          </a:xfrm>
          <a:prstGeom prst="rect">
            <a:avLst/>
          </a:prstGeom>
          <a:noFill/>
        </p:spPr>
        <p:txBody>
          <a:bodyPr wrap="square" lIns="0" rIns="0" tIns="0" bIns="0">
            <a:spAutoFit/>
          </a:bodyPr>
          <a:lstStyle/>
          <a:p>
            <a:pPr algn="l"/>
            <a:r>
              <a:rPr sz="1400" b="1" i="0">
                <a:solidFill>
                  <a:srgbClr val="2E5A88"/>
                </a:solidFill>
                <a:latin typeface="Calibri"/>
              </a:rPr>
              <a:t>↑  the only GPU step</a:t>
            </a:r>
          </a:p>
        </p:txBody>
      </p:sp>
      <p:sp>
        <p:nvSpPr>
          <p:cNvPr id="13" name="TextBox 12"/>
          <p:cNvSpPr txBox="1"/>
          <p:nvPr/>
        </p:nvSpPr>
        <p:spPr>
          <a:xfrm>
            <a:off x="777240" y="4663440"/>
            <a:ext cx="10515600" cy="2011680"/>
          </a:xfrm>
          <a:prstGeom prst="rect">
            <a:avLst/>
          </a:prstGeom>
          <a:noFill/>
        </p:spPr>
        <p:txBody>
          <a:bodyPr wrap="square" lIns="0" rIns="0" tIns="0" bIns="0">
            <a:spAutoFit/>
          </a:bodyPr>
          <a:lstStyle/>
          <a:p>
            <a:pPr algn="l">
              <a:lnSpc>
                <a:spcPct val="115000"/>
              </a:lnSpc>
              <a:spcAft>
                <a:spcPts val="1000"/>
              </a:spcAft>
            </a:pPr>
            <a:r>
              <a:rPr sz="1700" b="0" i="0">
                <a:solidFill>
                  <a:srgbClr val="2E5A88"/>
                </a:solidFill>
                <a:latin typeface="Calibri"/>
              </a:rPr>
              <a:t>•   </a:t>
            </a:r>
            <a:r>
              <a:rPr sz="1700" b="0" i="0">
                <a:solidFill>
                  <a:srgbClr val="222630"/>
                </a:solidFill>
                <a:latin typeface="Calibri"/>
              </a:rPr>
              <a:t>The load is lopsided, and that turned out to be the most useful thing we learned about the design. Reading needs a T4; everything else is OpenCV and runs on a laptop in seconds.</a:t>
            </a:r>
          </a:p>
          <a:p>
            <a:pPr>
              <a:lnSpc>
                <a:spcPct val="115000"/>
              </a:lnSpc>
              <a:spcAft>
                <a:spcPts val="1000"/>
              </a:spcAft>
            </a:pPr>
            <a:r>
              <a:rPr sz="1700" b="0" i="0">
                <a:solidFill>
                  <a:srgbClr val="2E5A88"/>
                </a:solidFill>
                <a:latin typeface="Calibri"/>
              </a:rPr>
              <a:t>•   </a:t>
            </a:r>
            <a:r>
              <a:rPr sz="1700" b="0" i="0">
                <a:solidFill>
                  <a:srgbClr val="222630"/>
                </a:solidFill>
                <a:latin typeface="Calibri"/>
              </a:rPr>
              <a:t>So reading sits behind a swappable interface (</a:t>
            </a:r>
            <a:r>
              <a:rPr sz="1700" b="1" i="0">
                <a:solidFill>
                  <a:srgbClr val="222630"/>
                </a:solidFill>
                <a:latin typeface="Calibri"/>
              </a:rPr>
              <a:t>cached</a:t>
            </a:r>
            <a:r>
              <a:rPr sz="1700" b="0" i="0">
                <a:solidFill>
                  <a:srgbClr val="222630"/>
                </a:solidFill>
                <a:latin typeface="Calibri"/>
              </a:rPr>
              <a:t>, </a:t>
            </a:r>
            <a:r>
              <a:rPr sz="1700" b="1" i="0">
                <a:solidFill>
                  <a:srgbClr val="222630"/>
                </a:solidFill>
                <a:latin typeface="Calibri"/>
              </a:rPr>
              <a:t>server</a:t>
            </a:r>
            <a:r>
              <a:rPr sz="1700" b="0" i="0">
                <a:solidFill>
                  <a:srgbClr val="222630"/>
                </a:solidFill>
                <a:latin typeface="Calibri"/>
              </a:rPr>
              <a:t>, </a:t>
            </a:r>
            <a:r>
              <a:rPr sz="1700" b="1" i="0">
                <a:solidFill>
                  <a:srgbClr val="222630"/>
                </a:solidFill>
                <a:latin typeface="Calibri"/>
              </a:rPr>
              <a:t>local</a:t>
            </a:r>
            <a:r>
              <a:rPr sz="1700" b="0" i="0">
                <a:solidFill>
                  <a:srgbClr val="222630"/>
                </a:solidFill>
                <a:latin typeface="Calibri"/>
              </a:rPr>
              <a:t>). The pipeline does not change when the GPU does.</a:t>
            </a:r>
          </a:p>
          <a:p>
            <a:pPr>
              <a:lnSpc>
                <a:spcPct val="115000"/>
              </a:lnSpc>
              <a:spcAft>
                <a:spcPts val="1000"/>
              </a:spcAft>
            </a:pPr>
            <a:r>
              <a:rPr sz="1700" b="0" i="0">
                <a:solidFill>
                  <a:srgbClr val="2E5A88"/>
                </a:solidFill>
                <a:latin typeface="Calibri"/>
              </a:rPr>
              <a:t>•   </a:t>
            </a:r>
            <a:r>
              <a:rPr sz="1700" b="0" i="0">
                <a:solidFill>
                  <a:srgbClr val="222630"/>
                </a:solidFill>
                <a:latin typeface="Calibri"/>
              </a:rPr>
              <a:t>Training and bulk reading run on free Colab. Nothing about the assembly stage depends on that.</a:t>
            </a:r>
          </a:p>
        </p:txBody>
      </p:sp>
      <p:sp>
        <p:nvSpPr>
          <p:cNvPr id="14" name="TextBox 13"/>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What we built first, and then deleted</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10424160" cy="502920"/>
          </a:xfrm>
          <a:prstGeom prst="rect">
            <a:avLst/>
          </a:prstGeom>
          <a:noFill/>
        </p:spPr>
        <p:txBody>
          <a:bodyPr wrap="square" lIns="0" rIns="0" tIns="0" bIns="0">
            <a:spAutoFit/>
          </a:bodyPr>
          <a:lstStyle/>
          <a:p>
            <a:pPr algn="l"/>
            <a:r>
              <a:rPr sz="1600" b="0" i="1">
                <a:solidFill>
                  <a:srgbClr val="6E7582"/>
                </a:solidFill>
                <a:latin typeface="Calibri"/>
              </a:rPr>
              <a:t>The line-by-line approach that the whole repo was originally built around.</a:t>
            </a:r>
          </a:p>
        </p:txBody>
      </p:sp>
      <p:sp>
        <p:nvSpPr>
          <p:cNvPr id="5" name="TextBox 4"/>
          <p:cNvSpPr txBox="1"/>
          <p:nvPr/>
        </p:nvSpPr>
        <p:spPr>
          <a:xfrm>
            <a:off x="777240" y="2057400"/>
            <a:ext cx="10515600" cy="4206240"/>
          </a:xfrm>
          <a:prstGeom prst="rect">
            <a:avLst/>
          </a:prstGeom>
          <a:noFill/>
        </p:spPr>
        <p:txBody>
          <a:bodyPr wrap="square" lIns="0" rIns="0" tIns="0" bIns="0">
            <a:spAutoFit/>
          </a:bodyPr>
          <a:lstStyle/>
          <a:p>
            <a:pPr algn="l">
              <a:lnSpc>
                <a:spcPct val="115000"/>
              </a:lnSpc>
              <a:spcAft>
                <a:spcPts val="1100"/>
              </a:spcAft>
            </a:pPr>
            <a:r>
              <a:rPr sz="1750" b="0" i="0">
                <a:solidFill>
                  <a:srgbClr val="2E5A88"/>
                </a:solidFill>
                <a:latin typeface="Calibri"/>
              </a:rPr>
              <a:t>•   </a:t>
            </a:r>
            <a:r>
              <a:rPr sz="1750" b="1" i="0">
                <a:solidFill>
                  <a:srgbClr val="222630"/>
                </a:solidFill>
                <a:latin typeface="Calibri"/>
              </a:rPr>
              <a:t>Segment the page into lines, recognise each line with TrOCR.</a:t>
            </a:r>
            <a:r>
              <a:rPr sz="1750" b="0" i="0">
                <a:solidFill>
                  <a:srgbClr val="222630"/>
                </a:solidFill>
                <a:latin typeface="Calibri"/>
              </a:rPr>
              <a:t> The textbook approach, and it is what we started with.</a:t>
            </a:r>
          </a:p>
          <a:p>
            <a:pPr>
              <a:lnSpc>
                <a:spcPct val="115000"/>
              </a:lnSpc>
              <a:spcAft>
                <a:spcPts val="1100"/>
              </a:spcAft>
            </a:pPr>
            <a:r>
              <a:rPr sz="1750" b="0" i="0">
                <a:solidFill>
                  <a:srgbClr val="2E5A88"/>
                </a:solidFill>
                <a:latin typeface="Calibri"/>
              </a:rPr>
              <a:t>•   </a:t>
            </a:r>
            <a:r>
              <a:rPr sz="1750" b="1" i="0">
                <a:solidFill>
                  <a:srgbClr val="222630"/>
                </a:solidFill>
                <a:latin typeface="Calibri"/>
              </a:rPr>
              <a:t>Find question numbers geometrically, then identify them.</a:t>
            </a:r>
            <a:r>
              <a:rPr sz="1750" b="0" i="0">
                <a:solidFill>
                  <a:srgbClr val="222630"/>
                </a:solidFill>
                <a:latin typeface="Calibri"/>
              </a:rPr>
              <a:t> TrOCR read 2 of 8 correctly. A CNN over 576 hand-labelled crops reached 78.4% against a 71.2% majority baseline, which is barely worth having.</a:t>
            </a:r>
          </a:p>
          <a:p>
            <a:pPr>
              <a:lnSpc>
                <a:spcPct val="115000"/>
              </a:lnSpc>
              <a:spcAft>
                <a:spcPts val="1100"/>
              </a:spcAft>
            </a:pPr>
            <a:r>
              <a:rPr sz="1750" b="0" i="0">
                <a:solidFill>
                  <a:srgbClr val="2E5A88"/>
                </a:solidFill>
                <a:latin typeface="Calibri"/>
              </a:rPr>
              <a:t>•   </a:t>
            </a:r>
            <a:r>
              <a:rPr sz="1750" b="1" i="0">
                <a:solidFill>
                  <a:srgbClr val="222630"/>
                </a:solidFill>
                <a:latin typeface="Calibri"/>
              </a:rPr>
              <a:t>Layout annotation in CVAT, exported to YOLO.</a:t>
            </a:r>
            <a:r>
              <a:rPr sz="1750" b="0" i="0">
                <a:solidFill>
                  <a:srgbClr val="222630"/>
                </a:solidFill>
                <a:latin typeface="Calibri"/>
              </a:rPr>
              <a:t> Abandoned at epoch 49.</a:t>
            </a:r>
          </a:p>
          <a:p>
            <a:pPr>
              <a:lnSpc>
                <a:spcPct val="115000"/>
              </a:lnSpc>
              <a:spcAft>
                <a:spcPts val="1100"/>
              </a:spcAft>
            </a:pPr>
            <a:r>
              <a:rPr sz="1750" b="0" i="0">
                <a:solidFill>
                  <a:srgbClr val="2E5A88"/>
                </a:solidFill>
                <a:latin typeface="Calibri"/>
              </a:rPr>
              <a:t>•   </a:t>
            </a:r>
            <a:r>
              <a:rPr sz="1750" b="1" i="0">
                <a:solidFill>
                  <a:srgbClr val="222630"/>
                </a:solidFill>
                <a:latin typeface="Calibri"/>
              </a:rPr>
              <a:t>Fine-tuning TrOCR.</a:t>
            </a:r>
            <a:r>
              <a:rPr sz="1750" b="0" i="0">
                <a:solidFill>
                  <a:srgbClr val="222630"/>
                </a:solidFill>
                <a:latin typeface="Calibri"/>
              </a:rPr>
              <a:t> Measured at roughly 19 usable lines per page and 57 seconds per sample on our CPU, so 1,000 lines meant about 53 pages of hand transcription and 126 hours of training.</a:t>
            </a:r>
          </a:p>
        </p:txBody>
      </p:sp>
      <p:sp>
        <p:nvSpPr>
          <p:cNvPr id="6" name="Rounded Rectangle 5"/>
          <p:cNvSpPr/>
          <p:nvPr/>
        </p:nvSpPr>
        <p:spPr>
          <a:xfrm>
            <a:off x="777240" y="5257800"/>
            <a:ext cx="10607040" cy="868680"/>
          </a:xfrm>
          <a:prstGeom prst="roundRect">
            <a:avLst>
              <a:gd name="adj" fmla="val 3000"/>
            </a:avLst>
          </a:prstGeom>
          <a:solidFill>
            <a:srgbClr val="F2F4F7"/>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tIns="146304"/>
          <a:lstStyle/>
          <a:p>
            <a:pPr algn="ctr">
              <a:spcAft>
                <a:spcPts val="200"/>
              </a:spcAft>
            </a:pPr>
            <a:r>
              <a:rPr sz="1300" b="0" i="0">
                <a:solidFill>
                  <a:srgbClr val="6E7582"/>
                </a:solidFill>
                <a:latin typeface="Consolas"/>
              </a:rPr>
              <a:t># all of it is in git history, none of it is in the pipeline</a:t>
            </a:r>
          </a:p>
          <a:p>
            <a:pPr>
              <a:spcAft>
                <a:spcPts val="200"/>
              </a:spcAft>
            </a:pPr>
            <a:r>
              <a:rPr sz="1300" b="0" i="0">
                <a:solidFill>
                  <a:srgbClr val="222630"/>
                </a:solidFill>
                <a:latin typeface="Consolas"/>
              </a:rPr>
              <a:t>02_segment    03_router    05_math    07_reconstruct    annotation/</a:t>
            </a:r>
          </a:p>
        </p:txBody>
      </p:sp>
      <p:sp>
        <p:nvSpPr>
          <p:cNvPr id="7" name="TextBox 6"/>
          <p:cNvSpPr txBox="1"/>
          <p:nvPr/>
        </p:nvSpPr>
        <p:spPr>
          <a:xfrm>
            <a:off x="777240" y="6263640"/>
            <a:ext cx="10607040" cy="365760"/>
          </a:xfrm>
          <a:prstGeom prst="rect">
            <a:avLst/>
          </a:prstGeom>
          <a:noFill/>
        </p:spPr>
        <p:txBody>
          <a:bodyPr wrap="square" lIns="0" rIns="0" tIns="0" bIns="0">
            <a:spAutoFit/>
          </a:bodyPr>
          <a:lstStyle/>
          <a:p>
            <a:pPr algn="l"/>
            <a:r>
              <a:rPr sz="1700" b="1" i="0">
                <a:solidFill>
                  <a:srgbClr val="2E5A88"/>
                </a:solidFill>
                <a:latin typeface="Calibri"/>
              </a:rPr>
              <a:t>Reading the whole page at once made all four of these unnecessary.</a:t>
            </a:r>
          </a:p>
        </p:txBody>
      </p:sp>
      <p:sp>
        <p:nvSpPr>
          <p:cNvPr id="8" name="TextBox 7"/>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Reading a whole page instead of a line</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10515600" cy="4206240"/>
          </a:xfrm>
          <a:prstGeom prst="rect">
            <a:avLst/>
          </a:prstGeom>
          <a:noFill/>
        </p:spPr>
        <p:txBody>
          <a:bodyPr wrap="square" lIns="0" rIns="0" tIns="0" bIns="0">
            <a:spAutoFit/>
          </a:bodyPr>
          <a:lstStyle/>
          <a:p>
            <a:pPr algn="l">
              <a:lnSpc>
                <a:spcPct val="115000"/>
              </a:lnSpc>
              <a:spcAft>
                <a:spcPts val="1100"/>
              </a:spcAft>
            </a:pPr>
            <a:r>
              <a:rPr sz="1800" b="0" i="0">
                <a:solidFill>
                  <a:srgbClr val="2E5A88"/>
                </a:solidFill>
                <a:latin typeface="Calibri"/>
              </a:rPr>
              <a:t>•   </a:t>
            </a:r>
            <a:r>
              <a:rPr sz="1800" b="1" i="0">
                <a:solidFill>
                  <a:srgbClr val="222630"/>
                </a:solidFill>
                <a:latin typeface="Calibri"/>
              </a:rPr>
              <a:t>Qwen2.5-VL-7B</a:t>
            </a:r>
            <a:r>
              <a:rPr sz="1800" b="0" i="0">
                <a:solidFill>
                  <a:srgbClr val="222630"/>
                </a:solidFill>
                <a:latin typeface="Calibri"/>
              </a:rPr>
              <a:t>, 4-bit quantised, on a free Colab T4. Zero-shot — no training, no labelled data.</a:t>
            </a:r>
          </a:p>
          <a:p>
            <a:pPr>
              <a:lnSpc>
                <a:spcPct val="115000"/>
              </a:lnSpc>
              <a:spcAft>
                <a:spcPts val="1100"/>
              </a:spcAft>
            </a:pPr>
            <a:r>
              <a:rPr sz="1800" b="0" i="0">
                <a:solidFill>
                  <a:srgbClr val="2E5A88"/>
                </a:solidFill>
                <a:latin typeface="Calibri"/>
              </a:rPr>
              <a:t>•   </a:t>
            </a:r>
            <a:r>
              <a:rPr sz="1800" b="0" i="0">
                <a:solidFill>
                  <a:srgbClr val="222630"/>
                </a:solidFill>
                <a:latin typeface="Calibri"/>
              </a:rPr>
              <a:t>The model sees the entire page, so it has the context a line recogniser never gets: it knows a scribble is a question number because of where it sits and what follows it.</a:t>
            </a:r>
          </a:p>
          <a:p>
            <a:pPr>
              <a:lnSpc>
                <a:spcPct val="115000"/>
              </a:lnSpc>
              <a:spcAft>
                <a:spcPts val="1100"/>
              </a:spcAft>
            </a:pPr>
            <a:r>
              <a:rPr sz="1800" b="0" i="0">
                <a:solidFill>
                  <a:srgbClr val="2E5A88"/>
                </a:solidFill>
                <a:latin typeface="Calibri"/>
              </a:rPr>
              <a:t>•   </a:t>
            </a:r>
            <a:r>
              <a:rPr sz="1800" b="0" i="0">
                <a:solidFill>
                  <a:srgbClr val="222630"/>
                </a:solidFill>
                <a:latin typeface="Calibri"/>
              </a:rPr>
              <a:t>It writes Markdown directly. Question numbers become headings, maths becomes inline LaTeX, struck-out text stays struck out.</a:t>
            </a:r>
          </a:p>
        </p:txBody>
      </p:sp>
      <p:sp>
        <p:nvSpPr>
          <p:cNvPr id="5" name="Rounded Rectangle 4"/>
          <p:cNvSpPr/>
          <p:nvPr/>
        </p:nvSpPr>
        <p:spPr>
          <a:xfrm>
            <a:off x="777240" y="3566160"/>
            <a:ext cx="6035040" cy="2057400"/>
          </a:xfrm>
          <a:prstGeom prst="roundRect">
            <a:avLst>
              <a:gd name="adj" fmla="val 3000"/>
            </a:avLst>
          </a:prstGeom>
          <a:solidFill>
            <a:srgbClr val="F2F4F7"/>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tIns="146304"/>
          <a:lstStyle/>
          <a:p>
            <a:pPr algn="ctr">
              <a:spcAft>
                <a:spcPts val="200"/>
              </a:spcAft>
            </a:pPr>
            <a:r>
              <a:rPr sz="1300" b="0" i="0">
                <a:solidFill>
                  <a:srgbClr val="6E7582"/>
                </a:solidFill>
                <a:latin typeface="Consolas"/>
              </a:rPr>
              <a:t>### 2a)</a:t>
            </a:r>
          </a:p>
          <a:p>
            <a:pPr>
              <a:spcAft>
                <a:spcPts val="200"/>
              </a:spcAft>
            </a:pPr>
            <a:r>
              <a:rPr sz="1300" b="0" i="0">
                <a:solidFill>
                  <a:srgbClr val="222630"/>
                </a:solidFill>
                <a:latin typeface="Consolas"/>
              </a:rPr>
              <a:t> </a:t>
            </a:r>
          </a:p>
          <a:p>
            <a:pPr>
              <a:spcAft>
                <a:spcPts val="200"/>
              </a:spcAft>
            </a:pPr>
            <a:r>
              <a:rPr sz="1300" b="0" i="0">
                <a:solidFill>
                  <a:srgbClr val="222630"/>
                </a:solidFill>
                <a:latin typeface="Consolas"/>
              </a:rPr>
              <a:t>The client sends a SYN with seq = 8000. The server replies</a:t>
            </a:r>
          </a:p>
          <a:p>
            <a:pPr>
              <a:spcAft>
                <a:spcPts val="200"/>
              </a:spcAft>
            </a:pPr>
            <a:r>
              <a:rPr sz="1300" b="0" i="0">
                <a:solidFill>
                  <a:srgbClr val="222630"/>
                </a:solidFill>
                <a:latin typeface="Consolas"/>
              </a:rPr>
              <a:t>SYN + ACK, ack = $8000 + 1 = 8001$.</a:t>
            </a:r>
          </a:p>
          <a:p>
            <a:pPr>
              <a:spcAft>
                <a:spcPts val="200"/>
              </a:spcAft>
            </a:pPr>
            <a:r>
              <a:rPr sz="1300" b="0" i="0">
                <a:solidFill>
                  <a:srgbClr val="222630"/>
                </a:solidFill>
                <a:latin typeface="Consolas"/>
              </a:rPr>
              <a:t> </a:t>
            </a:r>
          </a:p>
          <a:p>
            <a:pPr>
              <a:spcAft>
                <a:spcPts val="200"/>
              </a:spcAft>
            </a:pPr>
            <a:r>
              <a:rPr sz="1300" b="0" i="0">
                <a:solidFill>
                  <a:srgbClr val="222630"/>
                </a:solidFill>
                <a:latin typeface="Consolas"/>
              </a:rPr>
              <a:t>![diagram: three-way handshake timeline]</a:t>
            </a:r>
          </a:p>
        </p:txBody>
      </p:sp>
      <p:sp>
        <p:nvSpPr>
          <p:cNvPr id="6" name="TextBox 5"/>
          <p:cNvSpPr txBox="1"/>
          <p:nvPr/>
        </p:nvSpPr>
        <p:spPr>
          <a:xfrm>
            <a:off x="7178040" y="3566160"/>
            <a:ext cx="4297680" cy="2194560"/>
          </a:xfrm>
          <a:prstGeom prst="rect">
            <a:avLst/>
          </a:prstGeom>
          <a:noFill/>
        </p:spPr>
        <p:txBody>
          <a:bodyPr wrap="square" lIns="0" rIns="0" tIns="0" bIns="0">
            <a:spAutoFit/>
          </a:bodyPr>
          <a:lstStyle/>
          <a:p>
            <a:pPr algn="l"/>
            <a:r>
              <a:rPr sz="1700" b="1" i="0">
                <a:solidFill>
                  <a:srgbClr val="222630"/>
                </a:solidFill>
                <a:latin typeface="Calibri"/>
              </a:rPr>
              <a:t>Structure comes from the reader,</a:t>
            </a:r>
          </a:p>
          <a:p>
            <a:r>
              <a:rPr sz="1700" b="1" i="0">
                <a:solidFill>
                  <a:srgbClr val="222630"/>
                </a:solidFill>
                <a:latin typeface="Calibri"/>
              </a:rPr>
              <a:t>not from geometry.</a:t>
            </a:r>
          </a:p>
          <a:p>
            <a:pPr>
              <a:spcBef>
                <a:spcPts val="1000"/>
              </a:spcBef>
            </a:pPr>
            <a:r>
              <a:rPr sz="1550" b="0" i="0">
                <a:solidFill>
                  <a:srgbClr val="6E7582"/>
                </a:solidFill>
                <a:latin typeface="Calibri"/>
              </a:rPr>
              <a:t>The assembly stage groups on the headings the model produced. That single decision replaced an entire line-segmentation stack.</a:t>
            </a:r>
          </a:p>
        </p:txBody>
      </p:sp>
      <p:sp>
        <p:nvSpPr>
          <p:cNvPr id="7" name="TextBox 6"/>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Whole page beats line by line</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10424160" cy="502920"/>
          </a:xfrm>
          <a:prstGeom prst="rect">
            <a:avLst/>
          </a:prstGeom>
          <a:noFill/>
        </p:spPr>
        <p:txBody>
          <a:bodyPr wrap="square" lIns="0" rIns="0" tIns="0" bIns="0">
            <a:spAutoFit/>
          </a:bodyPr>
          <a:lstStyle/>
          <a:p>
            <a:pPr algn="l"/>
            <a:r>
              <a:rPr sz="1600" b="0" i="1">
                <a:solidFill>
                  <a:srgbClr val="6E7582"/>
                </a:solidFill>
                <a:latin typeface="Calibri"/>
              </a:rPr>
              <a:t>Same 15 hand-transcribed pages, same scorer, markdown normalised away.</a:t>
            </a:r>
          </a:p>
        </p:txBody>
      </p:sp>
      <p:graphicFrame>
        <p:nvGraphicFramePr>
          <p:cNvPr id="5" name="Table 4"/>
          <p:cNvGraphicFramePr>
            <a:graphicFrameLocks noGrp="1"/>
          </p:cNvGraphicFramePr>
          <p:nvPr/>
        </p:nvGraphicFramePr>
        <p:xfrm>
          <a:off x="777240" y="2148840"/>
          <a:ext cx="8778240" cy="1536192"/>
        </p:xfrm>
        <a:graphic>
          <a:graphicData uri="http://schemas.openxmlformats.org/drawingml/2006/table">
            <a:tbl>
              <a:tblPr firstRow="1" bandRow="1">
                <a:tableStyleId>{5C22544A-7EE6-4342-B048-85BDC9FD1C3A}</a:tableStyleId>
              </a:tblPr>
              <a:tblGrid>
                <a:gridCol w="5394960"/>
                <a:gridCol w="1691640"/>
                <a:gridCol w="1691640"/>
              </a:tblGrid>
              <a:tr h="384048">
                <a:tc>
                  <a:txBody>
                    <a:bodyPr wrap="square"/>
                    <a:lstStyle/>
                    <a:p>
                      <a:pPr algn="l"/>
                      <a:r>
                        <a:rPr sz="1700" b="1" i="0">
                          <a:solidFill>
                            <a:srgbClr val="FFFFFF"/>
                          </a:solidFill>
                          <a:latin typeface="Calibri"/>
                        </a:rPr>
                        <a:t>engine</a:t>
                      </a:r>
                    </a:p>
                  </a:txBody>
                  <a:tcPr marL="128016" marT="36576" marB="36576" anchor="ctr">
                    <a:solidFill>
                      <a:srgbClr val="2E5A88"/>
                    </a:solidFill>
                  </a:tcPr>
                </a:tc>
                <a:tc>
                  <a:txBody>
                    <a:bodyPr wrap="square"/>
                    <a:lstStyle/>
                    <a:p>
                      <a:pPr algn="l"/>
                      <a:r>
                        <a:rPr sz="1700" b="1" i="0">
                          <a:solidFill>
                            <a:srgbClr val="FFFFFF"/>
                          </a:solidFill>
                          <a:latin typeface="Calibri"/>
                        </a:rPr>
                        <a:t>CER</a:t>
                      </a:r>
                    </a:p>
                  </a:txBody>
                  <a:tcPr marL="128016" marT="36576" marB="36576" anchor="ctr">
                    <a:solidFill>
                      <a:srgbClr val="2E5A88"/>
                    </a:solidFill>
                  </a:tcPr>
                </a:tc>
                <a:tc>
                  <a:txBody>
                    <a:bodyPr wrap="square"/>
                    <a:lstStyle/>
                    <a:p>
                      <a:pPr algn="l"/>
                      <a:r>
                        <a:rPr sz="1700" b="1" i="0">
                          <a:solidFill>
                            <a:srgbClr val="FFFFFF"/>
                          </a:solidFill>
                          <a:latin typeface="Calibri"/>
                        </a:rPr>
                        <a:t>WER</a:t>
                      </a:r>
                    </a:p>
                  </a:txBody>
                  <a:tcPr marL="128016" marT="36576" marB="36576" anchor="ctr">
                    <a:solidFill>
                      <a:srgbClr val="2E5A88"/>
                    </a:solidFill>
                  </a:tcPr>
                </a:tc>
              </a:tr>
              <a:tr h="384048">
                <a:tc>
                  <a:txBody>
                    <a:bodyPr wrap="square"/>
                    <a:lstStyle/>
                    <a:p>
                      <a:pPr algn="l"/>
                      <a:r>
                        <a:rPr sz="1700" b="0" i="0">
                          <a:solidFill>
                            <a:srgbClr val="222630"/>
                          </a:solidFill>
                          <a:latin typeface="Calibri"/>
                        </a:rPr>
                        <a:t>trocr_lines  — segment, then TrOCR each line</a:t>
                      </a:r>
                    </a:p>
                  </a:txBody>
                  <a:tcPr marL="128016" marT="36576" marB="36576" anchor="ctr">
                    <a:solidFill>
                      <a:srgbClr val="FFFFFF"/>
                    </a:solidFill>
                  </a:tcPr>
                </a:tc>
                <a:tc>
                  <a:txBody>
                    <a:bodyPr wrap="square"/>
                    <a:lstStyle/>
                    <a:p>
                      <a:pPr algn="r"/>
                      <a:r>
                        <a:rPr sz="1700" b="0" i="0">
                          <a:solidFill>
                            <a:srgbClr val="222630"/>
                          </a:solidFill>
                          <a:latin typeface="Consolas"/>
                        </a:rPr>
                        <a:t>0.463</a:t>
                      </a:r>
                    </a:p>
                  </a:txBody>
                  <a:tcPr marL="128016" marT="36576" marB="36576" anchor="ctr">
                    <a:solidFill>
                      <a:srgbClr val="FFFFFF"/>
                    </a:solidFill>
                  </a:tcPr>
                </a:tc>
                <a:tc>
                  <a:txBody>
                    <a:bodyPr wrap="square"/>
                    <a:lstStyle/>
                    <a:p>
                      <a:pPr algn="r"/>
                      <a:r>
                        <a:rPr sz="1700" b="0" i="0">
                          <a:solidFill>
                            <a:srgbClr val="222630"/>
                          </a:solidFill>
                          <a:latin typeface="Consolas"/>
                        </a:rPr>
                        <a:t>0.796</a:t>
                      </a:r>
                    </a:p>
                  </a:txBody>
                  <a:tcPr marL="128016" marT="36576" marB="36576" anchor="ctr">
                    <a:solidFill>
                      <a:srgbClr val="FFFFFF"/>
                    </a:solidFill>
                  </a:tcPr>
                </a:tc>
              </a:tr>
              <a:tr h="384048">
                <a:tc>
                  <a:txBody>
                    <a:bodyPr wrap="square"/>
                    <a:lstStyle/>
                    <a:p>
                      <a:pPr algn="l"/>
                      <a:r>
                        <a:rPr sz="1700" b="0" i="0">
                          <a:solidFill>
                            <a:srgbClr val="222630"/>
                          </a:solidFill>
                          <a:latin typeface="Calibri"/>
                        </a:rPr>
                        <a:t>qwen3b  — whole page, zero-shot</a:t>
                      </a:r>
                    </a:p>
                  </a:txBody>
                  <a:tcPr marL="128016" marT="36576" marB="36576" anchor="ctr">
                    <a:solidFill>
                      <a:srgbClr val="F2F4F7"/>
                    </a:solidFill>
                  </a:tcPr>
                </a:tc>
                <a:tc>
                  <a:txBody>
                    <a:bodyPr wrap="square"/>
                    <a:lstStyle/>
                    <a:p>
                      <a:pPr algn="r"/>
                      <a:r>
                        <a:rPr sz="1700" b="0" i="0">
                          <a:solidFill>
                            <a:srgbClr val="222630"/>
                          </a:solidFill>
                          <a:latin typeface="Consolas"/>
                        </a:rPr>
                        <a:t>0.229</a:t>
                      </a:r>
                    </a:p>
                  </a:txBody>
                  <a:tcPr marL="128016" marT="36576" marB="36576" anchor="ctr">
                    <a:solidFill>
                      <a:srgbClr val="F2F4F7"/>
                    </a:solidFill>
                  </a:tcPr>
                </a:tc>
                <a:tc>
                  <a:txBody>
                    <a:bodyPr wrap="square"/>
                    <a:lstStyle/>
                    <a:p>
                      <a:pPr algn="r"/>
                      <a:r>
                        <a:rPr sz="1700" b="0" i="0">
                          <a:solidFill>
                            <a:srgbClr val="222630"/>
                          </a:solidFill>
                          <a:latin typeface="Consolas"/>
                        </a:rPr>
                        <a:t>0.447</a:t>
                      </a:r>
                    </a:p>
                  </a:txBody>
                  <a:tcPr marL="128016" marT="36576" marB="36576" anchor="ctr">
                    <a:solidFill>
                      <a:srgbClr val="F2F4F7"/>
                    </a:solidFill>
                  </a:tcPr>
                </a:tc>
              </a:tr>
              <a:tr h="384048">
                <a:tc>
                  <a:txBody>
                    <a:bodyPr wrap="square"/>
                    <a:lstStyle/>
                    <a:p>
                      <a:pPr algn="l"/>
                      <a:r>
                        <a:rPr sz="1700" b="1" i="0">
                          <a:solidFill>
                            <a:srgbClr val="222630"/>
                          </a:solidFill>
                          <a:latin typeface="Calibri"/>
                        </a:rPr>
                        <a:t>qwen7b  — whole page, zero-shot</a:t>
                      </a:r>
                    </a:p>
                  </a:txBody>
                  <a:tcPr marL="128016" marT="36576" marB="36576" anchor="ctr">
                    <a:solidFill>
                      <a:srgbClr val="FFFFFF"/>
                    </a:solidFill>
                  </a:tcPr>
                </a:tc>
                <a:tc>
                  <a:txBody>
                    <a:bodyPr wrap="square"/>
                    <a:lstStyle/>
                    <a:p>
                      <a:pPr algn="l"/>
                      <a:r>
                        <a:rPr sz="1700" b="1" i="0">
                          <a:solidFill>
                            <a:srgbClr val="222630"/>
                          </a:solidFill>
                          <a:latin typeface="Consolas"/>
                        </a:rPr>
                        <a:t>0.099</a:t>
                      </a:r>
                    </a:p>
                  </a:txBody>
                  <a:tcPr marL="128016" marT="36576" marB="36576" anchor="ctr">
                    <a:solidFill>
                      <a:srgbClr val="FFFFFF"/>
                    </a:solidFill>
                  </a:tcPr>
                </a:tc>
                <a:tc>
                  <a:txBody>
                    <a:bodyPr wrap="square"/>
                    <a:lstStyle/>
                    <a:p>
                      <a:pPr algn="l"/>
                      <a:r>
                        <a:rPr sz="1700" b="1" i="0">
                          <a:solidFill>
                            <a:srgbClr val="222630"/>
                          </a:solidFill>
                          <a:latin typeface="Consolas"/>
                        </a:rPr>
                        <a:t>0.281</a:t>
                      </a:r>
                    </a:p>
                  </a:txBody>
                  <a:tcPr marL="128016" marT="36576" marB="36576" anchor="ctr">
                    <a:solidFill>
                      <a:srgbClr val="FFFFFF"/>
                    </a:solidFill>
                  </a:tcPr>
                </a:tc>
              </a:tr>
            </a:tbl>
          </a:graphicData>
        </a:graphic>
      </p:graphicFrame>
      <p:sp>
        <p:nvSpPr>
          <p:cNvPr id="6" name="TextBox 5"/>
          <p:cNvSpPr txBox="1"/>
          <p:nvPr/>
        </p:nvSpPr>
        <p:spPr>
          <a:xfrm>
            <a:off x="9966960" y="2377440"/>
            <a:ext cx="2011680" cy="1280160"/>
          </a:xfrm>
          <a:prstGeom prst="rect">
            <a:avLst/>
          </a:prstGeom>
          <a:noFill/>
        </p:spPr>
        <p:txBody>
          <a:bodyPr wrap="square" lIns="0" rIns="0" tIns="0" bIns="0">
            <a:spAutoFit/>
          </a:bodyPr>
          <a:lstStyle/>
          <a:p>
            <a:pPr algn="l"/>
            <a:r>
              <a:rPr sz="5400" b="1" i="0">
                <a:solidFill>
                  <a:srgbClr val="2E5A88"/>
                </a:solidFill>
                <a:latin typeface="Calibri"/>
              </a:rPr>
              <a:t>4.7x</a:t>
            </a:r>
          </a:p>
          <a:p>
            <a:r>
              <a:rPr sz="1350" b="0" i="0">
                <a:solidFill>
                  <a:srgbClr val="6E7582"/>
                </a:solidFill>
                <a:latin typeface="Calibri"/>
              </a:rPr>
              <a:t>better than the line
pipeline we started with</a:t>
            </a:r>
          </a:p>
        </p:txBody>
      </p:sp>
      <p:sp>
        <p:nvSpPr>
          <p:cNvPr id="7" name="TextBox 6"/>
          <p:cNvSpPr txBox="1"/>
          <p:nvPr/>
        </p:nvSpPr>
        <p:spPr>
          <a:xfrm>
            <a:off x="777240" y="4206240"/>
            <a:ext cx="10515600" cy="2468880"/>
          </a:xfrm>
          <a:prstGeom prst="rect">
            <a:avLst/>
          </a:prstGeom>
          <a:noFill/>
        </p:spPr>
        <p:txBody>
          <a:bodyPr wrap="square" lIns="0" rIns="0" tIns="0" bIns="0">
            <a:spAutoFit/>
          </a:bodyPr>
          <a:lstStyle/>
          <a:p>
            <a:pPr algn="l">
              <a:lnSpc>
                <a:spcPct val="115000"/>
              </a:lnSpc>
              <a:spcAft>
                <a:spcPts val="900"/>
              </a:spcAft>
            </a:pPr>
            <a:r>
              <a:rPr sz="1650" b="0" i="0">
                <a:solidFill>
                  <a:srgbClr val="2E5A88"/>
                </a:solidFill>
                <a:latin typeface="Calibri"/>
              </a:rPr>
              <a:t>•   </a:t>
            </a:r>
            <a:r>
              <a:rPr sz="1650" b="0" i="0">
                <a:solidFill>
                  <a:srgbClr val="222630"/>
                </a:solidFill>
                <a:latin typeface="Calibri"/>
              </a:rPr>
              <a:t>Character error rate, not accuracy, because it degrades gracefully — four characters right in five scores 0.20 rather than just “wrong”.</a:t>
            </a:r>
          </a:p>
          <a:p>
            <a:pPr>
              <a:lnSpc>
                <a:spcPct val="115000"/>
              </a:lnSpc>
              <a:spcAft>
                <a:spcPts val="900"/>
              </a:spcAft>
            </a:pPr>
            <a:r>
              <a:rPr sz="1650" b="0" i="0">
                <a:solidFill>
                  <a:srgbClr val="2E5A88"/>
                </a:solidFill>
                <a:latin typeface="Calibri"/>
              </a:rPr>
              <a:t>•   </a:t>
            </a:r>
            <a:r>
              <a:rPr sz="1650" b="0" i="0">
                <a:solidFill>
                  <a:srgbClr val="222630"/>
                </a:solidFill>
                <a:latin typeface="Calibri"/>
              </a:rPr>
              <a:t>Formatting is normalised out before scoring. Otherwise a model that emits a proper Markdown table scores worse than one that emits the same characters as loose text, which would invert the comparison.</a:t>
            </a:r>
          </a:p>
          <a:p>
            <a:pPr>
              <a:lnSpc>
                <a:spcPct val="115000"/>
              </a:lnSpc>
              <a:spcAft>
                <a:spcPts val="900"/>
              </a:spcAft>
            </a:pPr>
            <a:r>
              <a:rPr sz="1650" b="0" i="0">
                <a:solidFill>
                  <a:srgbClr val="2E5A88"/>
                </a:solidFill>
                <a:latin typeface="Calibri"/>
              </a:rPr>
              <a:t>•   </a:t>
            </a:r>
            <a:r>
              <a:rPr sz="1650" b="0" i="0">
                <a:solidFill>
                  <a:srgbClr val="222630"/>
                </a:solidFill>
                <a:latin typeface="Calibri"/>
              </a:rPr>
              <a:t>Diagrams are excluded from the character score and counted separately. A drawing has no ground-truth text.</a:t>
            </a:r>
          </a:p>
        </p:txBody>
      </p:sp>
      <p:sp>
        <p:nvSpPr>
          <p:cNvPr id="8" name="TextBox 7"/>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The prompt is part of the system</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10424160" cy="502920"/>
          </a:xfrm>
          <a:prstGeom prst="rect">
            <a:avLst/>
          </a:prstGeom>
          <a:noFill/>
        </p:spPr>
        <p:txBody>
          <a:bodyPr wrap="square" lIns="0" rIns="0" tIns="0" bIns="0">
            <a:spAutoFit/>
          </a:bodyPr>
          <a:lstStyle/>
          <a:p>
            <a:pPr algn="l"/>
            <a:r>
              <a:rPr sz="1600" b="0" i="1">
                <a:solidFill>
                  <a:srgbClr val="6E7582"/>
                </a:solidFill>
                <a:latin typeface="Calibri"/>
              </a:rPr>
              <a:t>Our first rewrite made things worse, and the way it failed was the useful part.</a:t>
            </a:r>
          </a:p>
        </p:txBody>
      </p:sp>
      <p:sp>
        <p:nvSpPr>
          <p:cNvPr id="5" name="TextBox 4"/>
          <p:cNvSpPr txBox="1"/>
          <p:nvPr/>
        </p:nvSpPr>
        <p:spPr>
          <a:xfrm>
            <a:off x="777240" y="2057400"/>
            <a:ext cx="5120640" cy="3291840"/>
          </a:xfrm>
          <a:prstGeom prst="rect">
            <a:avLst/>
          </a:prstGeom>
          <a:noFill/>
        </p:spPr>
        <p:txBody>
          <a:bodyPr wrap="square" lIns="0" rIns="0" tIns="0" bIns="0">
            <a:spAutoFit/>
          </a:bodyPr>
          <a:lstStyle/>
          <a:p>
            <a:pPr algn="l"/>
            <a:r>
              <a:rPr sz="2000" b="1" i="0">
                <a:solidFill>
                  <a:srgbClr val="9B2C2C"/>
                </a:solidFill>
                <a:latin typeface="Calibri"/>
              </a:rPr>
              <a:t>What went wrong</a:t>
            </a:r>
          </a:p>
          <a:p>
            <a:pPr>
              <a:spcBef>
                <a:spcPts val="900"/>
              </a:spcBef>
            </a:pPr>
            <a:r>
              <a:rPr sz="1600" b="0" i="0">
                <a:solidFill>
                  <a:srgbClr val="9B2C2C"/>
                </a:solidFill>
                <a:latin typeface="Calibri"/>
              </a:rPr>
              <a:t>•   </a:t>
            </a:r>
            <a:r>
              <a:rPr sz="1600" b="0" i="0">
                <a:solidFill>
                  <a:srgbClr val="222630"/>
                </a:solidFill>
                <a:latin typeface="Calibri"/>
              </a:rPr>
              <a:t>7 loops fixed, but 10 pages regressed.</a:t>
            </a:r>
          </a:p>
          <a:p>
            <a:pPr>
              <a:spcBef>
                <a:spcPts val="900"/>
              </a:spcBef>
            </a:pPr>
            <a:r>
              <a:rPr sz="1600" b="0" i="0">
                <a:solidFill>
                  <a:srgbClr val="9B2C2C"/>
                </a:solidFill>
                <a:latin typeface="Calibri"/>
              </a:rPr>
              <a:t>•   </a:t>
            </a:r>
            <a:r>
              <a:rPr sz="1600" b="0" i="0">
                <a:solidFill>
                  <a:srgbClr val="222630"/>
                </a:solidFill>
                <a:latin typeface="Calibri"/>
              </a:rPr>
              <a:t>One control page with four graphs came back as 766 empty table rows.</a:t>
            </a:r>
          </a:p>
          <a:p>
            <a:pPr>
              <a:spcBef>
                <a:spcPts val="900"/>
              </a:spcBef>
            </a:pPr>
            <a:r>
              <a:rPr sz="1600" b="0" i="0">
                <a:solidFill>
                  <a:srgbClr val="9B2C2C"/>
                </a:solidFill>
                <a:latin typeface="Calibri"/>
              </a:rPr>
              <a:t>•   </a:t>
            </a:r>
            <a:r>
              <a:rPr sz="1600" b="0" i="0">
                <a:solidFill>
                  <a:srgbClr val="222630"/>
                </a:solidFill>
                <a:latin typeface="Calibri"/>
              </a:rPr>
              <a:t>Two pages returned nothing but the words “THE ONE RULE THAT MATTERS”.</a:t>
            </a:r>
          </a:p>
        </p:txBody>
      </p:sp>
      <p:sp>
        <p:nvSpPr>
          <p:cNvPr id="6" name="TextBox 5"/>
          <p:cNvSpPr txBox="1"/>
          <p:nvPr/>
        </p:nvSpPr>
        <p:spPr>
          <a:xfrm>
            <a:off x="6355080" y="2057400"/>
            <a:ext cx="5029200" cy="3291840"/>
          </a:xfrm>
          <a:prstGeom prst="rect">
            <a:avLst/>
          </a:prstGeom>
          <a:noFill/>
        </p:spPr>
        <p:txBody>
          <a:bodyPr wrap="square" lIns="0" rIns="0" tIns="0" bIns="0">
            <a:spAutoFit/>
          </a:bodyPr>
          <a:lstStyle/>
          <a:p>
            <a:pPr algn="l"/>
            <a:r>
              <a:rPr sz="2000" b="1" i="0">
                <a:solidFill>
                  <a:srgbClr val="222630"/>
                </a:solidFill>
                <a:latin typeface="Calibri"/>
              </a:rPr>
              <a:t>Why</a:t>
            </a:r>
          </a:p>
          <a:p>
            <a:pPr>
              <a:spcBef>
                <a:spcPts val="900"/>
              </a:spcBef>
            </a:pPr>
            <a:r>
              <a:rPr sz="1600" b="0" i="0">
                <a:solidFill>
                  <a:srgbClr val="2E5A88"/>
                </a:solidFill>
                <a:latin typeface="Calibri"/>
              </a:rPr>
              <a:t>•   </a:t>
            </a:r>
            <a:r>
              <a:rPr sz="1600" b="0" i="0">
                <a:solidFill>
                  <a:srgbClr val="222630"/>
                </a:solidFill>
                <a:latin typeface="Calibri"/>
              </a:rPr>
              <a:t>Writing “do not output | |” puts that exact token sequence in front of the model. Negative examples prime what they forbid.</a:t>
            </a:r>
          </a:p>
          <a:p>
            <a:pPr>
              <a:spcBef>
                <a:spcPts val="900"/>
              </a:spcBef>
            </a:pPr>
            <a:r>
              <a:rPr sz="1600" b="0" i="0">
                <a:solidFill>
                  <a:srgbClr val="2E5A88"/>
                </a:solidFill>
                <a:latin typeface="Calibri"/>
              </a:rPr>
              <a:t>•   </a:t>
            </a:r>
            <a:r>
              <a:rPr sz="1600" b="0" i="0">
                <a:solidFill>
                  <a:srgbClr val="222630"/>
                </a:solidFill>
                <a:latin typeface="Calibri"/>
              </a:rPr>
              <a:t>ALL-CAPS headings in the prompt get echoed back when the model has nothing else to say.</a:t>
            </a:r>
          </a:p>
        </p:txBody>
      </p:sp>
      <p:sp>
        <p:nvSpPr>
          <p:cNvPr id="7" name="Rounded Rectangle 6"/>
          <p:cNvSpPr/>
          <p:nvPr/>
        </p:nvSpPr>
        <p:spPr>
          <a:xfrm>
            <a:off x="777240" y="4892040"/>
            <a:ext cx="10607040" cy="1234440"/>
          </a:xfrm>
          <a:prstGeom prst="roundRect">
            <a:avLst/>
          </a:prstGeom>
          <a:solidFill>
            <a:srgbClr val="F2F4F7"/>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lIns="274320" tIns="164592" wrap="square"/>
          <a:lstStyle/>
          <a:p>
            <a:pPr algn="ctr"/>
            <a:r>
              <a:rPr sz="1800" b="1" i="0">
                <a:solidFill>
                  <a:srgbClr val="2D6A4F"/>
                </a:solidFill>
                <a:latin typeface="Calibri"/>
              </a:rPr>
              <a:t>Rewritten in the positive, and measured again</a:t>
            </a:r>
          </a:p>
          <a:p>
            <a:pPr>
              <a:spcBef>
                <a:spcPts val="500"/>
              </a:spcBef>
            </a:pPr>
            <a:r>
              <a:rPr sz="1500" b="0" i="0">
                <a:solidFill>
                  <a:srgbClr val="222630"/>
                </a:solidFill>
                <a:latin typeface="Calibri"/>
              </a:rPr>
              <a:t>Sentence case, no literal counter-examples, framed as “every cell you write must hold something you actually read on the page”.  On the seven hardest pages, character-weighted CER went from 0.418 to 0.267. On ordinary pages it costs a little accuracy, which we accepted for the collapse it prevents.</a:t>
            </a:r>
          </a:p>
        </p:txBody>
      </p:sp>
      <p:sp>
        <p:nvSpPr>
          <p:cNvPr id="8" name="TextBox 7"/>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When the model gets stuck</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10424160" cy="502920"/>
          </a:xfrm>
          <a:prstGeom prst="rect">
            <a:avLst/>
          </a:prstGeom>
          <a:noFill/>
        </p:spPr>
        <p:txBody>
          <a:bodyPr wrap="square" lIns="0" rIns="0" tIns="0" bIns="0">
            <a:spAutoFit/>
          </a:bodyPr>
          <a:lstStyle/>
          <a:p>
            <a:pPr algn="l"/>
            <a:r>
              <a:rPr sz="1600" b="0" i="1">
                <a:solidFill>
                  <a:srgbClr val="6E7582"/>
                </a:solidFill>
                <a:latin typeface="Calibri"/>
              </a:rPr>
              <a:t>A page that took exactly 203 seconds, every time, was the clue.</a:t>
            </a:r>
          </a:p>
        </p:txBody>
      </p:sp>
      <p:sp>
        <p:nvSpPr>
          <p:cNvPr id="5" name="TextBox 4"/>
          <p:cNvSpPr txBox="1"/>
          <p:nvPr/>
        </p:nvSpPr>
        <p:spPr>
          <a:xfrm>
            <a:off x="777240" y="2057400"/>
            <a:ext cx="10515600" cy="4206240"/>
          </a:xfrm>
          <a:prstGeom prst="rect">
            <a:avLst/>
          </a:prstGeom>
          <a:noFill/>
        </p:spPr>
        <p:txBody>
          <a:bodyPr wrap="square" lIns="0" rIns="0" tIns="0" bIns="0">
            <a:spAutoFit/>
          </a:bodyPr>
          <a:lstStyle/>
          <a:p>
            <a:pPr algn="l">
              <a:lnSpc>
                <a:spcPct val="115000"/>
              </a:lnSpc>
              <a:spcAft>
                <a:spcPts val="1100"/>
              </a:spcAft>
            </a:pPr>
            <a:r>
              <a:rPr sz="1800" b="0" i="0">
                <a:solidFill>
                  <a:srgbClr val="2E5A88"/>
                </a:solidFill>
                <a:latin typeface="Calibri"/>
              </a:rPr>
              <a:t>•   </a:t>
            </a:r>
            <a:r>
              <a:rPr sz="1800" b="0" i="0">
                <a:solidFill>
                  <a:srgbClr val="222630"/>
                </a:solidFill>
                <a:latin typeface="Calibri"/>
              </a:rPr>
              <a:t>Greedy decoding can fall into a loop and keep going until it hits the token ceiling. </a:t>
            </a:r>
            <a:r>
              <a:rPr sz="1800" b="1" i="0">
                <a:solidFill>
                  <a:srgbClr val="222630"/>
                </a:solidFill>
                <a:latin typeface="Calibri"/>
              </a:rPr>
              <a:t>203 seconds was not slowness, it was the ceiling.</a:t>
            </a:r>
          </a:p>
          <a:p>
            <a:pPr>
              <a:lnSpc>
                <a:spcPct val="115000"/>
              </a:lnSpc>
              <a:spcAft>
                <a:spcPts val="1100"/>
              </a:spcAft>
            </a:pPr>
            <a:r>
              <a:rPr sz="1800" b="0" i="0">
                <a:solidFill>
                  <a:srgbClr val="2E5A88"/>
                </a:solidFill>
                <a:latin typeface="Calibri"/>
              </a:rPr>
              <a:t>•   </a:t>
            </a:r>
            <a:r>
              <a:rPr sz="1800" b="0" i="0">
                <a:solidFill>
                  <a:srgbClr val="222630"/>
                </a:solidFill>
                <a:latin typeface="Calibri"/>
              </a:rPr>
              <a:t>Worse, the truncated output was written to disk and counted as finished, so the resume logic skipped it on the next run. The bug hid itself.</a:t>
            </a:r>
          </a:p>
        </p:txBody>
      </p:sp>
      <p:graphicFrame>
        <p:nvGraphicFramePr>
          <p:cNvPr id="6" name="Table 5"/>
          <p:cNvGraphicFramePr>
            <a:graphicFrameLocks noGrp="1"/>
          </p:cNvGraphicFramePr>
          <p:nvPr/>
        </p:nvGraphicFramePr>
        <p:xfrm>
          <a:off x="777240" y="3291840"/>
          <a:ext cx="10607040" cy="1152144"/>
        </p:xfrm>
        <a:graphic>
          <a:graphicData uri="http://schemas.openxmlformats.org/drawingml/2006/table">
            <a:tbl>
              <a:tblPr firstRow="1" bandRow="1">
                <a:tableStyleId>{5C22544A-7EE6-4342-B048-85BDC9FD1C3A}</a:tableStyleId>
              </a:tblPr>
              <a:tblGrid>
                <a:gridCol w="2743200"/>
                <a:gridCol w="4206240"/>
                <a:gridCol w="3657600"/>
              </a:tblGrid>
              <a:tr h="384048">
                <a:tc>
                  <a:txBody>
                    <a:bodyPr wrap="square"/>
                    <a:lstStyle/>
                    <a:p>
                      <a:pPr algn="l"/>
                      <a:r>
                        <a:rPr sz="1600" b="1" i="0">
                          <a:solidFill>
                            <a:srgbClr val="FFFFFF"/>
                          </a:solidFill>
                          <a:latin typeface="Calibri"/>
                        </a:rPr>
                        <a:t/>
                      </a:r>
                    </a:p>
                  </a:txBody>
                  <a:tcPr marL="128016" marT="36576" marB="36576" anchor="ctr">
                    <a:solidFill>
                      <a:srgbClr val="2E5A88"/>
                    </a:solidFill>
                  </a:tcPr>
                </a:tc>
                <a:tc>
                  <a:txBody>
                    <a:bodyPr wrap="square"/>
                    <a:lstStyle/>
                    <a:p>
                      <a:pPr algn="l"/>
                      <a:r>
                        <a:rPr sz="1600" b="1" i="0">
                          <a:solidFill>
                            <a:srgbClr val="FFFFFF"/>
                          </a:solidFill>
                          <a:latin typeface="Calibri"/>
                        </a:rPr>
                        <a:t>what it looks like</a:t>
                      </a:r>
                    </a:p>
                  </a:txBody>
                  <a:tcPr marL="128016" marT="36576" marB="36576" anchor="ctr">
                    <a:solidFill>
                      <a:srgbClr val="2E5A88"/>
                    </a:solidFill>
                  </a:tcPr>
                </a:tc>
                <a:tc>
                  <a:txBody>
                    <a:bodyPr wrap="square"/>
                    <a:lstStyle/>
                    <a:p>
                      <a:pPr algn="l"/>
                      <a:r>
                        <a:rPr sz="1600" b="1" i="0">
                          <a:solidFill>
                            <a:srgbClr val="FFFFFF"/>
                          </a:solidFill>
                          <a:latin typeface="Calibri"/>
                        </a:rPr>
                        <a:t>can we detect it?</a:t>
                      </a:r>
                    </a:p>
                  </a:txBody>
                  <a:tcPr marL="128016" marT="36576" marB="36576" anchor="ctr">
                    <a:solidFill>
                      <a:srgbClr val="2E5A88"/>
                    </a:solidFill>
                  </a:tcPr>
                </a:tc>
              </a:tr>
              <a:tr h="384048">
                <a:tc>
                  <a:txBody>
                    <a:bodyPr wrap="square"/>
                    <a:lstStyle/>
                    <a:p>
                      <a:pPr algn="l"/>
                      <a:r>
                        <a:rPr sz="1600" b="0" i="0">
                          <a:solidFill>
                            <a:srgbClr val="222630"/>
                          </a:solidFill>
                          <a:latin typeface="Calibri"/>
                        </a:rPr>
                        <a:t>Repetition loop</a:t>
                      </a:r>
                    </a:p>
                  </a:txBody>
                  <a:tcPr marL="128016" marT="36576" marB="36576" anchor="ctr">
                    <a:solidFill>
                      <a:srgbClr val="FFFFFF"/>
                    </a:solidFill>
                  </a:tcPr>
                </a:tc>
                <a:tc>
                  <a:txBody>
                    <a:bodyPr wrap="square"/>
                    <a:lstStyle/>
                    <a:p>
                      <a:pPr algn="l"/>
                      <a:r>
                        <a:rPr sz="1600" b="0" i="0">
                          <a:solidFill>
                            <a:srgbClr val="222630"/>
                          </a:solidFill>
                          <a:latin typeface="Calibri"/>
                        </a:rPr>
                        <a:t>the same line, hundreds of times</a:t>
                      </a:r>
                    </a:p>
                  </a:txBody>
                  <a:tcPr marL="128016" marT="36576" marB="36576" anchor="ctr">
                    <a:solidFill>
                      <a:srgbClr val="FFFFFF"/>
                    </a:solidFill>
                  </a:tcPr>
                </a:tc>
                <a:tc>
                  <a:txBody>
                    <a:bodyPr wrap="square"/>
                    <a:lstStyle/>
                    <a:p>
                      <a:pPr algn="l"/>
                      <a:r>
                        <a:rPr sz="1600" b="0" i="0">
                          <a:solidFill>
                            <a:srgbClr val="222630"/>
                          </a:solidFill>
                          <a:latin typeface="Calibri"/>
                        </a:rPr>
                        <a:t>yes, and a penalty helps</a:t>
                      </a:r>
                    </a:p>
                  </a:txBody>
                  <a:tcPr marL="128016" marT="36576" marB="36576" anchor="ctr">
                    <a:solidFill>
                      <a:srgbClr val="FFFFFF"/>
                    </a:solidFill>
                  </a:tcPr>
                </a:tc>
              </a:tr>
              <a:tr h="384048">
                <a:tc>
                  <a:txBody>
                    <a:bodyPr wrap="square"/>
                    <a:lstStyle/>
                    <a:p>
                      <a:pPr algn="l"/>
                      <a:r>
                        <a:rPr sz="1600" b="0" i="0">
                          <a:solidFill>
                            <a:srgbClr val="222630"/>
                          </a:solidFill>
                          <a:latin typeface="Calibri"/>
                        </a:rPr>
                        <a:t>Pattern continuation</a:t>
                      </a:r>
                    </a:p>
                  </a:txBody>
                  <a:tcPr marL="128016" marT="36576" marB="36576" anchor="ctr">
                    <a:solidFill>
                      <a:srgbClr val="F2F4F7"/>
                    </a:solidFill>
                  </a:tcPr>
                </a:tc>
                <a:tc>
                  <a:txBody>
                    <a:bodyPr wrap="square"/>
                    <a:lstStyle/>
                    <a:p>
                      <a:pPr algn="l"/>
                      <a:r>
                        <a:rPr sz="1600" b="0" i="0">
                          <a:solidFill>
                            <a:srgbClr val="222630"/>
                          </a:solidFill>
                          <a:latin typeface="Calibri"/>
                        </a:rPr>
                        <a:t>plausible new text that is not on the page</a:t>
                      </a:r>
                    </a:p>
                  </a:txBody>
                  <a:tcPr marL="128016" marT="36576" marB="36576" anchor="ctr">
                    <a:solidFill>
                      <a:srgbClr val="F2F4F7"/>
                    </a:solidFill>
                  </a:tcPr>
                </a:tc>
                <a:tc>
                  <a:txBody>
                    <a:bodyPr wrap="square"/>
                    <a:lstStyle/>
                    <a:p>
                      <a:pPr algn="l"/>
                      <a:r>
                        <a:rPr sz="1600" b="0" i="0">
                          <a:solidFill>
                            <a:srgbClr val="222630"/>
                          </a:solidFill>
                          <a:latin typeface="Calibri"/>
                        </a:rPr>
                        <a:t>not by repetition alone</a:t>
                      </a:r>
                    </a:p>
                  </a:txBody>
                  <a:tcPr marL="128016" marT="36576" marB="36576" anchor="ctr">
                    <a:solidFill>
                      <a:srgbClr val="F2F4F7"/>
                    </a:solidFill>
                  </a:tcPr>
                </a:tc>
              </a:tr>
            </a:tbl>
          </a:graphicData>
        </a:graphic>
      </p:graphicFrame>
      <p:sp>
        <p:nvSpPr>
          <p:cNvPr id="7" name="TextBox 6"/>
          <p:cNvSpPr txBox="1"/>
          <p:nvPr/>
        </p:nvSpPr>
        <p:spPr>
          <a:xfrm>
            <a:off x="777240" y="4846320"/>
            <a:ext cx="10515600" cy="1828800"/>
          </a:xfrm>
          <a:prstGeom prst="rect">
            <a:avLst/>
          </a:prstGeom>
          <a:noFill/>
        </p:spPr>
        <p:txBody>
          <a:bodyPr wrap="square" lIns="0" rIns="0" tIns="0" bIns="0">
            <a:spAutoFit/>
          </a:bodyPr>
          <a:lstStyle/>
          <a:p>
            <a:pPr algn="l">
              <a:lnSpc>
                <a:spcPct val="115000"/>
              </a:lnSpc>
              <a:spcAft>
                <a:spcPts val="800"/>
              </a:spcAft>
            </a:pPr>
            <a:r>
              <a:rPr sz="1650" b="0" i="0">
                <a:solidFill>
                  <a:srgbClr val="2E5A88"/>
                </a:solidFill>
                <a:latin typeface="Calibri"/>
              </a:rPr>
              <a:t>•   </a:t>
            </a:r>
            <a:r>
              <a:rPr sz="1650" b="0" i="0">
                <a:solidFill>
                  <a:srgbClr val="222630"/>
                </a:solidFill>
                <a:latin typeface="Calibri"/>
              </a:rPr>
              <a:t>The second kind is the dangerous one. It invents novel tokens, so no repetition test catches it. We flag it instead by comparing ink on the page against text returned — a sparse page that produced 3,000 characters did not read anything.</a:t>
            </a:r>
          </a:p>
          <a:p>
            <a:pPr>
              <a:lnSpc>
                <a:spcPct val="115000"/>
              </a:lnSpc>
              <a:spcAft>
                <a:spcPts val="800"/>
              </a:spcAft>
            </a:pPr>
            <a:r>
              <a:rPr sz="1650" b="0" i="0">
                <a:solidFill>
                  <a:srgbClr val="2E5A88"/>
                </a:solidFill>
                <a:latin typeface="Calibri"/>
              </a:rPr>
              <a:t>•   </a:t>
            </a:r>
            <a:r>
              <a:rPr sz="1650" b="0" i="0">
                <a:solidFill>
                  <a:srgbClr val="222630"/>
                </a:solidFill>
                <a:latin typeface="Calibri"/>
              </a:rPr>
              <a:t>Truncation is now detected and retried with a repetition penalty. Anything still bad is recorded, not silently kept.</a:t>
            </a:r>
          </a:p>
        </p:txBody>
      </p:sp>
      <p:sp>
        <p:nvSpPr>
          <p:cNvPr id="8" name="TextBox 7"/>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Reading, across 1,000 pages</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783080"/>
            <a:ext cx="3291840" cy="1600200"/>
          </a:xfrm>
          <a:prstGeom prst="roundRect">
            <a:avLst/>
          </a:prstGeom>
          <a:solidFill>
            <a:srgbClr val="F2F4F7"/>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800" b="1" i="0">
                <a:solidFill>
                  <a:srgbClr val="222630"/>
                </a:solidFill>
                <a:latin typeface="Calibri"/>
              </a:rPr>
              <a:t>1,000</a:t>
            </a:r>
          </a:p>
          <a:p>
            <a:pPr algn="ctr"/>
            <a:r>
              <a:rPr sz="1400" b="0" i="0">
                <a:solidFill>
                  <a:srgbClr val="6E7582"/>
                </a:solidFill>
                <a:latin typeface="Calibri"/>
              </a:rPr>
              <a:t>pages read
batches 00–03</a:t>
            </a:r>
          </a:p>
        </p:txBody>
      </p:sp>
      <p:sp>
        <p:nvSpPr>
          <p:cNvPr id="5" name="Rounded Rectangle 4"/>
          <p:cNvSpPr/>
          <p:nvPr/>
        </p:nvSpPr>
        <p:spPr>
          <a:xfrm>
            <a:off x="4389120" y="1783080"/>
            <a:ext cx="3291840" cy="1600200"/>
          </a:xfrm>
          <a:prstGeom prst="roundRect">
            <a:avLst/>
          </a:prstGeom>
          <a:solidFill>
            <a:srgbClr val="F2F4F7"/>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800" b="1" i="0">
                <a:solidFill>
                  <a:srgbClr val="222630"/>
                </a:solidFill>
                <a:latin typeface="Calibri"/>
              </a:rPr>
              <a:t>2.9%</a:t>
            </a:r>
          </a:p>
          <a:p>
            <a:pPr algn="ctr"/>
            <a:r>
              <a:rPr sz="1400" b="0" i="0">
                <a:solidFill>
                  <a:srgbClr val="6E7582"/>
                </a:solidFill>
                <a:latin typeface="Calibri"/>
              </a:rPr>
              <a:t>pages that looped
29 in total</a:t>
            </a:r>
          </a:p>
        </p:txBody>
      </p:sp>
      <p:sp>
        <p:nvSpPr>
          <p:cNvPr id="6" name="Rounded Rectangle 5"/>
          <p:cNvSpPr/>
          <p:nvPr/>
        </p:nvSpPr>
        <p:spPr>
          <a:xfrm>
            <a:off x="8001000" y="1783080"/>
            <a:ext cx="3291840" cy="1600200"/>
          </a:xfrm>
          <a:prstGeom prst="roundRect">
            <a:avLst/>
          </a:prstGeom>
          <a:solidFill>
            <a:srgbClr val="F2F4F7"/>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800" b="1" i="0">
                <a:solidFill>
                  <a:srgbClr val="2E5A88"/>
                </a:solidFill>
                <a:latin typeface="Calibri"/>
              </a:rPr>
              <a:t>0.113</a:t>
            </a:r>
          </a:p>
          <a:p>
            <a:pPr algn="ctr"/>
            <a:r>
              <a:rPr sz="1400" b="0" i="0">
                <a:solidFill>
                  <a:srgbClr val="6E7582"/>
                </a:solidFill>
                <a:latin typeface="Calibri"/>
              </a:rPr>
              <a:t>char-weighted CER
after the prompt rewrite</a:t>
            </a:r>
          </a:p>
        </p:txBody>
      </p:sp>
      <p:sp>
        <p:nvSpPr>
          <p:cNvPr id="7" name="TextBox 6"/>
          <p:cNvSpPr txBox="1"/>
          <p:nvPr/>
        </p:nvSpPr>
        <p:spPr>
          <a:xfrm>
            <a:off x="777240" y="3657600"/>
            <a:ext cx="5120640" cy="411480"/>
          </a:xfrm>
          <a:prstGeom prst="rect">
            <a:avLst/>
          </a:prstGeom>
          <a:noFill/>
        </p:spPr>
        <p:txBody>
          <a:bodyPr wrap="square" lIns="0" rIns="0" tIns="0" bIns="0">
            <a:spAutoFit/>
          </a:bodyPr>
          <a:lstStyle/>
          <a:p>
            <a:pPr algn="l"/>
            <a:r>
              <a:rPr sz="1800" b="1" i="0">
                <a:solidFill>
                  <a:srgbClr val="222630"/>
                </a:solidFill>
                <a:latin typeface="Calibri"/>
              </a:rPr>
              <a:t>By handwriting difficulty</a:t>
            </a:r>
          </a:p>
        </p:txBody>
      </p:sp>
      <p:graphicFrame>
        <p:nvGraphicFramePr>
          <p:cNvPr id="8" name="Table 7"/>
          <p:cNvGraphicFramePr>
            <a:graphicFrameLocks noGrp="1"/>
          </p:cNvGraphicFramePr>
          <p:nvPr/>
        </p:nvGraphicFramePr>
        <p:xfrm>
          <a:off x="777240" y="4114800"/>
          <a:ext cx="5120640" cy="1536192"/>
        </p:xfrm>
        <a:graphic>
          <a:graphicData uri="http://schemas.openxmlformats.org/drawingml/2006/table">
            <a:tbl>
              <a:tblPr firstRow="1" bandRow="1">
                <a:tableStyleId>{5C22544A-7EE6-4342-B048-85BDC9FD1C3A}</a:tableStyleId>
              </a:tblPr>
              <a:tblGrid>
                <a:gridCol w="2377440"/>
                <a:gridCol w="1371600"/>
                <a:gridCol w="1371600"/>
              </a:tblGrid>
              <a:tr h="384048">
                <a:tc>
                  <a:txBody>
                    <a:bodyPr wrap="square"/>
                    <a:lstStyle/>
                    <a:p>
                      <a:pPr algn="l"/>
                      <a:r>
                        <a:rPr sz="1600" b="1" i="0">
                          <a:solidFill>
                            <a:srgbClr val="FFFFFF"/>
                          </a:solidFill>
                          <a:latin typeface="Calibri"/>
                        </a:rPr>
                        <a:t>bucket</a:t>
                      </a:r>
                    </a:p>
                  </a:txBody>
                  <a:tcPr marL="128016" marT="36576" marB="36576" anchor="ctr">
                    <a:solidFill>
                      <a:srgbClr val="2E5A88"/>
                    </a:solidFill>
                  </a:tcPr>
                </a:tc>
                <a:tc>
                  <a:txBody>
                    <a:bodyPr wrap="square"/>
                    <a:lstStyle/>
                    <a:p>
                      <a:pPr algn="l"/>
                      <a:r>
                        <a:rPr sz="1600" b="1" i="0">
                          <a:solidFill>
                            <a:srgbClr val="FFFFFF"/>
                          </a:solidFill>
                          <a:latin typeface="Calibri"/>
                        </a:rPr>
                        <a:t>CER</a:t>
                      </a:r>
                    </a:p>
                  </a:txBody>
                  <a:tcPr marL="128016" marT="36576" marB="36576" anchor="ctr">
                    <a:solidFill>
                      <a:srgbClr val="2E5A88"/>
                    </a:solidFill>
                  </a:tcPr>
                </a:tc>
                <a:tc>
                  <a:txBody>
                    <a:bodyPr wrap="square"/>
                    <a:lstStyle/>
                    <a:p>
                      <a:pPr algn="l"/>
                      <a:r>
                        <a:rPr sz="1600" b="1" i="0">
                          <a:solidFill>
                            <a:srgbClr val="FFFFFF"/>
                          </a:solidFill>
                          <a:latin typeface="Calibri"/>
                        </a:rPr>
                        <a:t>pages</a:t>
                      </a:r>
                    </a:p>
                  </a:txBody>
                  <a:tcPr marL="128016" marT="36576" marB="36576" anchor="ctr">
                    <a:solidFill>
                      <a:srgbClr val="2E5A88"/>
                    </a:solidFill>
                  </a:tcPr>
                </a:tc>
              </a:tr>
              <a:tr h="384048">
                <a:tc>
                  <a:txBody>
                    <a:bodyPr wrap="square"/>
                    <a:lstStyle/>
                    <a:p>
                      <a:pPr algn="l"/>
                      <a:r>
                        <a:rPr sz="1600" b="0" i="0">
                          <a:solidFill>
                            <a:srgbClr val="222630"/>
                          </a:solidFill>
                          <a:latin typeface="Calibri"/>
                        </a:rPr>
                        <a:t>neat</a:t>
                      </a:r>
                    </a:p>
                  </a:txBody>
                  <a:tcPr marL="128016" marT="36576" marB="36576" anchor="ctr">
                    <a:solidFill>
                      <a:srgbClr val="FFFFFF"/>
                    </a:solidFill>
                  </a:tcPr>
                </a:tc>
                <a:tc>
                  <a:txBody>
                    <a:bodyPr wrap="square"/>
                    <a:lstStyle/>
                    <a:p>
                      <a:pPr algn="r"/>
                      <a:r>
                        <a:rPr sz="1600" b="0" i="0">
                          <a:solidFill>
                            <a:srgbClr val="222630"/>
                          </a:solidFill>
                          <a:latin typeface="Consolas"/>
                        </a:rPr>
                        <a:t>0.079</a:t>
                      </a:r>
                    </a:p>
                  </a:txBody>
                  <a:tcPr marL="128016" marT="36576" marB="36576" anchor="ctr">
                    <a:solidFill>
                      <a:srgbClr val="FFFFFF"/>
                    </a:solidFill>
                  </a:tcPr>
                </a:tc>
                <a:tc>
                  <a:txBody>
                    <a:bodyPr wrap="square"/>
                    <a:lstStyle/>
                    <a:p>
                      <a:pPr algn="r"/>
                      <a:r>
                        <a:rPr sz="1600" b="0" i="0">
                          <a:solidFill>
                            <a:srgbClr val="222630"/>
                          </a:solidFill>
                          <a:latin typeface="Consolas"/>
                        </a:rPr>
                        <a:t>5</a:t>
                      </a:r>
                    </a:p>
                  </a:txBody>
                  <a:tcPr marL="128016" marT="36576" marB="36576" anchor="ctr">
                    <a:solidFill>
                      <a:srgbClr val="FFFFFF"/>
                    </a:solidFill>
                  </a:tcPr>
                </a:tc>
              </a:tr>
              <a:tr h="384048">
                <a:tc>
                  <a:txBody>
                    <a:bodyPr wrap="square"/>
                    <a:lstStyle/>
                    <a:p>
                      <a:pPr algn="l"/>
                      <a:r>
                        <a:rPr sz="1600" b="0" i="0">
                          <a:solidFill>
                            <a:srgbClr val="222630"/>
                          </a:solidFill>
                          <a:latin typeface="Calibri"/>
                        </a:rPr>
                        <a:t>medium</a:t>
                      </a:r>
                    </a:p>
                  </a:txBody>
                  <a:tcPr marL="128016" marT="36576" marB="36576" anchor="ctr">
                    <a:solidFill>
                      <a:srgbClr val="F2F4F7"/>
                    </a:solidFill>
                  </a:tcPr>
                </a:tc>
                <a:tc>
                  <a:txBody>
                    <a:bodyPr wrap="square"/>
                    <a:lstStyle/>
                    <a:p>
                      <a:pPr algn="r"/>
                      <a:r>
                        <a:rPr sz="1600" b="0" i="0">
                          <a:solidFill>
                            <a:srgbClr val="222630"/>
                          </a:solidFill>
                          <a:latin typeface="Consolas"/>
                        </a:rPr>
                        <a:t>0.200</a:t>
                      </a:r>
                    </a:p>
                  </a:txBody>
                  <a:tcPr marL="128016" marT="36576" marB="36576" anchor="ctr">
                    <a:solidFill>
                      <a:srgbClr val="F2F4F7"/>
                    </a:solidFill>
                  </a:tcPr>
                </a:tc>
                <a:tc>
                  <a:txBody>
                    <a:bodyPr wrap="square"/>
                    <a:lstStyle/>
                    <a:p>
                      <a:pPr algn="r"/>
                      <a:r>
                        <a:rPr sz="1600" b="0" i="0">
                          <a:solidFill>
                            <a:srgbClr val="222630"/>
                          </a:solidFill>
                          <a:latin typeface="Consolas"/>
                        </a:rPr>
                        <a:t>4</a:t>
                      </a:r>
                    </a:p>
                  </a:txBody>
                  <a:tcPr marL="128016" marT="36576" marB="36576" anchor="ctr">
                    <a:solidFill>
                      <a:srgbClr val="F2F4F7"/>
                    </a:solidFill>
                  </a:tcPr>
                </a:tc>
              </a:tr>
              <a:tr h="384048">
                <a:tc>
                  <a:txBody>
                    <a:bodyPr wrap="square"/>
                    <a:lstStyle/>
                    <a:p>
                      <a:pPr algn="l"/>
                      <a:r>
                        <a:rPr sz="1600" b="0" i="0">
                          <a:solidFill>
                            <a:srgbClr val="222630"/>
                          </a:solidFill>
                          <a:latin typeface="Calibri"/>
                        </a:rPr>
                        <a:t>messy</a:t>
                      </a:r>
                    </a:p>
                  </a:txBody>
                  <a:tcPr marL="128016" marT="36576" marB="36576" anchor="ctr">
                    <a:solidFill>
                      <a:srgbClr val="FFFFFF"/>
                    </a:solidFill>
                  </a:tcPr>
                </a:tc>
                <a:tc>
                  <a:txBody>
                    <a:bodyPr wrap="square"/>
                    <a:lstStyle/>
                    <a:p>
                      <a:pPr algn="r"/>
                      <a:r>
                        <a:rPr sz="1600" b="0" i="0">
                          <a:solidFill>
                            <a:srgbClr val="222630"/>
                          </a:solidFill>
                          <a:latin typeface="Consolas"/>
                        </a:rPr>
                        <a:t>0.147</a:t>
                      </a:r>
                    </a:p>
                  </a:txBody>
                  <a:tcPr marL="128016" marT="36576" marB="36576" anchor="ctr">
                    <a:solidFill>
                      <a:srgbClr val="FFFFFF"/>
                    </a:solidFill>
                  </a:tcPr>
                </a:tc>
                <a:tc>
                  <a:txBody>
                    <a:bodyPr wrap="square"/>
                    <a:lstStyle/>
                    <a:p>
                      <a:pPr algn="r"/>
                      <a:r>
                        <a:rPr sz="1600" b="0" i="0">
                          <a:solidFill>
                            <a:srgbClr val="222630"/>
                          </a:solidFill>
                          <a:latin typeface="Consolas"/>
                        </a:rPr>
                        <a:t>4</a:t>
                      </a:r>
                    </a:p>
                  </a:txBody>
                  <a:tcPr marL="128016" marT="36576" marB="36576" anchor="ctr">
                    <a:solidFill>
                      <a:srgbClr val="FFFFFF"/>
                    </a:solidFill>
                  </a:tcPr>
                </a:tc>
              </a:tr>
            </a:tbl>
          </a:graphicData>
        </a:graphic>
      </p:graphicFrame>
      <p:sp>
        <p:nvSpPr>
          <p:cNvPr id="9" name="TextBox 8"/>
          <p:cNvSpPr txBox="1"/>
          <p:nvPr/>
        </p:nvSpPr>
        <p:spPr>
          <a:xfrm>
            <a:off x="6400800" y="3657600"/>
            <a:ext cx="5029200" cy="2377440"/>
          </a:xfrm>
          <a:prstGeom prst="rect">
            <a:avLst/>
          </a:prstGeom>
          <a:noFill/>
        </p:spPr>
        <p:txBody>
          <a:bodyPr wrap="square" lIns="0" rIns="0" tIns="0" bIns="0">
            <a:spAutoFit/>
          </a:bodyPr>
          <a:lstStyle/>
          <a:p>
            <a:pPr algn="l"/>
            <a:r>
              <a:rPr sz="1800" b="1" i="0">
                <a:solidFill>
                  <a:srgbClr val="222630"/>
                </a:solidFill>
                <a:latin typeface="Calibri"/>
              </a:rPr>
              <a:t>Reading it honestly</a:t>
            </a:r>
          </a:p>
          <a:p>
            <a:pPr>
              <a:spcBef>
                <a:spcPts val="800"/>
              </a:spcBef>
            </a:pPr>
            <a:r>
              <a:rPr sz="1550" b="0" i="0">
                <a:solidFill>
                  <a:srgbClr val="2E5A88"/>
                </a:solidFill>
                <a:latin typeface="Calibri"/>
              </a:rPr>
              <a:t>•   </a:t>
            </a:r>
            <a:r>
              <a:rPr sz="1550" b="0" i="0">
                <a:solidFill>
                  <a:srgbClr val="222630"/>
                </a:solidFill>
                <a:latin typeface="Calibri"/>
              </a:rPr>
              <a:t>Nine of the thirteen benchmark pages are under 0.10.</a:t>
            </a:r>
          </a:p>
          <a:p>
            <a:pPr>
              <a:spcBef>
                <a:spcPts val="800"/>
              </a:spcBef>
            </a:pPr>
            <a:r>
              <a:rPr sz="1550" b="0" i="0">
                <a:solidFill>
                  <a:srgbClr val="2E5A88"/>
                </a:solidFill>
                <a:latin typeface="Calibri"/>
              </a:rPr>
              <a:t>•   </a:t>
            </a:r>
            <a:r>
              <a:rPr sz="1550" b="0" i="0">
                <a:solidFill>
                  <a:srgbClr val="222630"/>
                </a:solidFill>
                <a:latin typeface="Calibri"/>
              </a:rPr>
              <a:t>“Medium” scoring worse than “messy” is a sample-size artefact, not a finding — four pages each.</a:t>
            </a:r>
          </a:p>
          <a:p>
            <a:pPr>
              <a:spcBef>
                <a:spcPts val="800"/>
              </a:spcBef>
            </a:pPr>
            <a:r>
              <a:rPr sz="1550" b="0" i="0">
                <a:solidFill>
                  <a:srgbClr val="2E5A88"/>
                </a:solidFill>
                <a:latin typeface="Calibri"/>
              </a:rPr>
              <a:t>•   </a:t>
            </a:r>
            <a:r>
              <a:rPr sz="1550" b="0" i="0">
                <a:solidFill>
                  <a:srgbClr val="222630"/>
                </a:solidFill>
                <a:latin typeface="Calibri"/>
              </a:rPr>
              <a:t>Loop rate held steady across all four batches, which is what gave us confidence to run the rest.</a:t>
            </a:r>
          </a:p>
        </p:txBody>
      </p:sp>
      <p:sp>
        <p:nvSpPr>
          <p:cNvPr id="10" name="TextBox 9"/>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Reconstruction: finding the question number</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10424160" cy="502920"/>
          </a:xfrm>
          <a:prstGeom prst="rect">
            <a:avLst/>
          </a:prstGeom>
          <a:noFill/>
        </p:spPr>
        <p:txBody>
          <a:bodyPr wrap="square" lIns="0" rIns="0" tIns="0" bIns="0">
            <a:spAutoFit/>
          </a:bodyPr>
          <a:lstStyle/>
          <a:p>
            <a:pPr algn="l"/>
            <a:r>
              <a:rPr sz="1600" b="0" i="1">
                <a:solidFill>
                  <a:srgbClr val="6E7582"/>
                </a:solidFill>
                <a:latin typeface="Calibri"/>
              </a:rPr>
              <a:t>Pages arrive as a pile. Turning them into a document means knowing which answer is which.</a:t>
            </a:r>
          </a:p>
        </p:txBody>
      </p:sp>
      <p:sp>
        <p:nvSpPr>
          <p:cNvPr id="5" name="TextBox 4"/>
          <p:cNvSpPr txBox="1"/>
          <p:nvPr/>
        </p:nvSpPr>
        <p:spPr>
          <a:xfrm>
            <a:off x="777240" y="2057400"/>
            <a:ext cx="10515600" cy="4206240"/>
          </a:xfrm>
          <a:prstGeom prst="rect">
            <a:avLst/>
          </a:prstGeom>
          <a:noFill/>
        </p:spPr>
        <p:txBody>
          <a:bodyPr wrap="square" lIns="0" rIns="0" tIns="0" bIns="0">
            <a:spAutoFit/>
          </a:bodyPr>
          <a:lstStyle/>
          <a:p>
            <a:pPr algn="l">
              <a:lnSpc>
                <a:spcPct val="115000"/>
              </a:lnSpc>
              <a:spcAft>
                <a:spcPts val="1300"/>
              </a:spcAft>
            </a:pPr>
            <a:r>
              <a:rPr sz="1800" b="0" i="0">
                <a:solidFill>
                  <a:srgbClr val="2E5A88"/>
                </a:solidFill>
                <a:latin typeface="Calibri"/>
              </a:rPr>
              <a:t>•   </a:t>
            </a:r>
            <a:r>
              <a:rPr sz="1800" b="0" i="0">
                <a:solidFill>
                  <a:srgbClr val="222630"/>
                </a:solidFill>
                <a:latin typeface="Calibri"/>
              </a:rPr>
              <a:t>Students write the same label a dozen ways. Our first parser wanted the whole heading to be a label, so it rejected 79 real ones and left three booklets with no questions at all.</a:t>
            </a:r>
          </a:p>
        </p:txBody>
      </p:sp>
      <p:sp>
        <p:nvSpPr>
          <p:cNvPr id="6" name="Rounded Rectangle 5"/>
          <p:cNvSpPr/>
          <p:nvPr/>
        </p:nvSpPr>
        <p:spPr>
          <a:xfrm>
            <a:off x="777240" y="2788920"/>
            <a:ext cx="10607040" cy="640080"/>
          </a:xfrm>
          <a:prstGeom prst="roundRect">
            <a:avLst>
              <a:gd name="adj" fmla="val 3000"/>
            </a:avLst>
          </a:prstGeom>
          <a:solidFill>
            <a:srgbClr val="F2F4F7"/>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tIns="146304"/>
          <a:lstStyle/>
          <a:p>
            <a:pPr algn="ctr">
              <a:spcAft>
                <a:spcPts val="200"/>
              </a:spcAft>
            </a:pPr>
            <a:r>
              <a:rPr sz="1400" b="0" i="0">
                <a:solidFill>
                  <a:srgbClr val="222630"/>
                </a:solidFill>
                <a:latin typeface="Consolas"/>
              </a:rPr>
              <a:t>2(b)      Q3)       Q(2a)      Q. 4(a).      3 a)      ### 2a) HTTP request</a:t>
            </a:r>
          </a:p>
        </p:txBody>
      </p:sp>
      <p:sp>
        <p:nvSpPr>
          <p:cNvPr id="7" name="TextBox 6"/>
          <p:cNvSpPr txBox="1"/>
          <p:nvPr/>
        </p:nvSpPr>
        <p:spPr>
          <a:xfrm>
            <a:off x="777240" y="3630168"/>
            <a:ext cx="10607040" cy="365760"/>
          </a:xfrm>
          <a:prstGeom prst="rect">
            <a:avLst/>
          </a:prstGeom>
          <a:noFill/>
        </p:spPr>
        <p:txBody>
          <a:bodyPr wrap="square" lIns="0" rIns="0" tIns="0" bIns="0">
            <a:spAutoFit/>
          </a:bodyPr>
          <a:lstStyle/>
          <a:p>
            <a:pPr algn="l"/>
            <a:r>
              <a:rPr sz="1700" b="0" i="0">
                <a:solidFill>
                  <a:srgbClr val="222630"/>
                </a:solidFill>
                <a:latin typeface="Calibri"/>
              </a:rPr>
              <a:t>After widening the pattern and splitting the label from the title text:</a:t>
            </a:r>
          </a:p>
        </p:txBody>
      </p:sp>
      <p:graphicFrame>
        <p:nvGraphicFramePr>
          <p:cNvPr id="8" name="Table 7"/>
          <p:cNvGraphicFramePr>
            <a:graphicFrameLocks noGrp="1"/>
          </p:cNvGraphicFramePr>
          <p:nvPr/>
        </p:nvGraphicFramePr>
        <p:xfrm>
          <a:off x="777240" y="4114800"/>
          <a:ext cx="6309360" cy="1152144"/>
        </p:xfrm>
        <a:graphic>
          <a:graphicData uri="http://schemas.openxmlformats.org/drawingml/2006/table">
            <a:tbl>
              <a:tblPr firstRow="1" bandRow="1">
                <a:tableStyleId>{5C22544A-7EE6-4342-B048-85BDC9FD1C3A}</a:tableStyleId>
              </a:tblPr>
              <a:tblGrid>
                <a:gridCol w="3383280"/>
                <a:gridCol w="1463040"/>
                <a:gridCol w="1463040"/>
              </a:tblGrid>
              <a:tr h="384048">
                <a:tc>
                  <a:txBody>
                    <a:bodyPr wrap="square"/>
                    <a:lstStyle/>
                    <a:p>
                      <a:pPr algn="l"/>
                      <a:r>
                        <a:rPr sz="1600" b="1" i="0">
                          <a:solidFill>
                            <a:srgbClr val="FFFFFF"/>
                          </a:solidFill>
                          <a:latin typeface="Calibri"/>
                        </a:rPr>
                        <a:t/>
                      </a:r>
                    </a:p>
                  </a:txBody>
                  <a:tcPr marL="128016" marT="36576" marB="36576" anchor="ctr">
                    <a:solidFill>
                      <a:srgbClr val="2E5A88"/>
                    </a:solidFill>
                  </a:tcPr>
                </a:tc>
                <a:tc>
                  <a:txBody>
                    <a:bodyPr wrap="square"/>
                    <a:lstStyle/>
                    <a:p>
                      <a:pPr algn="l"/>
                      <a:r>
                        <a:rPr sz="1600" b="1" i="0">
                          <a:solidFill>
                            <a:srgbClr val="FFFFFF"/>
                          </a:solidFill>
                          <a:latin typeface="Calibri"/>
                        </a:rPr>
                        <a:t>before</a:t>
                      </a:r>
                    </a:p>
                  </a:txBody>
                  <a:tcPr marL="128016" marT="36576" marB="36576" anchor="ctr">
                    <a:solidFill>
                      <a:srgbClr val="2E5A88"/>
                    </a:solidFill>
                  </a:tcPr>
                </a:tc>
                <a:tc>
                  <a:txBody>
                    <a:bodyPr wrap="square"/>
                    <a:lstStyle/>
                    <a:p>
                      <a:pPr algn="l"/>
                      <a:r>
                        <a:rPr sz="1600" b="1" i="0">
                          <a:solidFill>
                            <a:srgbClr val="FFFFFF"/>
                          </a:solidFill>
                          <a:latin typeface="Calibri"/>
                        </a:rPr>
                        <a:t>after</a:t>
                      </a:r>
                    </a:p>
                  </a:txBody>
                  <a:tcPr marL="128016" marT="36576" marB="36576" anchor="ctr">
                    <a:solidFill>
                      <a:srgbClr val="2E5A88"/>
                    </a:solidFill>
                  </a:tcPr>
                </a:tc>
              </a:tr>
              <a:tr h="384048">
                <a:tc>
                  <a:txBody>
                    <a:bodyPr wrap="square"/>
                    <a:lstStyle/>
                    <a:p>
                      <a:pPr algn="l"/>
                      <a:r>
                        <a:rPr sz="1600" b="0" i="0">
                          <a:solidFill>
                            <a:srgbClr val="222630"/>
                          </a:solidFill>
                          <a:latin typeface="Calibri"/>
                        </a:rPr>
                        <a:t>Pages placed under a question</a:t>
                      </a:r>
                    </a:p>
                  </a:txBody>
                  <a:tcPr marL="128016" marT="36576" marB="36576" anchor="ctr">
                    <a:solidFill>
                      <a:srgbClr val="FFFFFF"/>
                    </a:solidFill>
                  </a:tcPr>
                </a:tc>
                <a:tc>
                  <a:txBody>
                    <a:bodyPr wrap="square"/>
                    <a:lstStyle/>
                    <a:p>
                      <a:pPr algn="r"/>
                      <a:r>
                        <a:rPr sz="1600" b="0" i="0">
                          <a:solidFill>
                            <a:srgbClr val="222630"/>
                          </a:solidFill>
                          <a:latin typeface="Calibri"/>
                        </a:rPr>
                        <a:t>96.8%</a:t>
                      </a:r>
                    </a:p>
                  </a:txBody>
                  <a:tcPr marL="128016" marT="36576" marB="36576" anchor="ctr">
                    <a:solidFill>
                      <a:srgbClr val="FFFFFF"/>
                    </a:solidFill>
                  </a:tcPr>
                </a:tc>
                <a:tc>
                  <a:txBody>
                    <a:bodyPr wrap="square"/>
                    <a:lstStyle/>
                    <a:p>
                      <a:pPr algn="r"/>
                      <a:r>
                        <a:rPr sz="1600" b="0" i="0">
                          <a:solidFill>
                            <a:srgbClr val="222630"/>
                          </a:solidFill>
                          <a:latin typeface="Calibri"/>
                        </a:rPr>
                        <a:t>98.7%</a:t>
                      </a:r>
                    </a:p>
                  </a:txBody>
                  <a:tcPr marL="128016" marT="36576" marB="36576" anchor="ctr">
                    <a:solidFill>
                      <a:srgbClr val="FFFFFF"/>
                    </a:solidFill>
                  </a:tcPr>
                </a:tc>
              </a:tr>
              <a:tr h="384048">
                <a:tc>
                  <a:txBody>
                    <a:bodyPr wrap="square"/>
                    <a:lstStyle/>
                    <a:p>
                      <a:pPr algn="l"/>
                      <a:r>
                        <a:rPr sz="1600" b="0" i="0">
                          <a:solidFill>
                            <a:srgbClr val="222630"/>
                          </a:solidFill>
                          <a:latin typeface="Calibri"/>
                        </a:rPr>
                        <a:t>Booklets with no question found</a:t>
                      </a:r>
                    </a:p>
                  </a:txBody>
                  <a:tcPr marL="128016" marT="36576" marB="36576" anchor="ctr">
                    <a:solidFill>
                      <a:srgbClr val="F2F4F7"/>
                    </a:solidFill>
                  </a:tcPr>
                </a:tc>
                <a:tc>
                  <a:txBody>
                    <a:bodyPr wrap="square"/>
                    <a:lstStyle/>
                    <a:p>
                      <a:pPr algn="r"/>
                      <a:r>
                        <a:rPr sz="1600" b="0" i="0">
                          <a:solidFill>
                            <a:srgbClr val="222630"/>
                          </a:solidFill>
                          <a:latin typeface="Consolas"/>
                        </a:rPr>
                        <a:t>3</a:t>
                      </a:r>
                    </a:p>
                  </a:txBody>
                  <a:tcPr marL="128016" marT="36576" marB="36576" anchor="ctr">
                    <a:solidFill>
                      <a:srgbClr val="F2F4F7"/>
                    </a:solidFill>
                  </a:tcPr>
                </a:tc>
                <a:tc>
                  <a:txBody>
                    <a:bodyPr wrap="square"/>
                    <a:lstStyle/>
                    <a:p>
                      <a:pPr algn="r"/>
                      <a:r>
                        <a:rPr sz="1600" b="0" i="0">
                          <a:solidFill>
                            <a:srgbClr val="222630"/>
                          </a:solidFill>
                          <a:latin typeface="Consolas"/>
                        </a:rPr>
                        <a:t>0</a:t>
                      </a:r>
                    </a:p>
                  </a:txBody>
                  <a:tcPr marL="128016" marT="36576" marB="36576" anchor="ctr">
                    <a:solidFill>
                      <a:srgbClr val="F2F4F7"/>
                    </a:solidFill>
                  </a:tcPr>
                </a:tc>
              </a:tr>
            </a:tbl>
          </a:graphicData>
        </a:graphic>
      </p:graphicFrame>
      <p:sp>
        <p:nvSpPr>
          <p:cNvPr id="9" name="TextBox 8"/>
          <p:cNvSpPr txBox="1"/>
          <p:nvPr/>
        </p:nvSpPr>
        <p:spPr>
          <a:xfrm>
            <a:off x="7452360" y="4069080"/>
            <a:ext cx="3977639" cy="2194560"/>
          </a:xfrm>
          <a:prstGeom prst="rect">
            <a:avLst/>
          </a:prstGeom>
          <a:noFill/>
        </p:spPr>
        <p:txBody>
          <a:bodyPr wrap="square" lIns="0" rIns="0" tIns="0" bIns="0">
            <a:spAutoFit/>
          </a:bodyPr>
          <a:lstStyle/>
          <a:p>
            <a:pPr algn="l">
              <a:spcAft>
                <a:spcPts val="900"/>
              </a:spcAft>
            </a:pPr>
            <a:r>
              <a:rPr sz="1550" b="0" i="0">
                <a:solidFill>
                  <a:srgbClr val="2E5A88"/>
                </a:solidFill>
                <a:latin typeface="Calibri"/>
              </a:rPr>
              <a:t>•   </a:t>
            </a:r>
            <a:r>
              <a:rPr sz="1550" b="0" i="0">
                <a:solidFill>
                  <a:srgbClr val="222630"/>
                </a:solidFill>
                <a:latin typeface="Calibri"/>
              </a:rPr>
              <a:t>Answers running over a page break are stitched to the question above them, not left loose.</a:t>
            </a:r>
          </a:p>
          <a:p>
            <a:pPr>
              <a:spcAft>
                <a:spcPts val="900"/>
              </a:spcAft>
            </a:pPr>
            <a:r>
              <a:rPr sz="1550" b="0" i="0">
                <a:solidFill>
                  <a:srgbClr val="2E5A88"/>
                </a:solidFill>
                <a:latin typeface="Calibri"/>
              </a:rPr>
              <a:t>•   </a:t>
            </a:r>
            <a:r>
              <a:rPr sz="1550" b="0" i="0">
                <a:solidFill>
                  <a:srgbClr val="222630"/>
                </a:solidFill>
                <a:latin typeface="Calibri"/>
              </a:rPr>
              <a:t>13 pages are still unplaced — the student starts under “Part-A” without repeating the number. We left them rather than guess.</a:t>
            </a:r>
          </a:p>
        </p:txBody>
      </p:sp>
      <p:sp>
        <p:nvSpPr>
          <p:cNvPr id="10" name="TextBox 9"/>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Getting the diagrams out</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10424160" cy="502920"/>
          </a:xfrm>
          <a:prstGeom prst="rect">
            <a:avLst/>
          </a:prstGeom>
          <a:noFill/>
        </p:spPr>
        <p:txBody>
          <a:bodyPr wrap="square" lIns="0" rIns="0" tIns="0" bIns="0">
            <a:spAutoFit/>
          </a:bodyPr>
          <a:lstStyle/>
          <a:p>
            <a:pPr algn="l"/>
            <a:r>
              <a:rPr sz="1600" b="0" i="1">
                <a:solidFill>
                  <a:srgbClr val="6E7582"/>
                </a:solidFill>
                <a:latin typeface="Calibri"/>
              </a:rPr>
              <a:t>Split by what each side actually knows.</a:t>
            </a:r>
          </a:p>
        </p:txBody>
      </p:sp>
      <p:sp>
        <p:nvSpPr>
          <p:cNvPr id="5" name="Rounded Rectangle 4"/>
          <p:cNvSpPr/>
          <p:nvPr/>
        </p:nvSpPr>
        <p:spPr>
          <a:xfrm>
            <a:off x="777240" y="2148840"/>
            <a:ext cx="5120640" cy="1965960"/>
          </a:xfrm>
          <a:prstGeom prst="roundRect">
            <a:avLst/>
          </a:prstGeom>
          <a:solidFill>
            <a:srgbClr val="F2F4F7"/>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64592"/>
          <a:lstStyle/>
          <a:p>
            <a:pPr algn="ctr"/>
            <a:r>
              <a:rPr sz="1800" b="1" i="0">
                <a:solidFill>
                  <a:srgbClr val="2E5A88"/>
                </a:solidFill>
                <a:latin typeface="Calibri"/>
              </a:rPr>
              <a:t>The reader knows reading order</a:t>
            </a:r>
          </a:p>
          <a:p>
            <a:pPr>
              <a:spcBef>
                <a:spcPts val="700"/>
              </a:spcBef>
            </a:pPr>
            <a:r>
              <a:rPr sz="1500" b="0" i="0">
                <a:solidFill>
                  <a:srgbClr val="222630"/>
                </a:solidFill>
                <a:latin typeface="Calibri"/>
              </a:rPr>
              <a:t>It has seen the page and can say “there is a handshake diagram here, between this paragraph and that one”. It writes a marker with a description.</a:t>
            </a:r>
          </a:p>
        </p:txBody>
      </p:sp>
      <p:sp>
        <p:nvSpPr>
          <p:cNvPr id="6" name="Rounded Rectangle 5"/>
          <p:cNvSpPr/>
          <p:nvPr/>
        </p:nvSpPr>
        <p:spPr>
          <a:xfrm>
            <a:off x="6263640" y="2148840"/>
            <a:ext cx="5120640" cy="1965960"/>
          </a:xfrm>
          <a:prstGeom prst="roundRect">
            <a:avLst/>
          </a:prstGeom>
          <a:solidFill>
            <a:srgbClr val="F2F4F7"/>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64592"/>
          <a:lstStyle/>
          <a:p>
            <a:pPr algn="ctr"/>
            <a:r>
              <a:rPr sz="1800" b="1" i="0">
                <a:solidFill>
                  <a:srgbClr val="222630"/>
                </a:solidFill>
                <a:latin typeface="Calibri"/>
              </a:rPr>
              <a:t>OpenCV knows pixels</a:t>
            </a:r>
          </a:p>
          <a:p>
            <a:pPr>
              <a:spcBef>
                <a:spcPts val="700"/>
              </a:spcBef>
            </a:pPr>
            <a:r>
              <a:rPr sz="1500" b="0" i="0">
                <a:solidFill>
                  <a:srgbClr val="222630"/>
                </a:solidFill>
                <a:latin typeface="Calibri"/>
              </a:rPr>
              <a:t>segment.py finds the actual ink: removes the printed rules, groups strokes into components, and returns exact boxes. It is precise about geometry and knows nothing about meaning.</a:t>
            </a:r>
          </a:p>
        </p:txBody>
      </p:sp>
      <p:sp>
        <p:nvSpPr>
          <p:cNvPr id="7" name="TextBox 6"/>
          <p:cNvSpPr txBox="1"/>
          <p:nvPr/>
        </p:nvSpPr>
        <p:spPr>
          <a:xfrm>
            <a:off x="777240" y="4389120"/>
            <a:ext cx="10607040" cy="457200"/>
          </a:xfrm>
          <a:prstGeom prst="rect">
            <a:avLst/>
          </a:prstGeom>
          <a:noFill/>
        </p:spPr>
        <p:txBody>
          <a:bodyPr wrap="square" lIns="0" rIns="0" tIns="0" bIns="0">
            <a:spAutoFit/>
          </a:bodyPr>
          <a:lstStyle/>
          <a:p>
            <a:pPr algn="l"/>
            <a:r>
              <a:rPr sz="1650" b="0" i="1">
                <a:solidFill>
                  <a:srgbClr val="6E7582"/>
                </a:solidFill>
                <a:latin typeface="Calibri"/>
              </a:rPr>
              <a:t>We asked the model for pixel coordinates first. It returned round numbers in its own resized space that mostly missed the figure.</a:t>
            </a:r>
          </a:p>
        </p:txBody>
      </p:sp>
      <p:sp>
        <p:nvSpPr>
          <p:cNvPr id="8" name="TextBox 7"/>
          <p:cNvSpPr txBox="1"/>
          <p:nvPr/>
        </p:nvSpPr>
        <p:spPr>
          <a:xfrm>
            <a:off x="777240" y="4983480"/>
            <a:ext cx="10515600" cy="1691639"/>
          </a:xfrm>
          <a:prstGeom prst="rect">
            <a:avLst/>
          </a:prstGeom>
          <a:noFill/>
        </p:spPr>
        <p:txBody>
          <a:bodyPr wrap="square" lIns="0" rIns="0" tIns="0" bIns="0">
            <a:spAutoFit/>
          </a:bodyPr>
          <a:lstStyle/>
          <a:p>
            <a:pPr algn="l">
              <a:lnSpc>
                <a:spcPct val="115000"/>
              </a:lnSpc>
              <a:spcAft>
                <a:spcPts val="1000"/>
              </a:spcAft>
            </a:pPr>
            <a:r>
              <a:rPr sz="1750" b="0" i="0">
                <a:solidFill>
                  <a:srgbClr val="2E5A88"/>
                </a:solidFill>
                <a:latin typeface="Calibri"/>
              </a:rPr>
              <a:t>•   </a:t>
            </a:r>
            <a:r>
              <a:rPr sz="1750" b="1" i="0">
                <a:solidFill>
                  <a:srgbClr val="222630"/>
                </a:solidFill>
                <a:latin typeface="Calibri"/>
              </a:rPr>
              <a:t>619 figures</a:t>
            </a:r>
            <a:r>
              <a:rPr sz="1750" b="0" i="0">
                <a:solidFill>
                  <a:srgbClr val="222630"/>
                </a:solidFill>
                <a:latin typeface="Calibri"/>
              </a:rPr>
              <a:t> cropped and embedded across the 122 booklets.</a:t>
            </a:r>
          </a:p>
          <a:p>
            <a:pPr>
              <a:lnSpc>
                <a:spcPct val="115000"/>
              </a:lnSpc>
              <a:spcAft>
                <a:spcPts val="1000"/>
              </a:spcAft>
            </a:pPr>
            <a:r>
              <a:rPr sz="1750" b="0" i="0">
                <a:solidFill>
                  <a:srgbClr val="2E5A88"/>
                </a:solidFill>
                <a:latin typeface="Calibri"/>
              </a:rPr>
              <a:t>•   </a:t>
            </a:r>
            <a:r>
              <a:rPr sz="1750" b="0" i="0">
                <a:solidFill>
                  <a:srgbClr val="222630"/>
                </a:solidFill>
                <a:latin typeface="Calibri"/>
              </a:rPr>
              <a:t>A hand-drawn table can come out twice, once as Markdown and once as a picture. We kept both on purpose — at that point in the pipeline there is no way to tell a well-read table from a mangled one, and deleting either risks deleting the answer.</a:t>
            </a:r>
          </a:p>
        </p:txBody>
      </p:sp>
      <p:sp>
        <p:nvSpPr>
          <p:cNvPr id="9" name="TextBox 8"/>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Pages the reader could not manage</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10424160" cy="502920"/>
          </a:xfrm>
          <a:prstGeom prst="rect">
            <a:avLst/>
          </a:prstGeom>
          <a:noFill/>
        </p:spPr>
        <p:txBody>
          <a:bodyPr wrap="square" lIns="0" rIns="0" tIns="0" bIns="0">
            <a:spAutoFit/>
          </a:bodyPr>
          <a:lstStyle/>
          <a:p>
            <a:pPr algn="l"/>
            <a:r>
              <a:rPr sz="1600" b="0" i="1">
                <a:solidFill>
                  <a:srgbClr val="6E7582"/>
                </a:solidFill>
                <a:latin typeface="Calibri"/>
              </a:rPr>
              <a:t>Roughly 6% of pages need a person to look at them. The point is to say which ones.</a:t>
            </a:r>
          </a:p>
        </p:txBody>
      </p:sp>
      <p:sp>
        <p:nvSpPr>
          <p:cNvPr id="5" name="TextBox 4"/>
          <p:cNvSpPr txBox="1"/>
          <p:nvPr/>
        </p:nvSpPr>
        <p:spPr>
          <a:xfrm>
            <a:off x="777240" y="2057400"/>
            <a:ext cx="10515600" cy="4206240"/>
          </a:xfrm>
          <a:prstGeom prst="rect">
            <a:avLst/>
          </a:prstGeom>
          <a:noFill/>
        </p:spPr>
        <p:txBody>
          <a:bodyPr wrap="square" lIns="0" rIns="0" tIns="0" bIns="0">
            <a:spAutoFit/>
          </a:bodyPr>
          <a:lstStyle/>
          <a:p>
            <a:pPr algn="l">
              <a:lnSpc>
                <a:spcPct val="115000"/>
              </a:lnSpc>
              <a:spcAft>
                <a:spcPts val="1100"/>
              </a:spcAft>
            </a:pPr>
            <a:r>
              <a:rPr sz="1800" b="0" i="0">
                <a:solidFill>
                  <a:srgbClr val="2E5A88"/>
                </a:solidFill>
                <a:latin typeface="Calibri"/>
              </a:rPr>
              <a:t>•   </a:t>
            </a:r>
            <a:r>
              <a:rPr sz="1800" b="0" i="0">
                <a:solidFill>
                  <a:srgbClr val="222630"/>
                </a:solidFill>
                <a:latin typeface="Calibri"/>
              </a:rPr>
              <a:t>When a loop is detected, the text is cut at the point it went wrong. Everything before that is genuine and is kept.</a:t>
            </a:r>
          </a:p>
          <a:p>
            <a:pPr>
              <a:lnSpc>
                <a:spcPct val="115000"/>
              </a:lnSpc>
              <a:spcAft>
                <a:spcPts val="1100"/>
              </a:spcAft>
            </a:pPr>
            <a:r>
              <a:rPr sz="1800" b="0" i="0">
                <a:solidFill>
                  <a:srgbClr val="2E5A88"/>
                </a:solidFill>
                <a:latin typeface="Calibri"/>
              </a:rPr>
              <a:t>•   </a:t>
            </a:r>
            <a:r>
              <a:rPr sz="1800" b="0" i="0">
                <a:solidFill>
                  <a:srgbClr val="222630"/>
                </a:solidFill>
                <a:latin typeface="Calibri"/>
              </a:rPr>
              <a:t>The full page image is then embedded underneath, with a note telling whoever reads it to work from the picture and not the text.</a:t>
            </a:r>
          </a:p>
          <a:p>
            <a:pPr>
              <a:lnSpc>
                <a:spcPct val="115000"/>
              </a:lnSpc>
              <a:spcAft>
                <a:spcPts val="1100"/>
              </a:spcAft>
            </a:pPr>
            <a:r>
              <a:rPr sz="1800" b="0" i="0">
                <a:solidFill>
                  <a:srgbClr val="2E5A88"/>
                </a:solidFill>
                <a:latin typeface="Calibri"/>
              </a:rPr>
              <a:t>•   </a:t>
            </a:r>
            <a:r>
              <a:rPr sz="1800" b="1" i="0">
                <a:solidFill>
                  <a:srgbClr val="222630"/>
                </a:solidFill>
                <a:latin typeface="Calibri"/>
              </a:rPr>
              <a:t>59 pages</a:t>
            </a:r>
            <a:r>
              <a:rPr sz="1800" b="0" i="0">
                <a:solidFill>
                  <a:srgbClr val="222630"/>
                </a:solidFill>
                <a:latin typeface="Calibri"/>
              </a:rPr>
              <a:t> carry that flag. Nothing is silently dropped.</a:t>
            </a:r>
          </a:p>
        </p:txBody>
      </p:sp>
      <p:sp>
        <p:nvSpPr>
          <p:cNvPr id="6" name="Rounded Rectangle 5"/>
          <p:cNvSpPr/>
          <p:nvPr/>
        </p:nvSpPr>
        <p:spPr>
          <a:xfrm>
            <a:off x="777240" y="3931920"/>
            <a:ext cx="9509760" cy="1463040"/>
          </a:xfrm>
          <a:prstGeom prst="roundRect">
            <a:avLst>
              <a:gd name="adj" fmla="val 3000"/>
            </a:avLst>
          </a:prstGeom>
          <a:solidFill>
            <a:srgbClr val="F2F4F7"/>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tIns="146304"/>
          <a:lstStyle/>
          <a:p>
            <a:pPr algn="ctr">
              <a:spcAft>
                <a:spcPts val="200"/>
              </a:spcAft>
            </a:pPr>
            <a:r>
              <a:rPr sz="1400" b="0" i="0">
                <a:solidFill>
                  <a:srgbClr val="222630"/>
                </a:solidFill>
                <a:latin typeface="Consolas"/>
              </a:rPr>
              <a:t>&gt; **Reading failed partway down this page.** Mark from the image,</a:t>
            </a:r>
          </a:p>
          <a:p>
            <a:pPr>
              <a:spcAft>
                <a:spcPts val="200"/>
              </a:spcAft>
            </a:pPr>
            <a:r>
              <a:rPr sz="1400" b="0" i="0">
                <a:solidFill>
                  <a:srgbClr val="222630"/>
                </a:solidFill>
                <a:latin typeface="Consolas"/>
              </a:rPr>
              <a:t>&gt; not from the text.</a:t>
            </a:r>
          </a:p>
          <a:p>
            <a:pPr>
              <a:spcAft>
                <a:spcPts val="200"/>
              </a:spcAft>
            </a:pPr>
            <a:r>
              <a:rPr sz="1400" b="0" i="0">
                <a:solidFill>
                  <a:srgbClr val="222630"/>
                </a:solidFill>
                <a:latin typeface="Consolas"/>
              </a:rPr>
              <a:t> </a:t>
            </a:r>
          </a:p>
          <a:p>
            <a:pPr>
              <a:spcAft>
                <a:spcPts val="200"/>
              </a:spcAft>
            </a:pPr>
            <a:r>
              <a:rPr sz="1400" b="0" i="0">
                <a:solidFill>
                  <a:srgbClr val="222630"/>
                </a:solidFill>
                <a:latin typeface="Consolas"/>
              </a:rPr>
              <a:t>![s21_c3_p04 full page](figures/s21_c3_p04_page.png)</a:t>
            </a:r>
          </a:p>
        </p:txBody>
      </p:sp>
      <p:sp>
        <p:nvSpPr>
          <p:cNvPr id="7" name="TextBox 6"/>
          <p:cNvSpPr txBox="1"/>
          <p:nvPr/>
        </p:nvSpPr>
        <p:spPr>
          <a:xfrm>
            <a:off x="777240" y="5669280"/>
            <a:ext cx="10607040" cy="822960"/>
          </a:xfrm>
          <a:prstGeom prst="rect">
            <a:avLst/>
          </a:prstGeom>
          <a:noFill/>
        </p:spPr>
        <p:txBody>
          <a:bodyPr wrap="square" lIns="0" rIns="0" tIns="0" bIns="0">
            <a:spAutoFit/>
          </a:bodyPr>
          <a:lstStyle/>
          <a:p>
            <a:pPr algn="l"/>
            <a:r>
              <a:rPr sz="2200" b="1" i="0">
                <a:solidFill>
                  <a:srgbClr val="2E5A88"/>
                </a:solidFill>
                <a:latin typeface="Calibri"/>
              </a:rPr>
              <a:t>An honest gap is usable. A silent one is not.</a:t>
            </a:r>
          </a:p>
          <a:p>
            <a:pPr>
              <a:spcBef>
                <a:spcPts val="800"/>
              </a:spcBef>
            </a:pPr>
            <a:r>
              <a:rPr sz="1600" b="0" i="0">
                <a:solidFill>
                  <a:srgbClr val="6E7582"/>
                </a:solidFill>
                <a:latin typeface="Calibri"/>
              </a:rPr>
              <a:t>The failure mode we were most worried about was a page that reads plausibly but says something the student never wrote. Flagging is cheaper than being confidently wrong.</a:t>
            </a:r>
          </a:p>
        </p:txBody>
      </p:sp>
      <p:sp>
        <p:nvSpPr>
          <p:cNvPr id="8" name="TextBox 7"/>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The output</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10424160" cy="502920"/>
          </a:xfrm>
          <a:prstGeom prst="rect">
            <a:avLst/>
          </a:prstGeom>
          <a:noFill/>
        </p:spPr>
        <p:txBody>
          <a:bodyPr wrap="square" lIns="0" rIns="0" tIns="0" bIns="0">
            <a:spAutoFit/>
          </a:bodyPr>
          <a:lstStyle/>
          <a:p>
            <a:pPr algn="l"/>
            <a:r>
              <a:rPr sz="1600" b="0" i="1">
                <a:solidFill>
                  <a:srgbClr val="6E7582"/>
                </a:solidFill>
                <a:latin typeface="Calibri"/>
              </a:rPr>
              <a:t>One Markdown file per booklet.</a:t>
            </a:r>
          </a:p>
        </p:txBody>
      </p:sp>
      <p:sp>
        <p:nvSpPr>
          <p:cNvPr id="5" name="Rounded Rectangle 4"/>
          <p:cNvSpPr/>
          <p:nvPr/>
        </p:nvSpPr>
        <p:spPr>
          <a:xfrm>
            <a:off x="777240" y="2103120"/>
            <a:ext cx="6675120" cy="4160520"/>
          </a:xfrm>
          <a:prstGeom prst="roundRect">
            <a:avLst>
              <a:gd name="adj" fmla="val 3000"/>
            </a:avLst>
          </a:prstGeom>
          <a:solidFill>
            <a:srgbClr val="F2F4F7"/>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tIns="146304"/>
          <a:lstStyle/>
          <a:p>
            <a:pPr algn="ctr">
              <a:spcAft>
                <a:spcPts val="200"/>
              </a:spcAft>
            </a:pPr>
            <a:r>
              <a:rPr sz="1300" b="0" i="0">
                <a:solidFill>
                  <a:srgbClr val="6E7582"/>
                </a:solidFill>
                <a:latin typeface="Consolas"/>
              </a:rPr>
              <a:t># student 07 — cie 2</a:t>
            </a:r>
          </a:p>
          <a:p>
            <a:pPr>
              <a:spcAft>
                <a:spcPts val="200"/>
              </a:spcAft>
            </a:pPr>
            <a:r>
              <a:rPr sz="1300" b="0" i="0">
                <a:solidFill>
                  <a:srgbClr val="222630"/>
                </a:solidFill>
                <a:latin typeface="Consolas"/>
              </a:rPr>
              <a:t> </a:t>
            </a:r>
          </a:p>
          <a:p>
            <a:pPr>
              <a:spcAft>
                <a:spcPts val="200"/>
              </a:spcAft>
            </a:pPr>
            <a:r>
              <a:rPr sz="1300" b="0" i="0">
                <a:solidFill>
                  <a:srgbClr val="6E7582"/>
                </a:solidFill>
                <a:latin typeface="Consolas"/>
              </a:rPr>
              <a:t>## 1)</a:t>
            </a:r>
          </a:p>
          <a:p>
            <a:pPr>
              <a:spcAft>
                <a:spcPts val="200"/>
              </a:spcAft>
            </a:pPr>
            <a:r>
              <a:rPr sz="1300" b="0" i="0">
                <a:solidFill>
                  <a:srgbClr val="222630"/>
                </a:solidFill>
                <a:latin typeface="Consolas"/>
              </a:rPr>
              <a:t> </a:t>
            </a:r>
          </a:p>
          <a:p>
            <a:pPr>
              <a:spcAft>
                <a:spcPts val="200"/>
              </a:spcAft>
            </a:pPr>
            <a:r>
              <a:rPr sz="1300" b="0" i="0">
                <a:solidFill>
                  <a:srgbClr val="222630"/>
                </a:solidFill>
                <a:latin typeface="Consolas"/>
              </a:rPr>
              <a:t>1. Host A is the client and Host B is the server.</a:t>
            </a:r>
          </a:p>
          <a:p>
            <a:pPr>
              <a:spcAft>
                <a:spcPts val="200"/>
              </a:spcAft>
            </a:pPr>
            <a:r>
              <a:rPr sz="1300" b="0" i="0">
                <a:solidFill>
                  <a:srgbClr val="222630"/>
                </a:solidFill>
                <a:latin typeface="Consolas"/>
              </a:rPr>
              <a:t>   A server never initiates a request. It waits for one.</a:t>
            </a:r>
          </a:p>
          <a:p>
            <a:pPr>
              <a:spcAft>
                <a:spcPts val="200"/>
              </a:spcAft>
            </a:pPr>
            <a:r>
              <a:rPr sz="1300" b="0" i="0">
                <a:solidFill>
                  <a:srgbClr val="222630"/>
                </a:solidFill>
                <a:latin typeface="Consolas"/>
              </a:rPr>
              <a:t> </a:t>
            </a:r>
          </a:p>
          <a:p>
            <a:pPr>
              <a:spcAft>
                <a:spcPts val="200"/>
              </a:spcAft>
            </a:pPr>
            <a:r>
              <a:rPr sz="1300" b="0" i="0">
                <a:solidFill>
                  <a:srgbClr val="222630"/>
                </a:solidFill>
                <a:latin typeface="Consolas"/>
              </a:rPr>
              <a:t>2. Missing acknowledgement number in the second segment is</a:t>
            </a:r>
          </a:p>
          <a:p>
            <a:pPr>
              <a:spcAft>
                <a:spcPts val="200"/>
              </a:spcAft>
            </a:pPr>
            <a:r>
              <a:rPr sz="1300" b="0" i="0">
                <a:solidFill>
                  <a:srgbClr val="222630"/>
                </a:solidFill>
                <a:latin typeface="Consolas"/>
              </a:rPr>
              <a:t>   8000 + 1 = 8001</a:t>
            </a:r>
          </a:p>
          <a:p>
            <a:pPr>
              <a:spcAft>
                <a:spcPts val="200"/>
              </a:spcAft>
            </a:pPr>
            <a:r>
              <a:rPr sz="1300" b="0" i="0">
                <a:solidFill>
                  <a:srgbClr val="222630"/>
                </a:solidFill>
                <a:latin typeface="Consolas"/>
              </a:rPr>
              <a:t> </a:t>
            </a:r>
          </a:p>
          <a:p>
            <a:pPr>
              <a:spcAft>
                <a:spcPts val="200"/>
              </a:spcAft>
            </a:pPr>
            <a:r>
              <a:rPr sz="1300" b="0" i="0">
                <a:solidFill>
                  <a:srgbClr val="6E7582"/>
                </a:solidFill>
                <a:latin typeface="Consolas"/>
              </a:rPr>
              <a:t>## 2a)</a:t>
            </a:r>
          </a:p>
          <a:p>
            <a:pPr>
              <a:spcAft>
                <a:spcPts val="200"/>
              </a:spcAft>
            </a:pPr>
            <a:r>
              <a:rPr sz="1300" b="0" i="0">
                <a:solidFill>
                  <a:srgbClr val="222630"/>
                </a:solidFill>
                <a:latin typeface="Consolas"/>
              </a:rPr>
              <a:t> </a:t>
            </a:r>
          </a:p>
          <a:p>
            <a:pPr>
              <a:spcAft>
                <a:spcPts val="200"/>
              </a:spcAft>
            </a:pPr>
            <a:r>
              <a:rPr sz="1300" b="0" i="0">
                <a:solidFill>
                  <a:srgbClr val="222630"/>
                </a:solidFill>
                <a:latin typeface="Consolas"/>
              </a:rPr>
              <a:t>The retransmission timer runs out and the sender has had no</a:t>
            </a:r>
          </a:p>
          <a:p>
            <a:pPr>
              <a:spcAft>
                <a:spcPts val="200"/>
              </a:spcAft>
            </a:pPr>
            <a:r>
              <a:rPr sz="1300" b="0" i="0">
                <a:solidFill>
                  <a:srgbClr val="222630"/>
                </a:solidFill>
                <a:latin typeface="Consolas"/>
              </a:rPr>
              <a:t>acknowledgement, so the packet is resent.</a:t>
            </a:r>
          </a:p>
          <a:p>
            <a:pPr>
              <a:spcAft>
                <a:spcPts val="200"/>
              </a:spcAft>
            </a:pPr>
            <a:r>
              <a:rPr sz="1300" b="0" i="0">
                <a:solidFill>
                  <a:srgbClr val="222630"/>
                </a:solidFill>
                <a:latin typeface="Consolas"/>
              </a:rPr>
              <a:t> </a:t>
            </a:r>
          </a:p>
          <a:p>
            <a:pPr>
              <a:spcAft>
                <a:spcPts val="200"/>
              </a:spcAft>
            </a:pPr>
            <a:r>
              <a:rPr sz="1300" b="0" i="0">
                <a:solidFill>
                  <a:srgbClr val="222630"/>
                </a:solidFill>
                <a:latin typeface="Consolas"/>
              </a:rPr>
              <a:t>![handshake timeline](figures/s07_c2_p03_fig01.png)</a:t>
            </a:r>
          </a:p>
        </p:txBody>
      </p:sp>
      <p:sp>
        <p:nvSpPr>
          <p:cNvPr id="6" name="TextBox 5"/>
          <p:cNvSpPr txBox="1"/>
          <p:nvPr/>
        </p:nvSpPr>
        <p:spPr>
          <a:xfrm>
            <a:off x="7726679" y="2103120"/>
            <a:ext cx="3749039" cy="4206240"/>
          </a:xfrm>
          <a:prstGeom prst="rect">
            <a:avLst/>
          </a:prstGeom>
          <a:noFill/>
        </p:spPr>
        <p:txBody>
          <a:bodyPr wrap="square" lIns="0" rIns="0" tIns="0" bIns="0">
            <a:spAutoFit/>
          </a:bodyPr>
          <a:lstStyle/>
          <a:p>
            <a:pPr algn="l"/>
            <a:r>
              <a:rPr sz="1900" b="1" i="0">
                <a:solidFill>
                  <a:srgbClr val="222630"/>
                </a:solidFill>
                <a:latin typeface="Calibri"/>
              </a:rPr>
              <a:t>What it guarantees</a:t>
            </a:r>
          </a:p>
          <a:p>
            <a:pPr>
              <a:spcBef>
                <a:spcPts val="1000"/>
              </a:spcBef>
            </a:pPr>
            <a:r>
              <a:rPr sz="1550" b="0" i="0">
                <a:solidFill>
                  <a:srgbClr val="2E5A88"/>
                </a:solidFill>
                <a:latin typeface="Calibri"/>
              </a:rPr>
              <a:t>•   </a:t>
            </a:r>
            <a:r>
              <a:rPr sz="1550" b="0" i="0">
                <a:solidFill>
                  <a:srgbClr val="222630"/>
                </a:solidFill>
                <a:latin typeface="Calibri"/>
              </a:rPr>
              <a:t>Questions in exam order, sub-parts nested</a:t>
            </a:r>
          </a:p>
          <a:p>
            <a:pPr>
              <a:spcBef>
                <a:spcPts val="1000"/>
              </a:spcBef>
            </a:pPr>
            <a:r>
              <a:rPr sz="1550" b="0" i="0">
                <a:solidFill>
                  <a:srgbClr val="2E5A88"/>
                </a:solidFill>
                <a:latin typeface="Calibri"/>
              </a:rPr>
              <a:t>•   </a:t>
            </a:r>
            <a:r>
              <a:rPr sz="1550" b="0" i="0">
                <a:solidFill>
                  <a:srgbClr val="222630"/>
                </a:solidFill>
                <a:latin typeface="Calibri"/>
              </a:rPr>
              <a:t>Answers spanning page breaks stitched together</a:t>
            </a:r>
          </a:p>
          <a:p>
            <a:pPr>
              <a:spcBef>
                <a:spcPts val="1000"/>
              </a:spcBef>
            </a:pPr>
            <a:r>
              <a:rPr sz="1550" b="0" i="0">
                <a:solidFill>
                  <a:srgbClr val="2E5A88"/>
                </a:solidFill>
                <a:latin typeface="Calibri"/>
              </a:rPr>
              <a:t>•   </a:t>
            </a:r>
            <a:r>
              <a:rPr sz="1550" b="0" i="0">
                <a:solidFill>
                  <a:srgbClr val="222630"/>
                </a:solidFill>
                <a:latin typeface="Calibri"/>
              </a:rPr>
              <a:t>Diagrams as real embedded images</a:t>
            </a:r>
          </a:p>
          <a:p>
            <a:pPr>
              <a:spcBef>
                <a:spcPts val="1000"/>
              </a:spcBef>
            </a:pPr>
            <a:r>
              <a:rPr sz="1550" b="0" i="0">
                <a:solidFill>
                  <a:srgbClr val="2E5A88"/>
                </a:solidFill>
                <a:latin typeface="Calibri"/>
              </a:rPr>
              <a:t>•   </a:t>
            </a:r>
            <a:r>
              <a:rPr sz="1550" b="0" i="0">
                <a:solidFill>
                  <a:srgbClr val="222630"/>
                </a:solidFill>
                <a:latin typeface="Calibri"/>
              </a:rPr>
              <a:t>Page provenance kept as a comment on every block</a:t>
            </a:r>
          </a:p>
          <a:p>
            <a:pPr>
              <a:spcBef>
                <a:spcPts val="1000"/>
              </a:spcBef>
            </a:pPr>
            <a:r>
              <a:rPr sz="1550" b="0" i="0">
                <a:solidFill>
                  <a:srgbClr val="2E5A88"/>
                </a:solidFill>
                <a:latin typeface="Calibri"/>
              </a:rPr>
              <a:t>•   </a:t>
            </a:r>
            <a:r>
              <a:rPr sz="1550" b="0" i="0">
                <a:solidFill>
                  <a:srgbClr val="222630"/>
                </a:solidFill>
                <a:latin typeface="Calibri"/>
              </a:rPr>
              <a:t>Failures visible, never silent</a:t>
            </a:r>
          </a:p>
        </p:txBody>
      </p:sp>
      <p:sp>
        <p:nvSpPr>
          <p:cNvPr id="7" name="TextBox 6"/>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98480" cy="822960"/>
          </a:xfrm>
          <a:prstGeom prst="rect">
            <a:avLst/>
          </a:prstGeom>
          <a:noFill/>
        </p:spPr>
        <p:txBody>
          <a:bodyPr wrap="square" lIns="0" rIns="0" tIns="0" bIns="0">
            <a:spAutoFit/>
          </a:bodyPr>
          <a:lstStyle/>
          <a:p>
            <a:pPr algn="l"/>
            <a:r>
              <a:rPr sz="3200" b="1" i="0">
                <a:solidFill>
                  <a:srgbClr val="222630"/>
                </a:solidFill>
                <a:latin typeface="Calibri"/>
              </a:rPr>
              <a:t>Where it stands</a:t>
            </a:r>
          </a:p>
        </p:txBody>
      </p:sp>
      <p:sp>
        <p:nvSpPr>
          <p:cNvPr id="3" name="Rectangle 2"/>
          <p:cNvSpPr/>
          <p:nvPr/>
        </p:nvSpPr>
        <p:spPr>
          <a:xfrm>
            <a:off x="777240" y="1207008"/>
            <a:ext cx="105156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77240" y="1691640"/>
          <a:ext cx="6949440" cy="1920240"/>
        </p:xfrm>
        <a:graphic>
          <a:graphicData uri="http://schemas.openxmlformats.org/drawingml/2006/table">
            <a:tbl>
              <a:tblPr firstRow="1" bandRow="1">
                <a:tableStyleId>{5C22544A-7EE6-4342-B048-85BDC9FD1C3A}</a:tableStyleId>
              </a:tblPr>
              <a:tblGrid>
                <a:gridCol w="4206240"/>
                <a:gridCol w="1371600"/>
                <a:gridCol w="1371600"/>
              </a:tblGrid>
              <a:tr h="384048">
                <a:tc>
                  <a:txBody>
                    <a:bodyPr wrap="square"/>
                    <a:lstStyle/>
                    <a:p>
                      <a:pPr algn="l"/>
                      <a:r>
                        <a:rPr sz="1650" b="0" i="0">
                          <a:solidFill>
                            <a:srgbClr val="222630"/>
                          </a:solidFill>
                          <a:latin typeface="Calibri"/>
                        </a:rPr>
                        <a:t>Booklets assembled</a:t>
                      </a:r>
                    </a:p>
                  </a:txBody>
                  <a:tcPr marL="128016" marT="36576" marB="36576" anchor="ctr">
                    <a:solidFill>
                      <a:srgbClr val="FFFFFF"/>
                    </a:solidFill>
                  </a:tcPr>
                </a:tc>
                <a:tc>
                  <a:txBody>
                    <a:bodyPr wrap="square"/>
                    <a:lstStyle/>
                    <a:p>
                      <a:pPr algn="r"/>
                      <a:r>
                        <a:rPr sz="1650" b="0" i="0">
                          <a:solidFill>
                            <a:srgbClr val="222630"/>
                          </a:solidFill>
                          <a:latin typeface="Consolas"/>
                        </a:rPr>
                        <a:t>122</a:t>
                      </a:r>
                    </a:p>
                  </a:txBody>
                  <a:tcPr marL="128016" marT="36576" marB="36576" anchor="ctr">
                    <a:solidFill>
                      <a:srgbClr val="FFFFFF"/>
                    </a:solidFill>
                  </a:tcPr>
                </a:tc>
                <a:tc>
                  <a:txBody>
                    <a:bodyPr wrap="square"/>
                    <a:lstStyle/>
                    <a:p>
                      <a:pPr algn="l"/>
                      <a:r>
                        <a:rPr sz="1650" b="0" i="0">
                          <a:solidFill>
                            <a:srgbClr val="222630"/>
                          </a:solidFill>
                          <a:latin typeface="Calibri"/>
                        </a:rPr>
                        <a:t>of 122</a:t>
                      </a:r>
                    </a:p>
                  </a:txBody>
                  <a:tcPr marL="128016" marT="36576" marB="36576" anchor="ctr">
                    <a:solidFill>
                      <a:srgbClr val="FFFFFF"/>
                    </a:solidFill>
                  </a:tcPr>
                </a:tc>
              </a:tr>
              <a:tr h="384048">
                <a:tc>
                  <a:txBody>
                    <a:bodyPr wrap="square"/>
                    <a:lstStyle/>
                    <a:p>
                      <a:pPr algn="l"/>
                      <a:r>
                        <a:rPr sz="1650" b="0" i="0">
                          <a:solidFill>
                            <a:srgbClr val="222630"/>
                          </a:solidFill>
                          <a:latin typeface="Calibri"/>
                        </a:rPr>
                        <a:t>Pages placed under a question</a:t>
                      </a:r>
                    </a:p>
                  </a:txBody>
                  <a:tcPr marL="128016" marT="36576" marB="36576" anchor="ctr">
                    <a:solidFill>
                      <a:srgbClr val="FFFFFF"/>
                    </a:solidFill>
                  </a:tcPr>
                </a:tc>
                <a:tc>
                  <a:txBody>
                    <a:bodyPr wrap="square"/>
                    <a:lstStyle/>
                    <a:p>
                      <a:pPr algn="r"/>
                      <a:r>
                        <a:rPr sz="1650" b="0" i="0">
                          <a:solidFill>
                            <a:srgbClr val="222630"/>
                          </a:solidFill>
                          <a:latin typeface="Consolas"/>
                        </a:rPr>
                        <a:t>985</a:t>
                      </a:r>
                    </a:p>
                  </a:txBody>
                  <a:tcPr marL="128016" marT="36576" marB="36576" anchor="ctr">
                    <a:solidFill>
                      <a:srgbClr val="FFFFFF"/>
                    </a:solidFill>
                  </a:tcPr>
                </a:tc>
                <a:tc>
                  <a:txBody>
                    <a:bodyPr wrap="square"/>
                    <a:lstStyle/>
                    <a:p>
                      <a:pPr algn="r"/>
                      <a:r>
                        <a:rPr sz="1650" b="0" i="0">
                          <a:solidFill>
                            <a:srgbClr val="222630"/>
                          </a:solidFill>
                          <a:latin typeface="Calibri"/>
                        </a:rPr>
                        <a:t>98.7%</a:t>
                      </a:r>
                    </a:p>
                  </a:txBody>
                  <a:tcPr marL="128016" marT="36576" marB="36576" anchor="ctr">
                    <a:solidFill>
                      <a:srgbClr val="FFFFFF"/>
                    </a:solidFill>
                  </a:tcPr>
                </a:tc>
              </a:tr>
              <a:tr h="384048">
                <a:tc>
                  <a:txBody>
                    <a:bodyPr wrap="square"/>
                    <a:lstStyle/>
                    <a:p>
                      <a:pPr algn="l"/>
                      <a:r>
                        <a:rPr sz="1650" b="0" i="0">
                          <a:solidFill>
                            <a:srgbClr val="222630"/>
                          </a:solidFill>
                          <a:latin typeface="Calibri"/>
                        </a:rPr>
                        <a:t>Booklets with no question found</a:t>
                      </a:r>
                    </a:p>
                  </a:txBody>
                  <a:tcPr marL="128016" marT="36576" marB="36576" anchor="ctr">
                    <a:solidFill>
                      <a:srgbClr val="FFFFFF"/>
                    </a:solidFill>
                  </a:tcPr>
                </a:tc>
                <a:tc>
                  <a:txBody>
                    <a:bodyPr wrap="square"/>
                    <a:lstStyle/>
                    <a:p>
                      <a:pPr algn="r"/>
                      <a:r>
                        <a:rPr sz="1650" b="0" i="0">
                          <a:solidFill>
                            <a:srgbClr val="222630"/>
                          </a:solidFill>
                          <a:latin typeface="Consolas"/>
                        </a:rPr>
                        <a:t>0</a:t>
                      </a:r>
                    </a:p>
                  </a:txBody>
                  <a:tcPr marL="128016" marT="36576" marB="36576" anchor="ctr">
                    <a:solidFill>
                      <a:srgbClr val="FFFFFF"/>
                    </a:solidFill>
                  </a:tcPr>
                </a:tc>
                <a:tc>
                  <a:txBody>
                    <a:bodyPr wrap="square"/>
                    <a:lstStyle/>
                    <a:p>
                      <a:pPr algn="l"/>
                      <a:r>
                        <a:rPr sz="1650" b="0" i="0">
                          <a:solidFill>
                            <a:srgbClr val="222630"/>
                          </a:solidFill>
                          <a:latin typeface="Calibri"/>
                        </a:rPr>
                        <a:t>was 3</a:t>
                      </a:r>
                    </a:p>
                  </a:txBody>
                  <a:tcPr marL="128016" marT="36576" marB="36576" anchor="ctr">
                    <a:solidFill>
                      <a:srgbClr val="FFFFFF"/>
                    </a:solidFill>
                  </a:tcPr>
                </a:tc>
              </a:tr>
              <a:tr h="384048">
                <a:tc>
                  <a:txBody>
                    <a:bodyPr wrap="square"/>
                    <a:lstStyle/>
                    <a:p>
                      <a:pPr algn="l"/>
                      <a:r>
                        <a:rPr sz="1650" b="0" i="0">
                          <a:solidFill>
                            <a:srgbClr val="222630"/>
                          </a:solidFill>
                          <a:latin typeface="Calibri"/>
                        </a:rPr>
                        <a:t>Figures cropped and embedded</a:t>
                      </a:r>
                    </a:p>
                  </a:txBody>
                  <a:tcPr marL="128016" marT="36576" marB="36576" anchor="ctr">
                    <a:solidFill>
                      <a:srgbClr val="FFFFFF"/>
                    </a:solidFill>
                  </a:tcPr>
                </a:tc>
                <a:tc>
                  <a:txBody>
                    <a:bodyPr wrap="square"/>
                    <a:lstStyle/>
                    <a:p>
                      <a:pPr algn="r"/>
                      <a:r>
                        <a:rPr sz="1650" b="0" i="0">
                          <a:solidFill>
                            <a:srgbClr val="222630"/>
                          </a:solidFill>
                          <a:latin typeface="Consolas"/>
                        </a:rPr>
                        <a:t>619</a:t>
                      </a:r>
                    </a:p>
                  </a:txBody>
                  <a:tcPr marL="128016" marT="36576" marB="36576" anchor="ctr">
                    <a:solidFill>
                      <a:srgbClr val="FFFFFF"/>
                    </a:solidFill>
                  </a:tcPr>
                </a:tc>
                <a:tc>
                  <a:txBody>
                    <a:bodyPr wrap="square"/>
                    <a:lstStyle/>
                    <a:p>
                      <a:pPr algn="l"/>
                      <a:r>
                        <a:rPr sz="1650" b="0" i="0">
                          <a:solidFill>
                            <a:srgbClr val="222630"/>
                          </a:solidFill>
                          <a:latin typeface="Calibri"/>
                        </a:rPr>
                        <a:t/>
                      </a:r>
                    </a:p>
                  </a:txBody>
                  <a:tcPr marL="128016" marT="36576" marB="36576" anchor="ctr">
                    <a:solidFill>
                      <a:srgbClr val="FFFFFF"/>
                    </a:solidFill>
                  </a:tcPr>
                </a:tc>
              </a:tr>
              <a:tr h="384048">
                <a:tc>
                  <a:txBody>
                    <a:bodyPr wrap="square"/>
                    <a:lstStyle/>
                    <a:p>
                      <a:pPr algn="l"/>
                      <a:r>
                        <a:rPr sz="1650" b="0" i="0">
                          <a:solidFill>
                            <a:srgbClr val="222630"/>
                          </a:solidFill>
                          <a:latin typeface="Calibri"/>
                        </a:rPr>
                        <a:t>Pages flagged for a human</a:t>
                      </a:r>
                    </a:p>
                  </a:txBody>
                  <a:tcPr marL="128016" marT="36576" marB="36576" anchor="ctr">
                    <a:solidFill>
                      <a:srgbClr val="FFFFFF"/>
                    </a:solidFill>
                  </a:tcPr>
                </a:tc>
                <a:tc>
                  <a:txBody>
                    <a:bodyPr wrap="square"/>
                    <a:lstStyle/>
                    <a:p>
                      <a:pPr algn="r"/>
                      <a:r>
                        <a:rPr sz="1650" b="0" i="0">
                          <a:solidFill>
                            <a:srgbClr val="222630"/>
                          </a:solidFill>
                          <a:latin typeface="Consolas"/>
                        </a:rPr>
                        <a:t>59</a:t>
                      </a:r>
                    </a:p>
                  </a:txBody>
                  <a:tcPr marL="128016" marT="36576" marB="36576" anchor="ctr">
                    <a:solidFill>
                      <a:srgbClr val="FFFFFF"/>
                    </a:solidFill>
                  </a:tcPr>
                </a:tc>
                <a:tc>
                  <a:txBody>
                    <a:bodyPr wrap="square"/>
                    <a:lstStyle/>
                    <a:p>
                      <a:pPr algn="r"/>
                      <a:r>
                        <a:rPr sz="1650" b="0" i="0">
                          <a:solidFill>
                            <a:srgbClr val="222630"/>
                          </a:solidFill>
                          <a:latin typeface="Calibri"/>
                        </a:rPr>
                        <a:t>5.9%</a:t>
                      </a:r>
                    </a:p>
                  </a:txBody>
                  <a:tcPr marL="128016" marT="36576" marB="36576" anchor="ctr">
                    <a:solidFill>
                      <a:srgbClr val="FFFFFF"/>
                    </a:solidFill>
                  </a:tcPr>
                </a:tc>
              </a:tr>
            </a:tbl>
          </a:graphicData>
        </a:graphic>
      </p:graphicFrame>
      <p:sp>
        <p:nvSpPr>
          <p:cNvPr id="5" name="TextBox 4"/>
          <p:cNvSpPr txBox="1"/>
          <p:nvPr/>
        </p:nvSpPr>
        <p:spPr>
          <a:xfrm>
            <a:off x="8138160" y="1645920"/>
            <a:ext cx="3291840" cy="457200"/>
          </a:xfrm>
          <a:prstGeom prst="rect">
            <a:avLst/>
          </a:prstGeom>
          <a:noFill/>
        </p:spPr>
        <p:txBody>
          <a:bodyPr wrap="square" lIns="0" rIns="0" tIns="0" bIns="0">
            <a:spAutoFit/>
          </a:bodyPr>
          <a:lstStyle/>
          <a:p>
            <a:pPr algn="l"/>
            <a:r>
              <a:rPr sz="1900" b="1" i="0">
                <a:solidFill>
                  <a:srgbClr val="222630"/>
                </a:solidFill>
                <a:latin typeface="Calibri"/>
              </a:rPr>
              <a:t>Still to do</a:t>
            </a:r>
          </a:p>
          <a:p>
            <a:pPr>
              <a:spcBef>
                <a:spcPts val="1100"/>
              </a:spcBef>
            </a:pPr>
            <a:r>
              <a:rPr sz="1550" b="0" i="0">
                <a:solidFill>
                  <a:srgbClr val="6E7582"/>
                </a:solidFill>
                <a:latin typeface="Calibri"/>
              </a:rPr>
              <a:t>•   </a:t>
            </a:r>
            <a:r>
              <a:rPr sz="1550" b="0" i="0">
                <a:solidFill>
                  <a:srgbClr val="222630"/>
                </a:solidFill>
                <a:latin typeface="Calibri"/>
              </a:rPr>
              <a:t>batch04, the last 231 pages</a:t>
            </a:r>
          </a:p>
          <a:p>
            <a:pPr>
              <a:spcBef>
                <a:spcPts val="1100"/>
              </a:spcBef>
            </a:pPr>
            <a:r>
              <a:rPr sz="1550" b="0" i="0">
                <a:solidFill>
                  <a:srgbClr val="6E7582"/>
                </a:solidFill>
                <a:latin typeface="Calibri"/>
              </a:rPr>
              <a:t>•   </a:t>
            </a:r>
            <a:r>
              <a:rPr sz="1550" b="0" i="0">
                <a:solidFill>
                  <a:srgbClr val="222630"/>
                </a:solidFill>
                <a:latin typeface="Calibri"/>
              </a:rPr>
              <a:t>13 unplaced pages</a:t>
            </a:r>
          </a:p>
          <a:p>
            <a:pPr>
              <a:spcBef>
                <a:spcPts val="1100"/>
              </a:spcBef>
            </a:pPr>
            <a:r>
              <a:rPr sz="1550" b="0" i="0">
                <a:solidFill>
                  <a:srgbClr val="6E7582"/>
                </a:solidFill>
                <a:latin typeface="Calibri"/>
              </a:rPr>
              <a:t>•   </a:t>
            </a:r>
            <a:r>
              <a:rPr sz="1550" b="0" i="0">
                <a:solidFill>
                  <a:srgbClr val="222630"/>
                </a:solidFill>
                <a:latin typeface="Calibri"/>
              </a:rPr>
              <a:t>Recovering labels in booklets where the heading was never found</a:t>
            </a:r>
          </a:p>
        </p:txBody>
      </p:sp>
      <p:sp>
        <p:nvSpPr>
          <p:cNvPr id="6" name="Rectangle 5"/>
          <p:cNvSpPr/>
          <p:nvPr/>
        </p:nvSpPr>
        <p:spPr>
          <a:xfrm>
            <a:off x="777240" y="5029200"/>
            <a:ext cx="10607040" cy="254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303520"/>
            <a:ext cx="10607040" cy="914400"/>
          </a:xfrm>
          <a:prstGeom prst="rect">
            <a:avLst/>
          </a:prstGeom>
          <a:noFill/>
        </p:spPr>
        <p:txBody>
          <a:bodyPr wrap="square" lIns="0" rIns="0" tIns="0" bIns="0">
            <a:spAutoFit/>
          </a:bodyPr>
          <a:lstStyle/>
          <a:p>
            <a:pPr algn="l"/>
            <a:r>
              <a:rPr sz="2100" b="1" i="0">
                <a:solidFill>
                  <a:srgbClr val="222630"/>
                </a:solidFill>
                <a:latin typeface="Calibri"/>
              </a:rPr>
              <a:t>A scanned booklet is now a document you can read, search and mark.</a:t>
            </a:r>
          </a:p>
          <a:p>
            <a:pPr>
              <a:spcBef>
                <a:spcPts val="800"/>
              </a:spcBef>
            </a:pPr>
            <a:r>
              <a:rPr sz="1650" b="0" i="0">
                <a:solidFill>
                  <a:srgbClr val="6E7582"/>
                </a:solidFill>
                <a:latin typeface="Calibri"/>
              </a:rPr>
              <a:t>Marking against the official answer keys is the next stage, and it starts from these files.</a:t>
            </a:r>
          </a:p>
        </p:txBody>
      </p:sp>
      <p:sp>
        <p:nvSpPr>
          <p:cNvPr id="8" name="TextBox 7"/>
          <p:cNvSpPr txBox="1"/>
          <p:nvPr/>
        </p:nvSpPr>
        <p:spPr>
          <a:xfrm>
            <a:off x="10607040" y="6327648"/>
            <a:ext cx="914400" cy="274320"/>
          </a:xfrm>
          <a:prstGeom prst="rect">
            <a:avLst/>
          </a:prstGeom>
          <a:noFill/>
        </p:spPr>
        <p:txBody>
          <a:bodyPr wrap="square" lIns="0" rIns="0" tIns="0" bIns="0">
            <a:spAutoFit/>
          </a:bodyPr>
          <a:lstStyle/>
          <a:p>
            <a:pPr algn="r"/>
            <a:r>
              <a:rPr sz="1100" b="0" i="0">
                <a:solidFill>
                  <a:srgbClr val="D2D7D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