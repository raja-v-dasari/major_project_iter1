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dataset collection through to the assembled booklet document. Marking is a later stage and is not covered.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zero labelled training data was produced for the reading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naming convention is not cosmetic. Page order is the only signal available for stitching answers across a page break.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 question here. The answer is that stages are run individually during development, so a single guard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separation is what let us re-run reading four times with different prompts without re-preparing 1,231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Bleed-through is removed by exploiting sharpness, not brightness: reverse-side ink is blurred by the paper, so it belongs to the background estimate.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green rules disappearing and the faint reverse-side text vanishing between the two.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reusable design lesson from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Per-page independence is what makes the work restartable and parallelisable.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 marker matters: the model is told to say when it cannot read something rather than guess.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liberal regex is deliberate: a missed label costs a whole answer, a wrongly accepted one costs a heading.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division of labour: the model knows reading order, image processing knows pixels. Neither can do the other's job.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pages carry that flag. An honest gap is usable; a silent one is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deliverable. Marking begins from these files.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1965960"/>
            <a:ext cx="10332720" cy="1554480"/>
          </a:xfrm>
          <a:prstGeom prst="rect">
            <a:avLst/>
          </a:prstGeom>
          <a:noFill/>
        </p:spPr>
        <p:txBody>
          <a:bodyPr wrap="square" lIns="0" rIns="0" tIns="0" bIns="0">
            <a:spAutoFit/>
          </a:bodyPr>
          <a:lstStyle/>
          <a:p>
            <a:pPr algn="l"/>
            <a:r>
              <a:rPr sz="4200" b="1" i="0">
                <a:solidFill>
                  <a:srgbClr val="1F242E"/>
                </a:solidFill>
                <a:latin typeface="Calibri"/>
              </a:rPr>
              <a:t>From scanned answer booklets</a:t>
            </a:r>
          </a:p>
          <a:p>
            <a:r>
              <a:rPr sz="4200" b="1" i="0">
                <a:solidFill>
                  <a:srgbClr val="2E5A88"/>
                </a:solidFill>
                <a:latin typeface="Calibri"/>
              </a:rPr>
              <a:t>to one Markdown document per student</a:t>
            </a:r>
          </a:p>
        </p:txBody>
      </p:sp>
      <p:sp>
        <p:nvSpPr>
          <p:cNvPr id="4" name="TextBox 3"/>
          <p:cNvSpPr txBox="1"/>
          <p:nvPr/>
        </p:nvSpPr>
        <p:spPr>
          <a:xfrm>
            <a:off x="960120" y="3657600"/>
            <a:ext cx="9601200" cy="411480"/>
          </a:xfrm>
          <a:prstGeom prst="rect">
            <a:avLst/>
          </a:prstGeom>
          <a:noFill/>
        </p:spPr>
        <p:txBody>
          <a:bodyPr wrap="square" lIns="0" rIns="0" tIns="0" bIns="0">
            <a:spAutoFit/>
          </a:bodyPr>
          <a:lstStyle/>
          <a:p>
            <a:pPr algn="l"/>
            <a:r>
              <a:rPr sz="1800" b="0" i="0">
                <a:solidFill>
                  <a:srgbClr val="6E7582"/>
                </a:solidFill>
                <a:latin typeface="Calibri"/>
              </a:rPr>
              <a:t>How the system turns a stack of handwritten pages into structured text</a:t>
            </a:r>
          </a:p>
        </p:txBody>
      </p:sp>
      <p:sp>
        <p:nvSpPr>
          <p:cNvPr id="5" name="Rectangle 4"/>
          <p:cNvSpPr/>
          <p:nvPr/>
        </p:nvSpPr>
        <p:spPr>
          <a:xfrm>
            <a:off x="960120" y="4315968"/>
            <a:ext cx="1737360" cy="3175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572000"/>
            <a:ext cx="9601200" cy="1097280"/>
          </a:xfrm>
          <a:prstGeom prst="rect">
            <a:avLst/>
          </a:prstGeom>
          <a:noFill/>
        </p:spPr>
        <p:txBody>
          <a:bodyPr wrap="square" lIns="0" rIns="0" tIns="0" bIns="0">
            <a:spAutoFit/>
          </a:bodyPr>
          <a:lstStyle/>
          <a:p>
            <a:pPr algn="l"/>
            <a:r>
              <a:rPr sz="1700" b="1" i="0">
                <a:solidFill>
                  <a:srgbClr val="1F242E"/>
                </a:solidFill>
                <a:latin typeface="Calibri"/>
              </a:rPr>
              <a:t>Major Project Review</a:t>
            </a:r>
          </a:p>
          <a:p>
            <a:pPr>
              <a:spcBef>
                <a:spcPts val="400"/>
              </a:spcBef>
            </a:pPr>
            <a:r>
              <a:rPr sz="1500" b="0" i="0">
                <a:solidFill>
                  <a:srgbClr val="6E7582"/>
                </a:solidFill>
                <a:latin typeface="Calibri"/>
              </a:rPr>
              <a:t>Department of Computer Science &amp; Engineering</a:t>
            </a:r>
          </a:p>
          <a:p>
            <a:r>
              <a:rPr sz="1500" b="0" i="0">
                <a:solidFill>
                  <a:srgbClr val="6E7582"/>
                </a:solidFill>
                <a:latin typeface="Calibri"/>
              </a:rPr>
              <a:t>B.M.S. College of Engineering, Bangalore</a:t>
            </a:r>
          </a:p>
          <a:p>
            <a:pPr>
              <a:spcBef>
                <a:spcPts val="900"/>
              </a:spcBef>
            </a:pPr>
            <a:r>
              <a:rPr sz="1350" b="0" i="0">
                <a:solidFill>
                  <a:srgbClr val="6E7582"/>
                </a:solidFill>
                <a:latin typeface="Calibri"/>
              </a:rPr>
              <a:t>Corpus: Computer Networks internal assessments, CIE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What the system does</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2</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One sentence, then the rest of the deck is how.</a:t>
            </a:r>
          </a:p>
        </p:txBody>
      </p:sp>
      <p:sp>
        <p:nvSpPr>
          <p:cNvPr id="6" name="Rounded Rectangle 5"/>
          <p:cNvSpPr/>
          <p:nvPr/>
        </p:nvSpPr>
        <p:spPr>
          <a:xfrm>
            <a:off x="640080" y="1920240"/>
            <a:ext cx="3291840" cy="137160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6E7582"/>
                </a:solidFill>
                <a:latin typeface="Calibri"/>
              </a:rPr>
              <a:t>INPUT</a:t>
            </a:r>
          </a:p>
          <a:p>
            <a:pPr algn="ctr"/>
            <a:r>
              <a:rPr sz="1700" b="1" i="0">
                <a:solidFill>
                  <a:srgbClr val="1F242E"/>
                </a:solidFill>
                <a:latin typeface="Calibri"/>
              </a:rPr>
              <a:t>A folder of scanned pages</a:t>
            </a:r>
          </a:p>
          <a:p>
            <a:pPr algn="ctr"/>
            <a:r>
              <a:rPr sz="1300" b="0" i="0">
                <a:solidFill>
                  <a:srgbClr val="6E7582"/>
                </a:solidFill>
                <a:latin typeface="Calibri"/>
              </a:rPr>
              <a:t>photographed, skewed, in colour</a:t>
            </a:r>
          </a:p>
        </p:txBody>
      </p:sp>
      <p:sp>
        <p:nvSpPr>
          <p:cNvPr id="7" name="Right Arrow 6"/>
          <p:cNvSpPr/>
          <p:nvPr/>
        </p:nvSpPr>
        <p:spPr>
          <a:xfrm>
            <a:off x="4160520" y="2450592"/>
            <a:ext cx="685800" cy="310896"/>
          </a:xfrm>
          <a:prstGeom prst="right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0" y="1920240"/>
            <a:ext cx="6446520" cy="1371600"/>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C8D8EC"/>
                </a:solidFill>
                <a:latin typeface="Calibri"/>
              </a:rPr>
              <a:t>OUTPUT</a:t>
            </a:r>
          </a:p>
          <a:p>
            <a:pPr algn="ctr"/>
            <a:r>
              <a:rPr sz="1900" b="1" i="0">
                <a:solidFill>
                  <a:srgbClr val="FFFFFF"/>
                </a:solidFill>
                <a:latin typeface="Consolas"/>
              </a:rPr>
              <a:t>student_19_cie_1 / booklet.md</a:t>
            </a:r>
          </a:p>
          <a:p>
            <a:pPr algn="ctr"/>
            <a:r>
              <a:rPr sz="1300" b="0" i="0">
                <a:solidFill>
                  <a:srgbClr val="C8D8EC"/>
                </a:solidFill>
                <a:latin typeface="Calibri"/>
              </a:rPr>
              <a:t>questions in order  ·  answers stitched across pages  ·  diagrams embedded</a:t>
            </a:r>
          </a:p>
        </p:txBody>
      </p:sp>
      <p:sp>
        <p:nvSpPr>
          <p:cNvPr id="9" name="TextBox 8"/>
          <p:cNvSpPr txBox="1"/>
          <p:nvPr/>
        </p:nvSpPr>
        <p:spPr>
          <a:xfrm>
            <a:off x="640080" y="3611880"/>
            <a:ext cx="10972800" cy="3017520"/>
          </a:xfrm>
          <a:prstGeom prst="rect">
            <a:avLst/>
          </a:prstGeom>
          <a:noFill/>
        </p:spPr>
        <p:txBody>
          <a:bodyPr wrap="square" lIns="0" rIns="0" tIns="0" bIns="0">
            <a:spAutoFit/>
          </a:bodyPr>
          <a:lstStyle/>
          <a:p>
            <a:pPr algn="l">
              <a:lnSpc>
                <a:spcPct val="112000"/>
              </a:lnSpc>
              <a:spcAft>
                <a:spcPts val="1100"/>
              </a:spcAft>
            </a:pPr>
            <a:r>
              <a:rPr sz="1750" b="0" i="0">
                <a:solidFill>
                  <a:srgbClr val="2E5A88"/>
                </a:solidFill>
                <a:latin typeface="Calibri"/>
              </a:rPr>
              <a:t>•   </a:t>
            </a:r>
            <a:r>
              <a:rPr sz="1750" b="0" i="0">
                <a:solidFill>
                  <a:srgbClr val="1F242E"/>
                </a:solidFill>
                <a:latin typeface="Calibri"/>
              </a:rPr>
              <a:t>The pages arrive as </a:t>
            </a:r>
            <a:r>
              <a:rPr sz="1750" b="1" i="0">
                <a:solidFill>
                  <a:srgbClr val="1F242E"/>
                </a:solidFill>
                <a:latin typeface="Calibri"/>
              </a:rPr>
              <a:t>images</a:t>
            </a:r>
            <a:r>
              <a:rPr sz="1750" b="0" i="0">
                <a:solidFill>
                  <a:srgbClr val="1F242E"/>
                </a:solidFill>
                <a:latin typeface="Calibri"/>
              </a:rPr>
              <a:t>. Nothing in them can be searched, counted, copied or marked automatically.</a:t>
            </a:r>
          </a:p>
          <a:p>
            <a:pPr>
              <a:lnSpc>
                <a:spcPct val="112000"/>
              </a:lnSpc>
              <a:spcAft>
                <a:spcPts val="1100"/>
              </a:spcAft>
            </a:pPr>
            <a:r>
              <a:rPr sz="1750" b="0" i="0">
                <a:solidFill>
                  <a:srgbClr val="2E5A88"/>
                </a:solidFill>
                <a:latin typeface="Calibri"/>
              </a:rPr>
              <a:t>•   </a:t>
            </a:r>
            <a:r>
              <a:rPr sz="1750" b="0" i="0">
                <a:solidFill>
                  <a:srgbClr val="1F242E"/>
                </a:solidFill>
                <a:latin typeface="Calibri"/>
              </a:rPr>
              <a:t>The output is </a:t>
            </a:r>
            <a:r>
              <a:rPr sz="1750" b="1" i="0">
                <a:solidFill>
                  <a:srgbClr val="1F242E"/>
                </a:solidFill>
                <a:latin typeface="Calibri"/>
              </a:rPr>
              <a:t>plain text with structure</a:t>
            </a:r>
            <a:r>
              <a:rPr sz="1750" b="0" i="0">
                <a:solidFill>
                  <a:srgbClr val="1F242E"/>
                </a:solidFill>
                <a:latin typeface="Calibri"/>
              </a:rPr>
              <a:t> — which question each answer belongs to, what the student wrote, and where their drawings are.</a:t>
            </a:r>
          </a:p>
          <a:p>
            <a:pPr>
              <a:lnSpc>
                <a:spcPct val="112000"/>
              </a:lnSpc>
              <a:spcAft>
                <a:spcPts val="1100"/>
              </a:spcAft>
            </a:pPr>
            <a:r>
              <a:rPr sz="1750" b="0" i="0">
                <a:solidFill>
                  <a:srgbClr val="2E5A88"/>
                </a:solidFill>
                <a:latin typeface="Calibri"/>
              </a:rPr>
              <a:t>•   </a:t>
            </a:r>
            <a:r>
              <a:rPr sz="1750" b="0" i="0">
                <a:solidFill>
                  <a:srgbClr val="1F242E"/>
                </a:solidFill>
                <a:latin typeface="Calibri"/>
              </a:rPr>
              <a:t>Everything in between is done by the system with </a:t>
            </a:r>
            <a:r>
              <a:rPr sz="1750" b="1" i="0">
                <a:solidFill>
                  <a:srgbClr val="1F242E"/>
                </a:solidFill>
                <a:latin typeface="Calibri"/>
              </a:rPr>
              <a:t>no human transcription</a:t>
            </a:r>
            <a:r>
              <a:rPr sz="1750" b="0" i="0">
                <a:solidFill>
                  <a:srgbClr val="1F242E"/>
                </a:solidFill>
                <a:latin typeface="Calibri"/>
              </a:rPr>
              <a:t>, and with </a:t>
            </a:r>
            <a:r>
              <a:rPr sz="1750" b="1" i="0">
                <a:solidFill>
                  <a:srgbClr val="1F242E"/>
                </a:solidFill>
                <a:latin typeface="Calibri"/>
              </a:rPr>
              <a:t>no training data</a:t>
            </a:r>
            <a:r>
              <a:rPr sz="1750" b="0" i="0">
                <a:solidFill>
                  <a:srgbClr val="1F242E"/>
                </a:solidFill>
                <a:latin typeface="Calibri"/>
              </a:rPr>
              <a:t>: the reading model is used exactly as published.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0 — Collecting the dataset</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3</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Where the pages came from, and the rules we set before touching them.</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200"/>
              </a:spcAft>
            </a:pPr>
            <a:r>
              <a:rPr sz="1700" b="0" i="0">
                <a:solidFill>
                  <a:srgbClr val="2E5A88"/>
                </a:solidFill>
                <a:latin typeface="Calibri"/>
              </a:rPr>
              <a:t>•   </a:t>
            </a:r>
            <a:r>
              <a:rPr sz="1700" b="0" i="0">
                <a:solidFill>
                  <a:srgbClr val="1F242E"/>
                </a:solidFill>
                <a:latin typeface="Calibri"/>
              </a:rPr>
              <a:t>Answer booklets from three Computer Networks internal assessments were </a:t>
            </a:r>
            <a:r>
              <a:rPr sz="1700" b="1" i="0">
                <a:solidFill>
                  <a:srgbClr val="1F242E"/>
                </a:solidFill>
                <a:latin typeface="Calibri"/>
              </a:rPr>
              <a:t>scanned page by page</a:t>
            </a:r>
            <a:r>
              <a:rPr sz="1700" b="0" i="0">
                <a:solidFill>
                  <a:srgbClr val="1F242E"/>
                </a:solidFill>
                <a:latin typeface="Calibri"/>
              </a:rPr>
              <a:t> using a phone scanner app, one folder per student per exam.</a:t>
            </a:r>
          </a:p>
          <a:p>
            <a:pPr>
              <a:lnSpc>
                <a:spcPct val="112000"/>
              </a:lnSpc>
              <a:spcAft>
                <a:spcPts val="1200"/>
              </a:spcAft>
            </a:pPr>
            <a:r>
              <a:rPr sz="1700" b="0" i="0">
                <a:solidFill>
                  <a:srgbClr val="2E5A88"/>
                </a:solidFill>
                <a:latin typeface="Calibri"/>
              </a:rPr>
              <a:t>•   </a:t>
            </a:r>
            <a:r>
              <a:rPr sz="1700" b="0" i="0">
                <a:solidFill>
                  <a:srgbClr val="1F242E"/>
                </a:solidFill>
                <a:latin typeface="Calibri"/>
              </a:rPr>
              <a:t>Naming was fixed at the source, because everything downstream depends on it: </a:t>
            </a:r>
            <a:r>
              <a:rPr sz="1700" b="1" i="0">
                <a:solidFill>
                  <a:srgbClr val="1F242E"/>
                </a:solidFill>
                <a:latin typeface="Calibri"/>
              </a:rPr>
              <a:t>student_NN / cie_C / page_PP.png</a:t>
            </a:r>
            <a:r>
              <a:rPr sz="1700" b="0" i="0">
                <a:solidFill>
                  <a:srgbClr val="1F242E"/>
                </a:solidFill>
                <a:latin typeface="Calibri"/>
              </a:rPr>
              <a:t>. The student number, the exam and the page order are carried by the path itself.</a:t>
            </a:r>
          </a:p>
          <a:p>
            <a:pPr>
              <a:lnSpc>
                <a:spcPct val="112000"/>
              </a:lnSpc>
              <a:spcAft>
                <a:spcPts val="1200"/>
              </a:spcAft>
            </a:pPr>
            <a:r>
              <a:rPr sz="1700" b="0" i="0">
                <a:solidFill>
                  <a:srgbClr val="2E5A88"/>
                </a:solidFill>
                <a:latin typeface="Calibri"/>
              </a:rPr>
              <a:t>•   </a:t>
            </a:r>
            <a:r>
              <a:rPr sz="1700" b="0" i="0">
                <a:solidFill>
                  <a:srgbClr val="1F242E"/>
                </a:solidFill>
                <a:latin typeface="Calibri"/>
              </a:rPr>
              <a:t>Pages were kept in their </a:t>
            </a:r>
            <a:r>
              <a:rPr sz="1700" b="1" i="0">
                <a:solidFill>
                  <a:srgbClr val="1F242E"/>
                </a:solidFill>
                <a:latin typeface="Calibri"/>
              </a:rPr>
              <a:t>original order</a:t>
            </a:r>
            <a:r>
              <a:rPr sz="1700" b="0" i="0">
                <a:solidFill>
                  <a:srgbClr val="1F242E"/>
                </a:solidFill>
                <a:latin typeface="Calibri"/>
              </a:rPr>
              <a:t>. Reconstruction later needs to know that page 5 follows page 4 in order to stitch an answer that runs over the break.</a:t>
            </a:r>
          </a:p>
          <a:p>
            <a:pPr>
              <a:lnSpc>
                <a:spcPct val="112000"/>
              </a:lnSpc>
              <a:spcAft>
                <a:spcPts val="1200"/>
              </a:spcAft>
            </a:pPr>
            <a:r>
              <a:rPr sz="1700" b="0" i="0">
                <a:solidFill>
                  <a:srgbClr val="2E5A88"/>
                </a:solidFill>
                <a:latin typeface="Calibri"/>
              </a:rPr>
              <a:t>•   </a:t>
            </a:r>
            <a:r>
              <a:rPr sz="1700" b="0" i="0">
                <a:solidFill>
                  <a:srgbClr val="1F242E"/>
                </a:solidFill>
                <a:latin typeface="Calibri"/>
              </a:rPr>
              <a:t>Scans were deliberately </a:t>
            </a:r>
            <a:r>
              <a:rPr sz="1700" b="1" i="0">
                <a:solidFill>
                  <a:srgbClr val="1F242E"/>
                </a:solidFill>
                <a:latin typeface="Calibri"/>
              </a:rPr>
              <a:t>not cleaned by hand</a:t>
            </a:r>
            <a:r>
              <a:rPr sz="1700" b="0" i="0">
                <a:solidFill>
                  <a:srgbClr val="1F242E"/>
                </a:solidFill>
                <a:latin typeface="Calibri"/>
              </a:rPr>
              <a:t>. If the system cannot cope with an ordinary phone scan, it is not useful.</a:t>
            </a:r>
          </a:p>
        </p:txBody>
      </p:sp>
      <p:sp>
        <p:nvSpPr>
          <p:cNvPr id="7" name="Rounded Rectangle 6"/>
          <p:cNvSpPr/>
          <p:nvPr/>
        </p:nvSpPr>
        <p:spPr>
          <a:xfrm>
            <a:off x="640080" y="4892040"/>
            <a:ext cx="7132320" cy="1371600"/>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300" b="0" i="0">
                <a:solidFill>
                  <a:srgbClr val="1F242E"/>
                </a:solidFill>
                <a:latin typeface="Consolas"/>
              </a:rPr>
              <a:t>MP_Dataset/</a:t>
            </a:r>
          </a:p>
          <a:p>
            <a:pPr>
              <a:spcAft>
                <a:spcPts val="100"/>
              </a:spcAft>
            </a:pPr>
            <a:r>
              <a:rPr sz="1300" b="0" i="0">
                <a:solidFill>
                  <a:srgbClr val="1F242E"/>
                </a:solidFill>
                <a:latin typeface="Consolas"/>
              </a:rPr>
              <a:t>    student_01/  cie_1/  page_01.png  page_02.png  ...</a:t>
            </a:r>
          </a:p>
          <a:p>
            <a:pPr>
              <a:spcAft>
                <a:spcPts val="100"/>
              </a:spcAft>
            </a:pPr>
            <a:r>
              <a:rPr sz="1300" b="0" i="0">
                <a:solidFill>
                  <a:srgbClr val="1F242E"/>
                </a:solidFill>
                <a:latin typeface="Consolas"/>
              </a:rPr>
              <a:t>                 cie_2/  page_01.png  ...</a:t>
            </a:r>
          </a:p>
          <a:p>
            <a:pPr>
              <a:spcAft>
                <a:spcPts val="100"/>
              </a:spcAft>
            </a:pPr>
            <a:r>
              <a:rPr sz="1300" b="0" i="0">
                <a:solidFill>
                  <a:srgbClr val="1F242E"/>
                </a:solidFill>
                <a:latin typeface="Consolas"/>
              </a:rPr>
              <a:t>    student_02/  ...</a:t>
            </a:r>
          </a:p>
        </p:txBody>
      </p:sp>
      <p:sp>
        <p:nvSpPr>
          <p:cNvPr id="8" name="Rounded Rectangle 7"/>
          <p:cNvSpPr/>
          <p:nvPr/>
        </p:nvSpPr>
        <p:spPr>
          <a:xfrm>
            <a:off x="8092440" y="4892040"/>
            <a:ext cx="3474720" cy="137160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146304"/>
          <a:lstStyle/>
          <a:p>
            <a:pPr algn="ctr"/>
            <a:r>
              <a:rPr sz="1500" b="1" i="0">
                <a:solidFill>
                  <a:srgbClr val="1F242E"/>
                </a:solidFill>
                <a:latin typeface="Calibri"/>
              </a:rPr>
              <a:t>Raw scan properties</a:t>
            </a:r>
          </a:p>
          <a:p>
            <a:pPr>
              <a:spcBef>
                <a:spcPts val="400"/>
              </a:spcBef>
            </a:pPr>
            <a:r>
              <a:rPr sz="1250" b="0" i="0">
                <a:solidFill>
                  <a:srgbClr val="6E7582"/>
                </a:solidFill>
                <a:latin typeface="Calibri"/>
              </a:rPr>
              <a:t>• 1700 × 2338 pixels, colour</a:t>
            </a:r>
          </a:p>
          <a:p>
            <a:pPr>
              <a:spcBef>
                <a:spcPts val="400"/>
              </a:spcBef>
            </a:pPr>
            <a:r>
              <a:rPr sz="1250" b="0" i="0">
                <a:solidFill>
                  <a:srgbClr val="6E7582"/>
                </a:solidFill>
                <a:latin typeface="Calibri"/>
              </a:rPr>
              <a:t>• Green ruled paper, blue/black ink</a:t>
            </a:r>
          </a:p>
          <a:p>
            <a:pPr>
              <a:spcBef>
                <a:spcPts val="400"/>
              </a:spcBef>
            </a:pPr>
            <a:r>
              <a:rPr sz="1250" b="0" i="0">
                <a:solidFill>
                  <a:srgbClr val="6E7582"/>
                </a:solidFill>
                <a:latin typeface="Calibri"/>
              </a:rPr>
              <a:t>• Visible skew and page borders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The corpus</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4</a:t>
            </a:r>
          </a:p>
        </p:txBody>
      </p:sp>
      <p:sp>
        <p:nvSpPr>
          <p:cNvPr id="5" name="Rounded Rectangle 4"/>
          <p:cNvSpPr/>
          <p:nvPr/>
        </p:nvSpPr>
        <p:spPr>
          <a:xfrm>
            <a:off x="640080" y="1618488"/>
            <a:ext cx="2606040" cy="137160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400" b="1" i="0">
                <a:solidFill>
                  <a:srgbClr val="2E5A88"/>
                </a:solidFill>
                <a:latin typeface="Calibri"/>
              </a:rPr>
              <a:t>122</a:t>
            </a:r>
          </a:p>
          <a:p>
            <a:pPr algn="ctr"/>
            <a:r>
              <a:rPr sz="1400" b="0" i="0">
                <a:solidFill>
                  <a:srgbClr val="6E7582"/>
                </a:solidFill>
                <a:latin typeface="Calibri"/>
              </a:rPr>
              <a:t>booklets</a:t>
            </a:r>
          </a:p>
        </p:txBody>
      </p:sp>
      <p:sp>
        <p:nvSpPr>
          <p:cNvPr id="6" name="Rounded Rectangle 5"/>
          <p:cNvSpPr/>
          <p:nvPr/>
        </p:nvSpPr>
        <p:spPr>
          <a:xfrm>
            <a:off x="3456432" y="1618488"/>
            <a:ext cx="2606040" cy="137160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400" b="1" i="0">
                <a:solidFill>
                  <a:srgbClr val="2E5A88"/>
                </a:solidFill>
                <a:latin typeface="Calibri"/>
              </a:rPr>
              <a:t>1,231</a:t>
            </a:r>
          </a:p>
          <a:p>
            <a:pPr algn="ctr"/>
            <a:r>
              <a:rPr sz="1400" b="0" i="0">
                <a:solidFill>
                  <a:srgbClr val="6E7582"/>
                </a:solidFill>
                <a:latin typeface="Calibri"/>
              </a:rPr>
              <a:t>pages</a:t>
            </a:r>
          </a:p>
        </p:txBody>
      </p:sp>
      <p:sp>
        <p:nvSpPr>
          <p:cNvPr id="7" name="Rounded Rectangle 6"/>
          <p:cNvSpPr/>
          <p:nvPr/>
        </p:nvSpPr>
        <p:spPr>
          <a:xfrm>
            <a:off x="6272784" y="1618488"/>
            <a:ext cx="2606040" cy="137160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400" b="1" i="0">
                <a:solidFill>
                  <a:srgbClr val="2E5A88"/>
                </a:solidFill>
                <a:latin typeface="Calibri"/>
              </a:rPr>
              <a:t>3</a:t>
            </a:r>
          </a:p>
          <a:p>
            <a:pPr algn="ctr"/>
            <a:r>
              <a:rPr sz="1400" b="0" i="0">
                <a:solidFill>
                  <a:srgbClr val="6E7582"/>
                </a:solidFill>
                <a:latin typeface="Calibri"/>
              </a:rPr>
              <a:t>assessments</a:t>
            </a:r>
          </a:p>
        </p:txBody>
      </p:sp>
      <p:sp>
        <p:nvSpPr>
          <p:cNvPr id="8" name="Rounded Rectangle 7"/>
          <p:cNvSpPr/>
          <p:nvPr/>
        </p:nvSpPr>
        <p:spPr>
          <a:xfrm>
            <a:off x="9089136" y="1618488"/>
            <a:ext cx="2606040" cy="137160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400" b="1" i="0">
                <a:solidFill>
                  <a:srgbClr val="2E5A88"/>
                </a:solidFill>
                <a:latin typeface="Calibri"/>
              </a:rPr>
              <a:t>1,000</a:t>
            </a:r>
          </a:p>
          <a:p>
            <a:pPr algn="ctr"/>
            <a:r>
              <a:rPr sz="1400" b="0" i="0">
                <a:solidFill>
                  <a:srgbClr val="6E7582"/>
                </a:solidFill>
                <a:latin typeface="Calibri"/>
              </a:rPr>
              <a:t>pages read so far</a:t>
            </a:r>
          </a:p>
        </p:txBody>
      </p:sp>
      <p:sp>
        <p:nvSpPr>
          <p:cNvPr id="9" name="TextBox 8"/>
          <p:cNvSpPr txBox="1"/>
          <p:nvPr/>
        </p:nvSpPr>
        <p:spPr>
          <a:xfrm>
            <a:off x="640080" y="3264408"/>
            <a:ext cx="10972800" cy="3364991"/>
          </a:xfrm>
          <a:prstGeom prst="rect">
            <a:avLst/>
          </a:prstGeom>
          <a:noFill/>
        </p:spPr>
        <p:txBody>
          <a:bodyPr wrap="square" lIns="0" rIns="0" tIns="0" bIns="0">
            <a:spAutoFit/>
          </a:bodyPr>
          <a:lstStyle/>
          <a:p>
            <a:pPr algn="l">
              <a:lnSpc>
                <a:spcPct val="112000"/>
              </a:lnSpc>
              <a:spcAft>
                <a:spcPts val="1100"/>
              </a:spcAft>
            </a:pPr>
            <a:r>
              <a:rPr sz="1700" b="0" i="0">
                <a:solidFill>
                  <a:srgbClr val="2E5A88"/>
                </a:solidFill>
                <a:latin typeface="Calibri"/>
              </a:rPr>
              <a:t>•   </a:t>
            </a:r>
            <a:r>
              <a:rPr sz="1700" b="0" i="0">
                <a:solidFill>
                  <a:srgbClr val="1F242E"/>
                </a:solidFill>
                <a:latin typeface="Calibri"/>
              </a:rPr>
              <a:t>A booklet is one student's answers for one assessment, so the same student appears three times — once per CIE.</a:t>
            </a:r>
          </a:p>
          <a:p>
            <a:pPr>
              <a:lnSpc>
                <a:spcPct val="112000"/>
              </a:lnSpc>
              <a:spcAft>
                <a:spcPts val="1100"/>
              </a:spcAft>
            </a:pPr>
            <a:r>
              <a:rPr sz="1700" b="0" i="0">
                <a:solidFill>
                  <a:srgbClr val="2E5A88"/>
                </a:solidFill>
                <a:latin typeface="Calibri"/>
              </a:rPr>
              <a:t>•   </a:t>
            </a:r>
            <a:r>
              <a:rPr sz="1700" b="0" i="0">
                <a:solidFill>
                  <a:srgbClr val="1F242E"/>
                </a:solidFill>
                <a:latin typeface="Calibri"/>
              </a:rPr>
              <a:t>Booklets vary from 6 to 12 pages. Handwriting varies from copperplate cursive to barely legible, which is the whole difficulty of the problem.</a:t>
            </a:r>
          </a:p>
          <a:p>
            <a:pPr>
              <a:lnSpc>
                <a:spcPct val="112000"/>
              </a:lnSpc>
              <a:spcAft>
                <a:spcPts val="1100"/>
              </a:spcAft>
            </a:pPr>
            <a:r>
              <a:rPr sz="1700" b="0" i="0">
                <a:solidFill>
                  <a:srgbClr val="2E5A88"/>
                </a:solidFill>
                <a:latin typeface="Calibri"/>
              </a:rPr>
              <a:t>•   </a:t>
            </a:r>
            <a:r>
              <a:rPr sz="1700" b="0" i="0">
                <a:solidFill>
                  <a:srgbClr val="1F242E"/>
                </a:solidFill>
                <a:latin typeface="Calibri"/>
              </a:rPr>
              <a:t>The pages were split into five batches for processing so that a dropped session never costs more than one batch of work.</a:t>
            </a:r>
          </a:p>
        </p:txBody>
      </p:sp>
      <p:sp>
        <p:nvSpPr>
          <p:cNvPr id="10" name="Rounded Rectangle 9"/>
          <p:cNvSpPr/>
          <p:nvPr/>
        </p:nvSpPr>
        <p:spPr>
          <a:xfrm>
            <a:off x="640080" y="4754880"/>
            <a:ext cx="10927080" cy="1280160"/>
          </a:xfrm>
          <a:prstGeom prst="roundRect">
            <a:avLst/>
          </a:prstGeom>
          <a:solidFill>
            <a:srgbClr val="FDF4F4"/>
          </a:solidFill>
          <a:ln>
            <a:solidFill>
              <a:srgbClr val="E8C6C6"/>
            </a:solidFill>
          </a:ln>
          <a:effectLst/>
        </p:spPr>
        <p:style>
          <a:lnRef idx="1">
            <a:schemeClr val="accent1"/>
          </a:lnRef>
          <a:fillRef idx="3">
            <a:schemeClr val="accent1"/>
          </a:fillRef>
          <a:effectRef idx="2">
            <a:schemeClr val="accent1"/>
          </a:effectRef>
          <a:fontRef idx="minor">
            <a:schemeClr val="lt1"/>
          </a:fontRef>
        </p:style>
        <p:txBody>
          <a:bodyPr rtlCol="0" anchor="ctr" lIns="256032" tIns="146304" wrap="square"/>
          <a:lstStyle/>
          <a:p>
            <a:pPr algn="ctr"/>
            <a:r>
              <a:rPr sz="1800" b="1" i="0">
                <a:solidFill>
                  <a:srgbClr val="9B2C2C"/>
                </a:solidFill>
                <a:latin typeface="Calibri"/>
              </a:rPr>
              <a:t>Page 1 of every booklet is never processed</a:t>
            </a:r>
          </a:p>
          <a:p>
            <a:pPr>
              <a:spcBef>
                <a:spcPts val="500"/>
              </a:spcBef>
            </a:pPr>
            <a:r>
              <a:rPr sz="1450" b="0" i="0">
                <a:solidFill>
                  <a:srgbClr val="1F242E"/>
                </a:solidFill>
                <a:latin typeface="Calibri"/>
              </a:rPr>
              <a:t>It carries the student's name, USN, signature and awarded marks. It is removed three separate times — when batches are packed, again when they are unpacked for reading, and again in the pipeline driver. One check would be enough if no stage were ever run on its own; they are, so there are three.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The process end to end</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5</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Four things happen to every page, in this order.</a:t>
            </a:r>
          </a:p>
        </p:txBody>
      </p:sp>
      <p:sp>
        <p:nvSpPr>
          <p:cNvPr id="6" name="Rounded Rectangle 5"/>
          <p:cNvSpPr/>
          <p:nvPr/>
        </p:nvSpPr>
        <p:spPr>
          <a:xfrm>
            <a:off x="640080" y="2103120"/>
            <a:ext cx="2468880" cy="1691640"/>
          </a:xfrm>
          <a:prstGeom prst="roundRect">
            <a:avLst>
              <a:gd name="adj" fmla="val 8000"/>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6E7582"/>
                </a:solidFill>
                <a:latin typeface="Calibri"/>
              </a:rPr>
              <a:t>1</a:t>
            </a:r>
          </a:p>
          <a:p>
            <a:pPr algn="ctr"/>
            <a:r>
              <a:rPr sz="1800" b="1" i="0">
                <a:solidFill>
                  <a:srgbClr val="1F242E"/>
                </a:solidFill>
                <a:latin typeface="Calibri"/>
              </a:rPr>
              <a:t>PREPARE</a:t>
            </a:r>
          </a:p>
          <a:p>
            <a:pPr algn="ctr">
              <a:spcBef>
                <a:spcPts val="400"/>
              </a:spcBef>
            </a:pPr>
            <a:r>
              <a:rPr sz="1250" b="0" i="0">
                <a:solidFill>
                  <a:srgbClr val="6E7582"/>
                </a:solidFill>
                <a:latin typeface="Calibri"/>
              </a:rPr>
              <a:t>Deskew, crop and
flatten the lighting</a:t>
            </a:r>
          </a:p>
        </p:txBody>
      </p:sp>
      <p:sp>
        <p:nvSpPr>
          <p:cNvPr id="7" name="Right Arrow 6"/>
          <p:cNvSpPr/>
          <p:nvPr/>
        </p:nvSpPr>
        <p:spPr>
          <a:xfrm>
            <a:off x="3182111" y="2834640"/>
            <a:ext cx="384048" cy="219456"/>
          </a:xfrm>
          <a:prstGeom prst="rightArrow">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566160" y="2103120"/>
            <a:ext cx="2468880" cy="1691640"/>
          </a:xfrm>
          <a:prstGeom prst="roundRect">
            <a:avLst>
              <a:gd name="adj" fmla="val 8000"/>
            </a:avLst>
          </a:prstGeom>
          <a:solidFill>
            <a:srgbClr val="2E5A88"/>
          </a:solidFill>
          <a:ln>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C8D8EC"/>
                </a:solidFill>
                <a:latin typeface="Calibri"/>
              </a:rPr>
              <a:t>2</a:t>
            </a:r>
          </a:p>
          <a:p>
            <a:pPr algn="ctr"/>
            <a:r>
              <a:rPr sz="1800" b="1" i="0">
                <a:solidFill>
                  <a:srgbClr val="FFFFFF"/>
                </a:solidFill>
                <a:latin typeface="Calibri"/>
              </a:rPr>
              <a:t>READ</a:t>
            </a:r>
          </a:p>
          <a:p>
            <a:pPr algn="ctr">
              <a:spcBef>
                <a:spcPts val="400"/>
              </a:spcBef>
            </a:pPr>
            <a:r>
              <a:rPr sz="1250" b="0" i="0">
                <a:solidFill>
                  <a:srgbClr val="C8D8EC"/>
                </a:solidFill>
                <a:latin typeface="Calibri"/>
              </a:rPr>
              <a:t>A vision-language model
writes Markdown</a:t>
            </a:r>
          </a:p>
        </p:txBody>
      </p:sp>
      <p:sp>
        <p:nvSpPr>
          <p:cNvPr id="9" name="Right Arrow 8"/>
          <p:cNvSpPr/>
          <p:nvPr/>
        </p:nvSpPr>
        <p:spPr>
          <a:xfrm>
            <a:off x="6108192" y="2834640"/>
            <a:ext cx="384048" cy="219456"/>
          </a:xfrm>
          <a:prstGeom prst="rightArrow">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2103120"/>
            <a:ext cx="2468880" cy="1691640"/>
          </a:xfrm>
          <a:prstGeom prst="roundRect">
            <a:avLst>
              <a:gd name="adj" fmla="val 8000"/>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6E7582"/>
                </a:solidFill>
                <a:latin typeface="Calibri"/>
              </a:rPr>
              <a:t>3</a:t>
            </a:r>
          </a:p>
          <a:p>
            <a:pPr algn="ctr"/>
            <a:r>
              <a:rPr sz="1800" b="1" i="0">
                <a:solidFill>
                  <a:srgbClr val="1F242E"/>
                </a:solidFill>
                <a:latin typeface="Calibri"/>
              </a:rPr>
              <a:t>ASSEMBLE</a:t>
            </a:r>
          </a:p>
          <a:p>
            <a:pPr algn="ctr">
              <a:spcBef>
                <a:spcPts val="400"/>
              </a:spcBef>
            </a:pPr>
            <a:r>
              <a:rPr sz="1250" b="0" i="0">
                <a:solidFill>
                  <a:srgbClr val="6E7582"/>
                </a:solidFill>
                <a:latin typeface="Calibri"/>
              </a:rPr>
              <a:t>Group pages by question,
crop the diagrams</a:t>
            </a:r>
          </a:p>
        </p:txBody>
      </p:sp>
      <p:sp>
        <p:nvSpPr>
          <p:cNvPr id="11" name="Right Arrow 10"/>
          <p:cNvSpPr/>
          <p:nvPr/>
        </p:nvSpPr>
        <p:spPr>
          <a:xfrm>
            <a:off x="9034272" y="2834640"/>
            <a:ext cx="384048" cy="219456"/>
          </a:xfrm>
          <a:prstGeom prst="rightArrow">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418320" y="2103120"/>
            <a:ext cx="2468880" cy="1691640"/>
          </a:xfrm>
          <a:prstGeom prst="roundRect">
            <a:avLst>
              <a:gd name="adj" fmla="val 8000"/>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6E7582"/>
                </a:solidFill>
                <a:latin typeface="Calibri"/>
              </a:rPr>
              <a:t>4</a:t>
            </a:r>
          </a:p>
          <a:p>
            <a:pPr algn="ctr"/>
            <a:r>
              <a:rPr sz="1800" b="1" i="0">
                <a:solidFill>
                  <a:srgbClr val="1F242E"/>
                </a:solidFill>
                <a:latin typeface="Calibri"/>
              </a:rPr>
              <a:t>BOOKLET</a:t>
            </a:r>
          </a:p>
          <a:p>
            <a:pPr algn="ctr">
              <a:spcBef>
                <a:spcPts val="400"/>
              </a:spcBef>
            </a:pPr>
            <a:r>
              <a:rPr sz="1250" b="0" i="0">
                <a:solidFill>
                  <a:srgbClr val="6E7582"/>
                </a:solidFill>
                <a:latin typeface="Calibri"/>
              </a:rPr>
              <a:t>One Markdown file
per booklet</a:t>
            </a:r>
          </a:p>
        </p:txBody>
      </p:sp>
      <p:sp>
        <p:nvSpPr>
          <p:cNvPr id="13" name="TextBox 12"/>
          <p:cNvSpPr txBox="1"/>
          <p:nvPr/>
        </p:nvSpPr>
        <p:spPr>
          <a:xfrm>
            <a:off x="640080" y="4023360"/>
            <a:ext cx="10972800" cy="365760"/>
          </a:xfrm>
          <a:prstGeom prst="rect">
            <a:avLst/>
          </a:prstGeom>
          <a:noFill/>
        </p:spPr>
        <p:txBody>
          <a:bodyPr wrap="square" lIns="0" rIns="0" tIns="0" bIns="0">
            <a:spAutoFit/>
          </a:bodyPr>
          <a:lstStyle/>
          <a:p>
            <a:pPr algn="l"/>
            <a:r>
              <a:rPr sz="1700" b="1" i="0">
                <a:solidFill>
                  <a:srgbClr val="2E5A88"/>
                </a:solidFill>
                <a:latin typeface="Calibri"/>
              </a:rPr>
              <a:t>Only step 2 needs a GPU.</a:t>
            </a:r>
            <a:r>
              <a:rPr sz="1700" b="0" i="0">
                <a:solidFill>
                  <a:srgbClr val="1F242E"/>
                </a:solidFill>
                <a:latin typeface="Calibri"/>
              </a:rPr>
              <a:t>  Steps 1, 3 and 4 are image processing and text handling, and run on an ordinary laptop in seconds per booklet.</a:t>
            </a:r>
          </a:p>
        </p:txBody>
      </p:sp>
      <p:sp>
        <p:nvSpPr>
          <p:cNvPr id="14" name="TextBox 13"/>
          <p:cNvSpPr txBox="1"/>
          <p:nvPr/>
        </p:nvSpPr>
        <p:spPr>
          <a:xfrm>
            <a:off x="640080" y="4526280"/>
            <a:ext cx="10972800" cy="2103120"/>
          </a:xfrm>
          <a:prstGeom prst="rect">
            <a:avLst/>
          </a:prstGeom>
          <a:noFill/>
        </p:spPr>
        <p:txBody>
          <a:bodyPr wrap="square" lIns="0" rIns="0" tIns="0" bIns="0">
            <a:spAutoFit/>
          </a:bodyPr>
          <a:lstStyle/>
          <a:p>
            <a:pPr algn="l">
              <a:lnSpc>
                <a:spcPct val="112000"/>
              </a:lnSpc>
              <a:spcAft>
                <a:spcPts val="900"/>
              </a:spcAft>
            </a:pPr>
            <a:r>
              <a:rPr sz="1650" b="0" i="0">
                <a:solidFill>
                  <a:srgbClr val="2E5A88"/>
                </a:solidFill>
                <a:latin typeface="Calibri"/>
              </a:rPr>
              <a:t>•   </a:t>
            </a:r>
            <a:r>
              <a:rPr sz="1650" b="0" i="0">
                <a:solidFill>
                  <a:srgbClr val="1F242E"/>
                </a:solidFill>
                <a:latin typeface="Calibri"/>
              </a:rPr>
              <a:t>Each step writes its output to disk before the next one begins, so any step can be re-run alone and inspected.</a:t>
            </a:r>
          </a:p>
          <a:p>
            <a:pPr>
              <a:lnSpc>
                <a:spcPct val="112000"/>
              </a:lnSpc>
              <a:spcAft>
                <a:spcPts val="900"/>
              </a:spcAft>
            </a:pPr>
            <a:r>
              <a:rPr sz="1650" b="0" i="0">
                <a:solidFill>
                  <a:srgbClr val="2E5A88"/>
                </a:solidFill>
                <a:latin typeface="Calibri"/>
              </a:rPr>
              <a:t>•   </a:t>
            </a:r>
            <a:r>
              <a:rPr sz="1650" b="0" i="0">
                <a:solidFill>
                  <a:srgbClr val="1F242E"/>
                </a:solidFill>
                <a:latin typeface="Calibri"/>
              </a:rPr>
              <a:t>That also means a failure is contained: if reading goes wrong on one page, preparation does not have to be repeated.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1 — Preparing the page</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6</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Three corrections, all geometric or photometric. No text is read here.</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300"/>
              </a:spcAft>
            </a:pPr>
            <a:r>
              <a:rPr sz="1700" b="0" i="0">
                <a:solidFill>
                  <a:srgbClr val="2E5A88"/>
                </a:solidFill>
                <a:latin typeface="Calibri"/>
              </a:rPr>
              <a:t>•   </a:t>
            </a:r>
            <a:r>
              <a:rPr sz="1700" b="1" i="0">
                <a:solidFill>
                  <a:srgbClr val="1F242E"/>
                </a:solidFill>
                <a:latin typeface="Calibri"/>
              </a:rPr>
              <a:t>Deskew.</a:t>
            </a:r>
            <a:r>
              <a:rPr sz="1700" b="0" i="0">
                <a:solidFill>
                  <a:srgbClr val="1F242E"/>
                </a:solidFill>
                <a:latin typeface="Calibri"/>
              </a:rPr>
              <a:t> The printed rules on the paper are straight lines of known orientation. Detecting them gives the angle the page was photographed at, and the page is rotated back by that angle.</a:t>
            </a:r>
          </a:p>
          <a:p>
            <a:pPr>
              <a:lnSpc>
                <a:spcPct val="112000"/>
              </a:lnSpc>
              <a:spcAft>
                <a:spcPts val="1300"/>
              </a:spcAft>
            </a:pPr>
            <a:r>
              <a:rPr sz="1700" b="0" i="0">
                <a:solidFill>
                  <a:srgbClr val="2E5A88"/>
                </a:solidFill>
                <a:latin typeface="Calibri"/>
              </a:rPr>
              <a:t>•   </a:t>
            </a:r>
            <a:r>
              <a:rPr sz="1700" b="1" i="0">
                <a:solidFill>
                  <a:srgbClr val="1F242E"/>
                </a:solidFill>
                <a:latin typeface="Calibri"/>
              </a:rPr>
              <a:t>Crop.</a:t>
            </a:r>
            <a:r>
              <a:rPr sz="1700" b="0" i="0">
                <a:solidFill>
                  <a:srgbClr val="1F242E"/>
                </a:solidFill>
                <a:latin typeface="Calibri"/>
              </a:rPr>
              <a:t> The paper edge is detected and every page is cut to the same frame, so a page is always 1598 × 2177 pixels. Later stages measure distances in pixels, and that only means something if the scale is fixed.</a:t>
            </a:r>
          </a:p>
          <a:p>
            <a:pPr>
              <a:lnSpc>
                <a:spcPct val="112000"/>
              </a:lnSpc>
              <a:spcAft>
                <a:spcPts val="1300"/>
              </a:spcAft>
            </a:pPr>
            <a:r>
              <a:rPr sz="1700" b="0" i="0">
                <a:solidFill>
                  <a:srgbClr val="2E5A88"/>
                </a:solidFill>
                <a:latin typeface="Calibri"/>
              </a:rPr>
              <a:t>•   </a:t>
            </a:r>
            <a:r>
              <a:rPr sz="1700" b="1" i="0">
                <a:solidFill>
                  <a:srgbClr val="1F242E"/>
                </a:solidFill>
                <a:latin typeface="Calibri"/>
              </a:rPr>
              <a:t>Flatten the lighting.</a:t>
            </a:r>
            <a:r>
              <a:rPr sz="1700" b="0" i="0">
                <a:solidFill>
                  <a:srgbClr val="1F242E"/>
                </a:solidFill>
                <a:latin typeface="Calibri"/>
              </a:rPr>
              <a:t> A phone photograph is brighter in the middle than at the edges, and ink from the reverse side shows through. Dividing the page by an estimate of its own background removes both.</a:t>
            </a:r>
          </a:p>
        </p:txBody>
      </p:sp>
      <p:sp>
        <p:nvSpPr>
          <p:cNvPr id="7" name="Rounded Rectangle 6"/>
          <p:cNvSpPr/>
          <p:nvPr/>
        </p:nvSpPr>
        <p:spPr>
          <a:xfrm>
            <a:off x="640080" y="5029200"/>
            <a:ext cx="10927080" cy="1234440"/>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400" b="0" i="0">
                <a:solidFill>
                  <a:srgbClr val="1F242E"/>
                </a:solidFill>
                <a:latin typeface="Consolas"/>
              </a:rPr>
              <a:t>rotate  -&gt;  crop to detected paper edge  -&gt;  divide by local background</a:t>
            </a:r>
          </a:p>
          <a:p>
            <a:pPr>
              <a:spcAft>
                <a:spcPts val="100"/>
              </a:spcAft>
            </a:pPr>
            <a:r>
              <a:rPr sz="1400" b="0" i="0">
                <a:solidFill>
                  <a:srgbClr val="1F242E"/>
                </a:solidFill>
                <a:latin typeface="Consolas"/>
              </a:rPr>
              <a:t> </a:t>
            </a:r>
          </a:p>
          <a:p>
            <a:pPr>
              <a:spcAft>
                <a:spcPts val="100"/>
              </a:spcAft>
            </a:pPr>
            <a:r>
              <a:rPr sz="1400" b="0" i="0">
                <a:solidFill>
                  <a:srgbClr val="1F242E"/>
                </a:solidFill>
                <a:latin typeface="Consolas"/>
              </a:rPr>
              <a:t>1700 x 2338 colour           ==&gt;          1598 x 2177 greyscale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1 — Before and after</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7</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The same page as scanned, and as the reading model receives it.</a:t>
            </a:r>
          </a:p>
        </p:txBody>
      </p:sp>
      <p:pic>
        <p:nvPicPr>
          <p:cNvPr id="6" name="Picture 5" descr="raw_s06.png"/>
          <p:cNvPicPr>
            <a:picLocks noChangeAspect="1"/>
          </p:cNvPicPr>
          <p:nvPr/>
        </p:nvPicPr>
        <p:blipFill>
          <a:blip r:embed="rId2"/>
          <a:stretch>
            <a:fillRect/>
          </a:stretch>
        </p:blipFill>
        <p:spPr>
          <a:xfrm>
            <a:off x="1417320" y="1847088"/>
            <a:ext cx="2931254" cy="4023360"/>
          </a:xfrm>
          <a:prstGeom prst="rect">
            <a:avLst/>
          </a:prstGeom>
        </p:spPr>
      </p:pic>
      <p:pic>
        <p:nvPicPr>
          <p:cNvPr id="7" name="Picture 6" descr="prep_s06.png"/>
          <p:cNvPicPr>
            <a:picLocks noChangeAspect="1"/>
          </p:cNvPicPr>
          <p:nvPr/>
        </p:nvPicPr>
        <p:blipFill>
          <a:blip r:embed="rId3"/>
          <a:stretch>
            <a:fillRect/>
          </a:stretch>
        </p:blipFill>
        <p:spPr>
          <a:xfrm>
            <a:off x="6720840" y="1847088"/>
            <a:ext cx="2957403" cy="4023360"/>
          </a:xfrm>
          <a:prstGeom prst="rect">
            <a:avLst/>
          </a:prstGeom>
        </p:spPr>
      </p:pic>
      <p:sp>
        <p:nvSpPr>
          <p:cNvPr id="8" name="TextBox 7"/>
          <p:cNvSpPr txBox="1"/>
          <p:nvPr/>
        </p:nvSpPr>
        <p:spPr>
          <a:xfrm>
            <a:off x="1417320" y="5961888"/>
            <a:ext cx="4754880" cy="292608"/>
          </a:xfrm>
          <a:prstGeom prst="rect">
            <a:avLst/>
          </a:prstGeom>
          <a:noFill/>
        </p:spPr>
        <p:txBody>
          <a:bodyPr wrap="square" lIns="0" rIns="0" tIns="0" bIns="0">
            <a:spAutoFit/>
          </a:bodyPr>
          <a:lstStyle/>
          <a:p>
            <a:pPr algn="l"/>
            <a:r>
              <a:rPr sz="1200" b="0" i="1">
                <a:solidFill>
                  <a:srgbClr val="9B2C2C"/>
                </a:solidFill>
                <a:latin typeface="Calibri"/>
              </a:rPr>
              <a:t>RAW SCAN  ·  colour, skewed, page border, bleed-through visible</a:t>
            </a:r>
          </a:p>
        </p:txBody>
      </p:sp>
      <p:sp>
        <p:nvSpPr>
          <p:cNvPr id="9" name="TextBox 8"/>
          <p:cNvSpPr txBox="1"/>
          <p:nvPr/>
        </p:nvSpPr>
        <p:spPr>
          <a:xfrm>
            <a:off x="6720840" y="5961888"/>
            <a:ext cx="4754880" cy="292608"/>
          </a:xfrm>
          <a:prstGeom prst="rect">
            <a:avLst/>
          </a:prstGeom>
          <a:noFill/>
        </p:spPr>
        <p:txBody>
          <a:bodyPr wrap="square" lIns="0" rIns="0" tIns="0" bIns="0">
            <a:spAutoFit/>
          </a:bodyPr>
          <a:lstStyle/>
          <a:p>
            <a:pPr algn="l"/>
            <a:r>
              <a:rPr sz="1200" b="0" i="1">
                <a:solidFill>
                  <a:srgbClr val="2D6A4F"/>
                </a:solidFill>
                <a:latin typeface="Calibri"/>
              </a:rPr>
              <a:t>PREPARED  ·  greyscale, square, cropped, even lighting</a:t>
            </a:r>
          </a:p>
        </p:txBody>
      </p:sp>
      <p:sp>
        <p:nvSpPr>
          <p:cNvPr id="10" name="TextBox 9"/>
          <p:cNvSpPr txBox="1"/>
          <p:nvPr/>
        </p:nvSpPr>
        <p:spPr>
          <a:xfrm>
            <a:off x="640080" y="6327648"/>
            <a:ext cx="10927080" cy="457200"/>
          </a:xfrm>
          <a:prstGeom prst="rect">
            <a:avLst/>
          </a:prstGeom>
          <a:noFill/>
        </p:spPr>
        <p:txBody>
          <a:bodyPr wrap="square" lIns="0" rIns="0" tIns="0" bIns="0">
            <a:spAutoFit/>
          </a:bodyPr>
          <a:lstStyle/>
          <a:p>
            <a:pPr algn="l"/>
            <a:r>
              <a:rPr sz="1500" b="1" i="0">
                <a:solidFill>
                  <a:srgbClr val="1F242E"/>
                </a:solidFill>
                <a:latin typeface="Calibri"/>
              </a:rPr>
              <a:t>The ink is untouched. </a:t>
            </a:r>
            <a:r>
              <a:rPr sz="1500" b="0" i="0">
                <a:solidFill>
                  <a:srgbClr val="6E7582"/>
                </a:solidFill>
                <a:latin typeface="Calibri"/>
              </a:rPr>
              <a:t>Nothing is sharpened, thickened or thresholded — the page is only straightened, framed and evenly 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Why the page stays grey</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8</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The obvious next step is to turn it black and white. We do not.</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300"/>
              </a:spcAft>
            </a:pPr>
            <a:r>
              <a:rPr sz="1750" b="0" i="0">
                <a:solidFill>
                  <a:srgbClr val="2E5A88"/>
                </a:solidFill>
                <a:latin typeface="Calibri"/>
              </a:rPr>
              <a:t>•   </a:t>
            </a:r>
            <a:r>
              <a:rPr sz="1750" b="0" i="0">
                <a:solidFill>
                  <a:srgbClr val="1F242E"/>
                </a:solidFill>
                <a:latin typeface="Calibri"/>
              </a:rPr>
              <a:t>Binarising forces every pixel to ink or paper. Pencil, faint ballpoint and the thin end of a stroke all sit near the threshold, so a small change in lighting decides whether a letter survives.</a:t>
            </a:r>
          </a:p>
          <a:p>
            <a:pPr>
              <a:lnSpc>
                <a:spcPct val="112000"/>
              </a:lnSpc>
              <a:spcAft>
                <a:spcPts val="1300"/>
              </a:spcAft>
            </a:pPr>
            <a:r>
              <a:rPr sz="1750" b="0" i="0">
                <a:solidFill>
                  <a:srgbClr val="2E5A88"/>
                </a:solidFill>
                <a:latin typeface="Calibri"/>
              </a:rPr>
              <a:t>•   </a:t>
            </a:r>
            <a:r>
              <a:rPr sz="1750" b="0" i="0">
                <a:solidFill>
                  <a:srgbClr val="1F242E"/>
                </a:solidFill>
                <a:latin typeface="Calibri"/>
              </a:rPr>
              <a:t>Greyscale keeps that information and lets the model weigh it. A half-tone stroke stays a half-tone stroke rather than becoming a coin toss.</a:t>
            </a:r>
          </a:p>
          <a:p>
            <a:pPr>
              <a:lnSpc>
                <a:spcPct val="112000"/>
              </a:lnSpc>
              <a:spcAft>
                <a:spcPts val="1300"/>
              </a:spcAft>
            </a:pPr>
            <a:r>
              <a:rPr sz="1750" b="0" i="0">
                <a:solidFill>
                  <a:srgbClr val="2E5A88"/>
                </a:solidFill>
                <a:latin typeface="Calibri"/>
              </a:rPr>
              <a:t>•   </a:t>
            </a:r>
            <a:r>
              <a:rPr sz="1750" b="0" i="0">
                <a:solidFill>
                  <a:srgbClr val="1F242E"/>
                </a:solidFill>
                <a:latin typeface="Calibri"/>
              </a:rPr>
              <a:t>The measurable consequence: the faint diagonal strokes in hand-drawn figures survive, and those are exactly the strokes a diagram is made of.</a:t>
            </a:r>
          </a:p>
        </p:txBody>
      </p:sp>
      <p:sp>
        <p:nvSpPr>
          <p:cNvPr id="7" name="Rounded Rectangle 6"/>
          <p:cNvSpPr/>
          <p:nvPr/>
        </p:nvSpPr>
        <p:spPr>
          <a:xfrm>
            <a:off x="640080" y="4892040"/>
            <a:ext cx="10927080" cy="1051560"/>
          </a:xfrm>
          <a:prstGeom prst="roundRect">
            <a:avLst/>
          </a:prstGeom>
          <a:solidFill>
            <a:srgbClr val="F3F5F8"/>
          </a:solidFill>
          <a:ln>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lIns="256032" tIns="182880" wrap="square"/>
          <a:lstStyle/>
          <a:p>
            <a:pPr algn="ctr"/>
            <a:r>
              <a:rPr sz="1600" b="1" i="0">
                <a:solidFill>
                  <a:srgbClr val="2E5A88"/>
                </a:solidFill>
                <a:latin typeface="Calibri"/>
              </a:rPr>
              <a:t>General principle we followed throughout: </a:t>
            </a:r>
            <a:r>
              <a:rPr sz="1600" b="0" i="0">
                <a:solidFill>
                  <a:srgbClr val="1F242E"/>
                </a:solidFill>
                <a:latin typeface="Calibri"/>
              </a:rPr>
              <a:t>never destroy information early to make a later step simpler. The later step can always be made smarter; the discarded pixels cannot be recovered.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2 — Reading the page</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9</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 vision-language model reads the whole page at once and writes Markdown.</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200"/>
              </a:spcAft>
            </a:pPr>
            <a:r>
              <a:rPr sz="1700" b="0" i="0">
                <a:solidFill>
                  <a:srgbClr val="2E5A88"/>
                </a:solidFill>
                <a:latin typeface="Calibri"/>
              </a:rPr>
              <a:t>•   </a:t>
            </a:r>
            <a:r>
              <a:rPr sz="1700" b="0" i="0">
                <a:solidFill>
                  <a:srgbClr val="1F242E"/>
                </a:solidFill>
                <a:latin typeface="Calibri"/>
              </a:rPr>
              <a:t>The model is given the </a:t>
            </a:r>
            <a:r>
              <a:rPr sz="1700" b="1" i="0">
                <a:solidFill>
                  <a:srgbClr val="1F242E"/>
                </a:solidFill>
                <a:latin typeface="Calibri"/>
              </a:rPr>
              <a:t>entire prepared page as an image</a:t>
            </a:r>
            <a:r>
              <a:rPr sz="1700" b="0" i="0">
                <a:solidFill>
                  <a:srgbClr val="1F242E"/>
                </a:solidFill>
                <a:latin typeface="Calibri"/>
              </a:rPr>
              <a:t> and asked to write out what is on it. It is not shown individual lines or words.</a:t>
            </a:r>
          </a:p>
          <a:p>
            <a:pPr>
              <a:lnSpc>
                <a:spcPct val="112000"/>
              </a:lnSpc>
              <a:spcAft>
                <a:spcPts val="1200"/>
              </a:spcAft>
            </a:pPr>
            <a:r>
              <a:rPr sz="1700" b="0" i="0">
                <a:solidFill>
                  <a:srgbClr val="2E5A88"/>
                </a:solidFill>
                <a:latin typeface="Calibri"/>
              </a:rPr>
              <a:t>•   </a:t>
            </a:r>
            <a:r>
              <a:rPr sz="1700" b="0" i="0">
                <a:solidFill>
                  <a:srgbClr val="1F242E"/>
                </a:solidFill>
                <a:latin typeface="Calibri"/>
              </a:rPr>
              <a:t>Context is the reason. A recogniser shown one cropped line cannot tell a question number from a stray digit. A model that can see the whole page knows </a:t>
            </a:r>
            <a:r>
              <a:rPr sz="1700" b="1" i="0">
                <a:solidFill>
                  <a:srgbClr val="1F242E"/>
                </a:solidFill>
                <a:latin typeface="Calibri"/>
              </a:rPr>
              <a:t>“2b)” is a question number because of where it sits and what follows it</a:t>
            </a:r>
            <a:r>
              <a:rPr sz="1700" b="0" i="0">
                <a:solidFill>
                  <a:srgbClr val="1F242E"/>
                </a:solidFill>
                <a:latin typeface="Calibri"/>
              </a:rPr>
              <a:t>.</a:t>
            </a:r>
          </a:p>
          <a:p>
            <a:pPr>
              <a:lnSpc>
                <a:spcPct val="112000"/>
              </a:lnSpc>
              <a:spcAft>
                <a:spcPts val="1200"/>
              </a:spcAft>
            </a:pPr>
            <a:r>
              <a:rPr sz="1700" b="0" i="0">
                <a:solidFill>
                  <a:srgbClr val="2E5A88"/>
                </a:solidFill>
                <a:latin typeface="Calibri"/>
              </a:rPr>
              <a:t>•   </a:t>
            </a:r>
            <a:r>
              <a:rPr sz="1700" b="0" i="0">
                <a:solidFill>
                  <a:srgbClr val="1F242E"/>
                </a:solidFill>
                <a:latin typeface="Calibri"/>
              </a:rPr>
              <a:t>It runs quantised, so it fits on a free cloud GPU, and it is used </a:t>
            </a:r>
            <a:r>
              <a:rPr sz="1700" b="1" i="0">
                <a:solidFill>
                  <a:srgbClr val="1F242E"/>
                </a:solidFill>
                <a:latin typeface="Calibri"/>
              </a:rPr>
              <a:t>exactly as published — no fine-tuning, no labelled examples</a:t>
            </a:r>
            <a:r>
              <a:rPr sz="1700" b="0" i="0">
                <a:solidFill>
                  <a:srgbClr val="1F242E"/>
                </a:solidFill>
                <a:latin typeface="Calibri"/>
              </a:rPr>
              <a:t>.</a:t>
            </a:r>
          </a:p>
          <a:p>
            <a:pPr>
              <a:lnSpc>
                <a:spcPct val="112000"/>
              </a:lnSpc>
              <a:spcAft>
                <a:spcPts val="1200"/>
              </a:spcAft>
            </a:pPr>
            <a:r>
              <a:rPr sz="1700" b="0" i="0">
                <a:solidFill>
                  <a:srgbClr val="2E5A88"/>
                </a:solidFill>
                <a:latin typeface="Calibri"/>
              </a:rPr>
              <a:t>•   </a:t>
            </a:r>
            <a:r>
              <a:rPr sz="1700" b="0" i="0">
                <a:solidFill>
                  <a:srgbClr val="1F242E"/>
                </a:solidFill>
                <a:latin typeface="Calibri"/>
              </a:rPr>
              <a:t>Output is Markdown, not plain text, so the structure the student put on the page survives into the file.</a:t>
            </a:r>
          </a:p>
        </p:txBody>
      </p:sp>
      <p:sp>
        <p:nvSpPr>
          <p:cNvPr id="7" name="Rounded Rectangle 6"/>
          <p:cNvSpPr/>
          <p:nvPr/>
        </p:nvSpPr>
        <p:spPr>
          <a:xfrm>
            <a:off x="640080" y="5120640"/>
            <a:ext cx="6949440" cy="1143000"/>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300" b="0" i="0">
                <a:solidFill>
                  <a:srgbClr val="1F242E"/>
                </a:solidFill>
                <a:latin typeface="Consolas"/>
              </a:rPr>
              <a:t>for each page:</a:t>
            </a:r>
          </a:p>
          <a:p>
            <a:pPr>
              <a:spcAft>
                <a:spcPts val="100"/>
              </a:spcAft>
            </a:pPr>
            <a:r>
              <a:rPr sz="1300" b="0" i="0">
                <a:solidFill>
                  <a:srgbClr val="1F242E"/>
                </a:solidFill>
                <a:latin typeface="Consolas"/>
              </a:rPr>
              <a:t>    show the model the image + a fixed instruction</a:t>
            </a:r>
          </a:p>
          <a:p>
            <a:pPr>
              <a:spcAft>
                <a:spcPts val="100"/>
              </a:spcAft>
            </a:pPr>
            <a:r>
              <a:rPr sz="1300" b="0" i="0">
                <a:solidFill>
                  <a:srgbClr val="1F242E"/>
                </a:solidFill>
                <a:latin typeface="Consolas"/>
              </a:rPr>
              <a:t>    it returns Markdown  -&gt;  saved as s19_c1_p08.md</a:t>
            </a:r>
          </a:p>
        </p:txBody>
      </p:sp>
      <p:sp>
        <p:nvSpPr>
          <p:cNvPr id="8" name="Rounded Rectangle 7"/>
          <p:cNvSpPr/>
          <p:nvPr/>
        </p:nvSpPr>
        <p:spPr>
          <a:xfrm>
            <a:off x="7909560" y="5120640"/>
            <a:ext cx="3657600" cy="1143000"/>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1 page  →  1 Markdown file</a:t>
            </a:r>
          </a:p>
          <a:p>
            <a:pPr algn="ctr"/>
            <a:r>
              <a:rPr sz="1300" b="0" i="0">
                <a:solidFill>
                  <a:srgbClr val="C8D8EC"/>
                </a:solidFill>
                <a:latin typeface="Calibri"/>
              </a:rPr>
              <a:t>reading is independent per page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What the model is asked to produce</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10</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 fixed set of conventions, so that every page comes back in the same shape.</a:t>
            </a:r>
          </a:p>
        </p:txBody>
      </p:sp>
      <p:sp>
        <p:nvSpPr>
          <p:cNvPr id="6" name="Rectangle 5"/>
          <p:cNvSpPr/>
          <p:nvPr/>
        </p:nvSpPr>
        <p:spPr>
          <a:xfrm>
            <a:off x="640080" y="1874519"/>
            <a:ext cx="10927080" cy="566928"/>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20824"/>
            <a:ext cx="2743200" cy="365760"/>
          </a:xfrm>
          <a:prstGeom prst="rect">
            <a:avLst/>
          </a:prstGeom>
          <a:noFill/>
        </p:spPr>
        <p:txBody>
          <a:bodyPr wrap="square" lIns="0" rIns="0" tIns="0" bIns="0">
            <a:spAutoFit/>
          </a:bodyPr>
          <a:lstStyle/>
          <a:p>
            <a:pPr algn="l"/>
            <a:r>
              <a:rPr sz="1500" b="1" i="0">
                <a:solidFill>
                  <a:srgbClr val="1F242E"/>
                </a:solidFill>
                <a:latin typeface="Calibri"/>
              </a:rPr>
              <a:t>Question numbers</a:t>
            </a:r>
          </a:p>
        </p:txBody>
      </p:sp>
      <p:sp>
        <p:nvSpPr>
          <p:cNvPr id="8" name="TextBox 7"/>
          <p:cNvSpPr txBox="1"/>
          <p:nvPr/>
        </p:nvSpPr>
        <p:spPr>
          <a:xfrm>
            <a:off x="3611880" y="2020824"/>
            <a:ext cx="3291840" cy="365760"/>
          </a:xfrm>
          <a:prstGeom prst="rect">
            <a:avLst/>
          </a:prstGeom>
          <a:noFill/>
        </p:spPr>
        <p:txBody>
          <a:bodyPr wrap="square" lIns="0" rIns="0" tIns="0" bIns="0">
            <a:spAutoFit/>
          </a:bodyPr>
          <a:lstStyle/>
          <a:p>
            <a:pPr algn="l"/>
            <a:r>
              <a:rPr sz="1450" b="0" i="0">
                <a:solidFill>
                  <a:srgbClr val="6E7582"/>
                </a:solidFill>
                <a:latin typeface="Calibri"/>
              </a:rPr>
              <a:t>become Markdown headings</a:t>
            </a:r>
          </a:p>
        </p:txBody>
      </p:sp>
      <p:sp>
        <p:nvSpPr>
          <p:cNvPr id="9" name="TextBox 8"/>
          <p:cNvSpPr txBox="1"/>
          <p:nvPr/>
        </p:nvSpPr>
        <p:spPr>
          <a:xfrm>
            <a:off x="7086600" y="2002536"/>
            <a:ext cx="4297680" cy="365760"/>
          </a:xfrm>
          <a:prstGeom prst="rect">
            <a:avLst/>
          </a:prstGeom>
          <a:noFill/>
        </p:spPr>
        <p:txBody>
          <a:bodyPr wrap="square" lIns="0" rIns="0" tIns="0" bIns="0">
            <a:spAutoFit/>
          </a:bodyPr>
          <a:lstStyle/>
          <a:p>
            <a:pPr algn="l"/>
            <a:r>
              <a:rPr sz="1350" b="0" i="0">
                <a:solidFill>
                  <a:srgbClr val="2E5A88"/>
                </a:solidFill>
                <a:latin typeface="Consolas"/>
              </a:rPr>
              <a:t>### 2b)</a:t>
            </a:r>
          </a:p>
        </p:txBody>
      </p:sp>
      <p:sp>
        <p:nvSpPr>
          <p:cNvPr id="10" name="Rectangle 9"/>
          <p:cNvSpPr/>
          <p:nvPr/>
        </p:nvSpPr>
        <p:spPr>
          <a:xfrm>
            <a:off x="640080" y="2441448"/>
            <a:ext cx="10927080" cy="566928"/>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587752"/>
            <a:ext cx="2743200" cy="365760"/>
          </a:xfrm>
          <a:prstGeom prst="rect">
            <a:avLst/>
          </a:prstGeom>
          <a:noFill/>
        </p:spPr>
        <p:txBody>
          <a:bodyPr wrap="square" lIns="0" rIns="0" tIns="0" bIns="0">
            <a:spAutoFit/>
          </a:bodyPr>
          <a:lstStyle/>
          <a:p>
            <a:pPr algn="l"/>
            <a:r>
              <a:rPr sz="1500" b="1" i="0">
                <a:solidFill>
                  <a:srgbClr val="1F242E"/>
                </a:solidFill>
                <a:latin typeface="Calibri"/>
              </a:rPr>
              <a:t>Ordinary writing</a:t>
            </a:r>
          </a:p>
        </p:txBody>
      </p:sp>
      <p:sp>
        <p:nvSpPr>
          <p:cNvPr id="12" name="TextBox 11"/>
          <p:cNvSpPr txBox="1"/>
          <p:nvPr/>
        </p:nvSpPr>
        <p:spPr>
          <a:xfrm>
            <a:off x="3611880" y="2587752"/>
            <a:ext cx="3291840" cy="365760"/>
          </a:xfrm>
          <a:prstGeom prst="rect">
            <a:avLst/>
          </a:prstGeom>
          <a:noFill/>
        </p:spPr>
        <p:txBody>
          <a:bodyPr wrap="square" lIns="0" rIns="0" tIns="0" bIns="0">
            <a:spAutoFit/>
          </a:bodyPr>
          <a:lstStyle/>
          <a:p>
            <a:pPr algn="l"/>
            <a:r>
              <a:rPr sz="1450" b="0" i="0">
                <a:solidFill>
                  <a:srgbClr val="6E7582"/>
                </a:solidFill>
                <a:latin typeface="Calibri"/>
              </a:rPr>
              <a:t>becomes plain paragraphs</a:t>
            </a:r>
          </a:p>
        </p:txBody>
      </p:sp>
      <p:sp>
        <p:nvSpPr>
          <p:cNvPr id="13" name="TextBox 12"/>
          <p:cNvSpPr txBox="1"/>
          <p:nvPr/>
        </p:nvSpPr>
        <p:spPr>
          <a:xfrm>
            <a:off x="7086600" y="2569464"/>
            <a:ext cx="4297680" cy="365760"/>
          </a:xfrm>
          <a:prstGeom prst="rect">
            <a:avLst/>
          </a:prstGeom>
          <a:noFill/>
        </p:spPr>
        <p:txBody>
          <a:bodyPr wrap="square" lIns="0" rIns="0" tIns="0" bIns="0">
            <a:spAutoFit/>
          </a:bodyPr>
          <a:lstStyle/>
          <a:p>
            <a:pPr algn="l"/>
            <a:r>
              <a:rPr sz="1350" b="0" i="0">
                <a:solidFill>
                  <a:srgbClr val="2E5A88"/>
                </a:solidFill>
                <a:latin typeface="Consolas"/>
              </a:rPr>
              <a:t>The client sends a SYN…</a:t>
            </a:r>
          </a:p>
        </p:txBody>
      </p:sp>
      <p:sp>
        <p:nvSpPr>
          <p:cNvPr id="14" name="Rectangle 13"/>
          <p:cNvSpPr/>
          <p:nvPr/>
        </p:nvSpPr>
        <p:spPr>
          <a:xfrm>
            <a:off x="640080" y="3008376"/>
            <a:ext cx="10927080" cy="566928"/>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54680"/>
            <a:ext cx="2743200" cy="365760"/>
          </a:xfrm>
          <a:prstGeom prst="rect">
            <a:avLst/>
          </a:prstGeom>
          <a:noFill/>
        </p:spPr>
        <p:txBody>
          <a:bodyPr wrap="square" lIns="0" rIns="0" tIns="0" bIns="0">
            <a:spAutoFit/>
          </a:bodyPr>
          <a:lstStyle/>
          <a:p>
            <a:pPr algn="l"/>
            <a:r>
              <a:rPr sz="1500" b="1" i="0">
                <a:solidFill>
                  <a:srgbClr val="1F242E"/>
                </a:solidFill>
                <a:latin typeface="Calibri"/>
              </a:rPr>
              <a:t>Mathematics</a:t>
            </a:r>
          </a:p>
        </p:txBody>
      </p:sp>
      <p:sp>
        <p:nvSpPr>
          <p:cNvPr id="16" name="TextBox 15"/>
          <p:cNvSpPr txBox="1"/>
          <p:nvPr/>
        </p:nvSpPr>
        <p:spPr>
          <a:xfrm>
            <a:off x="3611880" y="3154680"/>
            <a:ext cx="3291840" cy="365760"/>
          </a:xfrm>
          <a:prstGeom prst="rect">
            <a:avLst/>
          </a:prstGeom>
          <a:noFill/>
        </p:spPr>
        <p:txBody>
          <a:bodyPr wrap="square" lIns="0" rIns="0" tIns="0" bIns="0">
            <a:spAutoFit/>
          </a:bodyPr>
          <a:lstStyle/>
          <a:p>
            <a:pPr algn="l"/>
            <a:r>
              <a:rPr sz="1450" b="0" i="0">
                <a:solidFill>
                  <a:srgbClr val="6E7582"/>
                </a:solidFill>
                <a:latin typeface="Calibri"/>
              </a:rPr>
              <a:t>becomes inline LaTeX</a:t>
            </a:r>
          </a:p>
        </p:txBody>
      </p:sp>
      <p:sp>
        <p:nvSpPr>
          <p:cNvPr id="17" name="TextBox 16"/>
          <p:cNvSpPr txBox="1"/>
          <p:nvPr/>
        </p:nvSpPr>
        <p:spPr>
          <a:xfrm>
            <a:off x="7086600" y="3136392"/>
            <a:ext cx="4297680" cy="365760"/>
          </a:xfrm>
          <a:prstGeom prst="rect">
            <a:avLst/>
          </a:prstGeom>
          <a:noFill/>
        </p:spPr>
        <p:txBody>
          <a:bodyPr wrap="square" lIns="0" rIns="0" tIns="0" bIns="0">
            <a:spAutoFit/>
          </a:bodyPr>
          <a:lstStyle/>
          <a:p>
            <a:pPr algn="l"/>
            <a:r>
              <a:rPr sz="1350" b="0" i="0">
                <a:solidFill>
                  <a:srgbClr val="2E5A88"/>
                </a:solidFill>
                <a:latin typeface="Consolas"/>
              </a:rPr>
              <a:t>$99 \bmod 32 = 3$</a:t>
            </a:r>
          </a:p>
        </p:txBody>
      </p:sp>
      <p:sp>
        <p:nvSpPr>
          <p:cNvPr id="18" name="Rectangle 17"/>
          <p:cNvSpPr/>
          <p:nvPr/>
        </p:nvSpPr>
        <p:spPr>
          <a:xfrm>
            <a:off x="640080" y="3575303"/>
            <a:ext cx="10927080" cy="566928"/>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21607"/>
            <a:ext cx="2743200" cy="365760"/>
          </a:xfrm>
          <a:prstGeom prst="rect">
            <a:avLst/>
          </a:prstGeom>
          <a:noFill/>
        </p:spPr>
        <p:txBody>
          <a:bodyPr wrap="square" lIns="0" rIns="0" tIns="0" bIns="0">
            <a:spAutoFit/>
          </a:bodyPr>
          <a:lstStyle/>
          <a:p>
            <a:pPr algn="l"/>
            <a:r>
              <a:rPr sz="1500" b="1" i="0">
                <a:solidFill>
                  <a:srgbClr val="1F242E"/>
                </a:solidFill>
                <a:latin typeface="Calibri"/>
              </a:rPr>
              <a:t>Ruled tables</a:t>
            </a:r>
          </a:p>
        </p:txBody>
      </p:sp>
      <p:sp>
        <p:nvSpPr>
          <p:cNvPr id="20" name="TextBox 19"/>
          <p:cNvSpPr txBox="1"/>
          <p:nvPr/>
        </p:nvSpPr>
        <p:spPr>
          <a:xfrm>
            <a:off x="3611880" y="3721607"/>
            <a:ext cx="3291840" cy="365760"/>
          </a:xfrm>
          <a:prstGeom prst="rect">
            <a:avLst/>
          </a:prstGeom>
          <a:noFill/>
        </p:spPr>
        <p:txBody>
          <a:bodyPr wrap="square" lIns="0" rIns="0" tIns="0" bIns="0">
            <a:spAutoFit/>
          </a:bodyPr>
          <a:lstStyle/>
          <a:p>
            <a:pPr algn="l"/>
            <a:r>
              <a:rPr sz="1450" b="0" i="0">
                <a:solidFill>
                  <a:srgbClr val="6E7582"/>
                </a:solidFill>
                <a:latin typeface="Calibri"/>
              </a:rPr>
              <a:t>become Markdown tables</a:t>
            </a:r>
          </a:p>
        </p:txBody>
      </p:sp>
      <p:sp>
        <p:nvSpPr>
          <p:cNvPr id="21" name="TextBox 20"/>
          <p:cNvSpPr txBox="1"/>
          <p:nvPr/>
        </p:nvSpPr>
        <p:spPr>
          <a:xfrm>
            <a:off x="7086600" y="3703320"/>
            <a:ext cx="4297680" cy="365760"/>
          </a:xfrm>
          <a:prstGeom prst="rect">
            <a:avLst/>
          </a:prstGeom>
          <a:noFill/>
        </p:spPr>
        <p:txBody>
          <a:bodyPr wrap="square" lIns="0" rIns="0" tIns="0" bIns="0">
            <a:spAutoFit/>
          </a:bodyPr>
          <a:lstStyle/>
          <a:p>
            <a:pPr algn="l"/>
            <a:r>
              <a:rPr sz="1350" b="0" i="0">
                <a:solidFill>
                  <a:srgbClr val="2E5A88"/>
                </a:solidFill>
                <a:latin typeface="Consolas"/>
              </a:rPr>
              <a:t>| A | 40 | B |</a:t>
            </a:r>
          </a:p>
        </p:txBody>
      </p:sp>
      <p:sp>
        <p:nvSpPr>
          <p:cNvPr id="22" name="Rectangle 21"/>
          <p:cNvSpPr/>
          <p:nvPr/>
        </p:nvSpPr>
        <p:spPr>
          <a:xfrm>
            <a:off x="640080" y="4142231"/>
            <a:ext cx="10927080" cy="566928"/>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288536"/>
            <a:ext cx="2743200" cy="365760"/>
          </a:xfrm>
          <a:prstGeom prst="rect">
            <a:avLst/>
          </a:prstGeom>
          <a:noFill/>
        </p:spPr>
        <p:txBody>
          <a:bodyPr wrap="square" lIns="0" rIns="0" tIns="0" bIns="0">
            <a:spAutoFit/>
          </a:bodyPr>
          <a:lstStyle/>
          <a:p>
            <a:pPr algn="l"/>
            <a:r>
              <a:rPr sz="1500" b="1" i="0">
                <a:solidFill>
                  <a:srgbClr val="1F242E"/>
                </a:solidFill>
                <a:latin typeface="Calibri"/>
              </a:rPr>
              <a:t>Drawings</a:t>
            </a:r>
          </a:p>
        </p:txBody>
      </p:sp>
      <p:sp>
        <p:nvSpPr>
          <p:cNvPr id="24" name="TextBox 23"/>
          <p:cNvSpPr txBox="1"/>
          <p:nvPr/>
        </p:nvSpPr>
        <p:spPr>
          <a:xfrm>
            <a:off x="3611880" y="4288536"/>
            <a:ext cx="3291840" cy="365760"/>
          </a:xfrm>
          <a:prstGeom prst="rect">
            <a:avLst/>
          </a:prstGeom>
          <a:noFill/>
        </p:spPr>
        <p:txBody>
          <a:bodyPr wrap="square" lIns="0" rIns="0" tIns="0" bIns="0">
            <a:spAutoFit/>
          </a:bodyPr>
          <a:lstStyle/>
          <a:p>
            <a:pPr algn="l"/>
            <a:r>
              <a:rPr sz="1450" b="0" i="0">
                <a:solidFill>
                  <a:srgbClr val="6E7582"/>
                </a:solidFill>
                <a:latin typeface="Calibri"/>
              </a:rPr>
              <a:t>become a marker naming the figure</a:t>
            </a:r>
          </a:p>
        </p:txBody>
      </p:sp>
      <p:sp>
        <p:nvSpPr>
          <p:cNvPr id="25" name="TextBox 24"/>
          <p:cNvSpPr txBox="1"/>
          <p:nvPr/>
        </p:nvSpPr>
        <p:spPr>
          <a:xfrm>
            <a:off x="7086600" y="4270247"/>
            <a:ext cx="4297680" cy="365760"/>
          </a:xfrm>
          <a:prstGeom prst="rect">
            <a:avLst/>
          </a:prstGeom>
          <a:noFill/>
        </p:spPr>
        <p:txBody>
          <a:bodyPr wrap="square" lIns="0" rIns="0" tIns="0" bIns="0">
            <a:spAutoFit/>
          </a:bodyPr>
          <a:lstStyle/>
          <a:p>
            <a:pPr algn="l"/>
            <a:r>
              <a:rPr sz="1350" b="0" i="0">
                <a:solidFill>
                  <a:srgbClr val="2E5A88"/>
                </a:solidFill>
                <a:latin typeface="Consolas"/>
              </a:rPr>
              <a:t>![diagram: ARP request]</a:t>
            </a:r>
          </a:p>
        </p:txBody>
      </p:sp>
      <p:sp>
        <p:nvSpPr>
          <p:cNvPr id="26" name="Rectangle 25"/>
          <p:cNvSpPr/>
          <p:nvPr/>
        </p:nvSpPr>
        <p:spPr>
          <a:xfrm>
            <a:off x="640080" y="4709160"/>
            <a:ext cx="10927080" cy="566928"/>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855464"/>
            <a:ext cx="2743200" cy="365760"/>
          </a:xfrm>
          <a:prstGeom prst="rect">
            <a:avLst/>
          </a:prstGeom>
          <a:noFill/>
        </p:spPr>
        <p:txBody>
          <a:bodyPr wrap="square" lIns="0" rIns="0" tIns="0" bIns="0">
            <a:spAutoFit/>
          </a:bodyPr>
          <a:lstStyle/>
          <a:p>
            <a:pPr algn="l"/>
            <a:r>
              <a:rPr sz="1500" b="1" i="0">
                <a:solidFill>
                  <a:srgbClr val="1F242E"/>
                </a:solidFill>
                <a:latin typeface="Calibri"/>
              </a:rPr>
              <a:t>Unreadable words</a:t>
            </a:r>
          </a:p>
        </p:txBody>
      </p:sp>
      <p:sp>
        <p:nvSpPr>
          <p:cNvPr id="28" name="TextBox 27"/>
          <p:cNvSpPr txBox="1"/>
          <p:nvPr/>
        </p:nvSpPr>
        <p:spPr>
          <a:xfrm>
            <a:off x="3611880" y="4855464"/>
            <a:ext cx="3291840" cy="365760"/>
          </a:xfrm>
          <a:prstGeom prst="rect">
            <a:avLst/>
          </a:prstGeom>
          <a:noFill/>
        </p:spPr>
        <p:txBody>
          <a:bodyPr wrap="square" lIns="0" rIns="0" tIns="0" bIns="0">
            <a:spAutoFit/>
          </a:bodyPr>
          <a:lstStyle/>
          <a:p>
            <a:pPr algn="l"/>
            <a:r>
              <a:rPr sz="1450" b="0" i="0">
                <a:solidFill>
                  <a:srgbClr val="6E7582"/>
                </a:solidFill>
                <a:latin typeface="Calibri"/>
              </a:rPr>
              <a:t>become an explicit marker</a:t>
            </a:r>
          </a:p>
        </p:txBody>
      </p:sp>
      <p:sp>
        <p:nvSpPr>
          <p:cNvPr id="29" name="TextBox 28"/>
          <p:cNvSpPr txBox="1"/>
          <p:nvPr/>
        </p:nvSpPr>
        <p:spPr>
          <a:xfrm>
            <a:off x="7086600" y="4837176"/>
            <a:ext cx="4297680" cy="365760"/>
          </a:xfrm>
          <a:prstGeom prst="rect">
            <a:avLst/>
          </a:prstGeom>
          <a:noFill/>
        </p:spPr>
        <p:txBody>
          <a:bodyPr wrap="square" lIns="0" rIns="0" tIns="0" bIns="0">
            <a:spAutoFit/>
          </a:bodyPr>
          <a:lstStyle/>
          <a:p>
            <a:pPr algn="l"/>
            <a:r>
              <a:rPr sz="1350" b="0" i="0">
                <a:solidFill>
                  <a:srgbClr val="2E5A88"/>
                </a:solidFill>
                <a:latin typeface="Consolas"/>
              </a:rPr>
              <a:t>[?]</a:t>
            </a:r>
          </a:p>
        </p:txBody>
      </p:sp>
      <p:sp>
        <p:nvSpPr>
          <p:cNvPr id="30" name="TextBox 29"/>
          <p:cNvSpPr txBox="1"/>
          <p:nvPr/>
        </p:nvSpPr>
        <p:spPr>
          <a:xfrm>
            <a:off x="640080" y="5477255"/>
            <a:ext cx="10881360" cy="292608"/>
          </a:xfrm>
          <a:prstGeom prst="rect">
            <a:avLst/>
          </a:prstGeom>
          <a:noFill/>
        </p:spPr>
        <p:txBody>
          <a:bodyPr wrap="square" lIns="0" rIns="0" tIns="0" bIns="0">
            <a:spAutoFit/>
          </a:bodyPr>
          <a:lstStyle/>
          <a:p>
            <a:pPr algn="l"/>
            <a:r>
              <a:rPr sz="1500" b="0" i="1">
                <a:solidFill>
                  <a:srgbClr val="1F242E"/>
                </a:solidFill>
                <a:latin typeface="Calibri"/>
              </a:rPr>
              <a:t>The next six slides show real pages and the exact Markdown each one produced.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Example 1 — Neat handwriting</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11</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 cursive page of numbered sub-answers. This is the easy case, and it comes back almost perfectly.</a:t>
            </a:r>
          </a:p>
        </p:txBody>
      </p:sp>
      <p:pic>
        <p:nvPicPr>
          <p:cNvPr id="6" name="Picture 5" descr="prep_s06.png"/>
          <p:cNvPicPr>
            <a:picLocks noChangeAspect="1"/>
          </p:cNvPicPr>
          <p:nvPr/>
        </p:nvPicPr>
        <p:blipFill>
          <a:blip r:embed="rId2"/>
          <a:stretch>
            <a:fillRect/>
          </a:stretch>
        </p:blipFill>
        <p:spPr>
          <a:xfrm>
            <a:off x="640080" y="1874519"/>
            <a:ext cx="2923795" cy="3977639"/>
          </a:xfrm>
          <a:prstGeom prst="rect">
            <a:avLst/>
          </a:prstGeom>
        </p:spPr>
      </p:pic>
      <p:sp>
        <p:nvSpPr>
          <p:cNvPr id="7" name="TextBox 6"/>
          <p:cNvSpPr txBox="1"/>
          <p:nvPr/>
        </p:nvSpPr>
        <p:spPr>
          <a:xfrm>
            <a:off x="640080" y="5916168"/>
            <a:ext cx="3657600" cy="292608"/>
          </a:xfrm>
          <a:prstGeom prst="rect">
            <a:avLst/>
          </a:prstGeom>
          <a:noFill/>
        </p:spPr>
        <p:txBody>
          <a:bodyPr wrap="square" lIns="0" rIns="0" tIns="0" bIns="0">
            <a:spAutoFit/>
          </a:bodyPr>
          <a:lstStyle/>
          <a:p>
            <a:pPr algn="l"/>
            <a:r>
              <a:rPr sz="1250" b="0" i="1">
                <a:solidFill>
                  <a:srgbClr val="6E7582"/>
                </a:solidFill>
                <a:latin typeface="Calibri"/>
              </a:rPr>
              <a:t>scanned page, after preparation</a:t>
            </a:r>
          </a:p>
        </p:txBody>
      </p:sp>
      <p:sp>
        <p:nvSpPr>
          <p:cNvPr id="8" name="Rounded Rectangle 7"/>
          <p:cNvSpPr/>
          <p:nvPr/>
        </p:nvSpPr>
        <p:spPr>
          <a:xfrm>
            <a:off x="4069080" y="1874519"/>
            <a:ext cx="7498079" cy="3977639"/>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600"/>
              </a:spcAft>
            </a:pPr>
            <a:r>
              <a:rPr sz="1100" b="1" i="0">
                <a:solidFill>
                  <a:srgbClr val="2E5A88"/>
                </a:solidFill>
                <a:latin typeface="Calibri"/>
              </a:rPr>
              <a:t>Markdown produced by the model</a:t>
            </a:r>
          </a:p>
          <a:p>
            <a:pPr>
              <a:spcAft>
                <a:spcPts val="100"/>
              </a:spcAft>
            </a:pPr>
            <a:r>
              <a:rPr sz="950" b="1" i="0">
                <a:solidFill>
                  <a:srgbClr val="2E5A88"/>
                </a:solidFill>
                <a:latin typeface="Consolas"/>
              </a:rPr>
              <a:t>### 4b)</a:t>
            </a:r>
          </a:p>
          <a:p>
            <a:pPr>
              <a:spcAft>
                <a:spcPts val="100"/>
              </a:spcAft>
            </a:pPr>
            <a:r>
              <a:rPr sz="950" b="0" i="0">
                <a:solidFill>
                  <a:srgbClr val="1F242E"/>
                </a:solidFill>
                <a:latin typeface="Consolas"/>
              </a:rPr>
              <a:t>i.</a:t>
            </a:r>
          </a:p>
          <a:p>
            <a:pPr>
              <a:spcAft>
                <a:spcPts val="100"/>
              </a:spcAft>
            </a:pPr>
            <a:r>
              <a:rPr sz="950" b="0" i="0">
                <a:solidFill>
                  <a:srgbClr val="1F242E"/>
                </a:solidFill>
                <a:latin typeface="Consolas"/>
              </a:rPr>
              <a:t>a. The source port number is the first four</a:t>
            </a:r>
          </a:p>
          <a:p>
            <a:pPr>
              <a:spcAft>
                <a:spcPts val="100"/>
              </a:spcAft>
            </a:pPr>
            <a:r>
              <a:rPr sz="950" b="0" i="0">
                <a:solidFill>
                  <a:srgbClr val="1F242E"/>
                </a:solidFill>
                <a:latin typeface="Consolas"/>
              </a:rPr>
              <a:t>hexadecimal digits in the header, i.e.,</a:t>
            </a:r>
          </a:p>
          <a:p>
            <a:pPr>
              <a:spcAft>
                <a:spcPts val="100"/>
              </a:spcAft>
            </a:pPr>
            <a:r>
              <a:rPr sz="950" b="0" i="0">
                <a:solidFill>
                  <a:srgbClr val="1F242E"/>
                </a:solidFill>
                <a:latin typeface="Consolas"/>
              </a:rPr>
              <a:t>(00 45)₁₆ = 69</a:t>
            </a:r>
          </a:p>
          <a:p>
            <a:pPr>
              <a:spcAft>
                <a:spcPts val="100"/>
              </a:spcAft>
            </a:pPr>
            <a:r>
              <a:rPr sz="950" b="0" i="0">
                <a:solidFill>
                  <a:srgbClr val="1F242E"/>
                </a:solidFill>
                <a:latin typeface="Consolas"/>
              </a:rPr>
              <a:t>b. The destination port number is the next four</a:t>
            </a:r>
          </a:p>
          <a:p>
            <a:pPr>
              <a:spcAft>
                <a:spcPts val="100"/>
              </a:spcAft>
            </a:pPr>
            <a:r>
              <a:rPr sz="950" b="0" i="0">
                <a:solidFill>
                  <a:srgbClr val="1F242E"/>
                </a:solidFill>
                <a:latin typeface="Consolas"/>
              </a:rPr>
              <a:t>hexadecimal digits in the header, i.e.,</a:t>
            </a:r>
          </a:p>
          <a:p>
            <a:pPr>
              <a:spcAft>
                <a:spcPts val="100"/>
              </a:spcAft>
            </a:pPr>
            <a:r>
              <a:rPr sz="950" b="0" i="0">
                <a:solidFill>
                  <a:srgbClr val="1F242E"/>
                </a:solidFill>
                <a:latin typeface="Consolas"/>
              </a:rPr>
              <a:t>(DF00)₁₆ = 57088</a:t>
            </a:r>
          </a:p>
          <a:p>
            <a:pPr>
              <a:spcAft>
                <a:spcPts val="100"/>
              </a:spcAft>
            </a:pPr>
            <a:r>
              <a:rPr sz="950" b="0" i="0">
                <a:solidFill>
                  <a:srgbClr val="1F242E"/>
                </a:solidFill>
                <a:latin typeface="Consolas"/>
              </a:rPr>
              <a:t>c. The total length of the user datagram is the</a:t>
            </a:r>
          </a:p>
          <a:p>
            <a:pPr>
              <a:spcAft>
                <a:spcPts val="100"/>
              </a:spcAft>
            </a:pPr>
            <a:r>
              <a:rPr sz="950" b="0" i="0">
                <a:solidFill>
                  <a:srgbClr val="1F242E"/>
                </a:solidFill>
                <a:latin typeface="Consolas"/>
              </a:rPr>
              <a:t>third set of four hexadecimal digits in the</a:t>
            </a:r>
          </a:p>
          <a:p>
            <a:pPr>
              <a:spcAft>
                <a:spcPts val="100"/>
              </a:spcAft>
            </a:pPr>
            <a:r>
              <a:rPr sz="950" b="0" i="0">
                <a:solidFill>
                  <a:srgbClr val="1F242E"/>
                </a:solidFill>
                <a:latin typeface="Consolas"/>
              </a:rPr>
              <a:t>header, i.e., (0058)₁₆ = 88 bits = 11 bytes</a:t>
            </a:r>
          </a:p>
          <a:p>
            <a:pPr>
              <a:spcAft>
                <a:spcPts val="100"/>
              </a:spcAft>
            </a:pPr>
            <a:r>
              <a:rPr sz="950" b="0" i="0">
                <a:solidFill>
                  <a:srgbClr val="1F242E"/>
                </a:solidFill>
                <a:latin typeface="Consolas"/>
              </a:rPr>
              <a:t>d. The length of the data = length of datagram</a:t>
            </a:r>
          </a:p>
          <a:p>
            <a:pPr>
              <a:spcAft>
                <a:spcPts val="100"/>
              </a:spcAft>
            </a:pPr>
            <a:r>
              <a:rPr sz="950" b="0" i="0">
                <a:solidFill>
                  <a:srgbClr val="1F242E"/>
                </a:solidFill>
                <a:latin typeface="Consolas"/>
              </a:rPr>
              <a:t>- length of the header = 11 - 8 = 3 bytes</a:t>
            </a:r>
          </a:p>
          <a:p>
            <a:pPr>
              <a:spcAft>
                <a:spcPts val="100"/>
              </a:spcAft>
            </a:pPr>
            <a:r>
              <a:rPr sz="950" b="0" i="0">
                <a:solidFill>
                  <a:srgbClr val="1F242E"/>
                </a:solidFill>
                <a:latin typeface="Consolas"/>
              </a:rPr>
              <a:t>e. Since 69 is a well-known port, the packet is</a:t>
            </a:r>
          </a:p>
          <a:p>
            <a:pPr>
              <a:spcAft>
                <a:spcPts val="100"/>
              </a:spcAft>
            </a:pPr>
            <a:r>
              <a:rPr sz="950" b="0" i="0">
                <a:solidFill>
                  <a:srgbClr val="1F242E"/>
                </a:solidFill>
                <a:latin typeface="Consolas"/>
              </a:rPr>
              <a:t>directed from (server to) client to server.</a:t>
            </a:r>
          </a:p>
          <a:p>
            <a:pPr>
              <a:spcAft>
                <a:spcPts val="100"/>
              </a:spcAft>
            </a:pPr>
            <a:r>
              <a:rPr sz="950" b="0" i="0">
                <a:solidFill>
                  <a:srgbClr val="1F242E"/>
                </a:solidFill>
                <a:latin typeface="Consolas"/>
              </a:rPr>
              <a:t>ii.</a:t>
            </a:r>
          </a:p>
          <a:p>
            <a:pPr>
              <a:spcAft>
                <a:spcPts val="100"/>
              </a:spcAft>
            </a:pPr>
            <a:r>
              <a:rPr sz="950" b="0" i="0">
                <a:solidFill>
                  <a:srgbClr val="1F242E"/>
                </a:solidFill>
                <a:latin typeface="Consolas"/>
              </a:rPr>
              <a:t>a. Transport Layer.</a:t>
            </a:r>
          </a:p>
          <a:p>
            <a:pPr>
              <a:spcAft>
                <a:spcPts val="100"/>
              </a:spcAft>
            </a:pPr>
            <a:r>
              <a:rPr sz="950" b="0" i="0">
                <a:solidFill>
                  <a:srgbClr val="1F242E"/>
                </a:solidFill>
                <a:latin typeface="Consolas"/>
              </a:rPr>
              <a:t>In the Transport Layer, the user Datagram is</a:t>
            </a:r>
          </a:p>
          <a:p>
            <a:pPr>
              <a:spcAft>
                <a:spcPts val="100"/>
              </a:spcAft>
            </a:pPr>
            <a:r>
              <a:rPr sz="950" b="0" i="0">
                <a:solidFill>
                  <a:srgbClr val="1F242E"/>
                </a:solidFill>
                <a:latin typeface="Consolas"/>
              </a:rPr>
              <a:t>created from packet</a:t>
            </a:r>
          </a:p>
          <a:p>
            <a:pPr>
              <a:spcAft>
                <a:spcPts val="100"/>
              </a:spcAft>
            </a:pPr>
            <a:r>
              <a:rPr sz="950" b="0" i="0">
                <a:solidFill>
                  <a:srgbClr val="1F242E"/>
                </a:solidFill>
                <a:latin typeface="Consolas"/>
              </a:rPr>
              <a:t>b. Data-Link Layer.</a:t>
            </a:r>
          </a:p>
          <a:p>
            <a:pPr>
              <a:spcAft>
                <a:spcPts val="100"/>
              </a:spcAft>
            </a:pPr>
            <a:r>
              <a:rPr sz="950" b="0" i="0">
                <a:solidFill>
                  <a:srgbClr val="1F242E"/>
                </a:solidFill>
                <a:latin typeface="Consolas"/>
              </a:rPr>
              <a:t>The Data-Link Layer handles the frames between</a:t>
            </a:r>
          </a:p>
          <a:p>
            <a:pPr>
              <a:spcAft>
                <a:spcPts val="100"/>
              </a:spcAft>
            </a:pPr>
            <a:r>
              <a:rPr sz="950" b="0" i="0">
                <a:solidFill>
                  <a:srgbClr val="1F242E"/>
                </a:solidFill>
                <a:latin typeface="Consolas"/>
              </a:rPr>
              <a:t>different nodes.</a:t>
            </a:r>
          </a:p>
        </p:txBody>
      </p:sp>
      <p:sp>
        <p:nvSpPr>
          <p:cNvPr id="9" name="TextBox 8"/>
          <p:cNvSpPr txBox="1"/>
          <p:nvPr/>
        </p:nvSpPr>
        <p:spPr>
          <a:xfrm>
            <a:off x="4069080" y="5916168"/>
            <a:ext cx="7498079" cy="777240"/>
          </a:xfrm>
          <a:prstGeom prst="rect">
            <a:avLst/>
          </a:prstGeom>
          <a:noFill/>
        </p:spPr>
        <p:txBody>
          <a:bodyPr wrap="square" lIns="0" rIns="0" tIns="0" bIns="0">
            <a:spAutoFit/>
          </a:bodyPr>
          <a:lstStyle/>
          <a:p>
            <a:pPr algn="l">
              <a:lnSpc>
                <a:spcPct val="100000"/>
              </a:lnSpc>
              <a:spcAft>
                <a:spcPts val="200"/>
              </a:spcAft>
            </a:pPr>
            <a:r>
              <a:rPr sz="1200" b="0" i="0">
                <a:solidFill>
                  <a:srgbClr val="2D6A4F"/>
                </a:solidFill>
                <a:latin typeface="Calibri"/>
              </a:rPr>
              <a:t>▪  </a:t>
            </a:r>
            <a:r>
              <a:rPr sz="1200" b="0" i="0">
                <a:solidFill>
                  <a:srgbClr val="1F242E"/>
                </a:solidFill>
                <a:latin typeface="Calibri"/>
              </a:rPr>
              <a:t>The question label </a:t>
            </a:r>
            <a:r>
              <a:rPr sz="1200" b="1" i="0">
                <a:solidFill>
                  <a:srgbClr val="1F242E"/>
                </a:solidFill>
                <a:latin typeface="Calibri"/>
              </a:rPr>
              <a:t>4b)</a:t>
            </a:r>
            <a:r>
              <a:rPr sz="1200" b="0" i="0">
                <a:solidFill>
                  <a:srgbClr val="1F242E"/>
                </a:solidFill>
                <a:latin typeface="Calibri"/>
              </a:rPr>
              <a:t> is recognised and becomes a heading</a:t>
            </a:r>
          </a:p>
          <a:p>
            <a:pPr>
              <a:lnSpc>
                <a:spcPct val="100000"/>
              </a:lnSpc>
              <a:spcAft>
                <a:spcPts val="200"/>
              </a:spcAft>
            </a:pPr>
            <a:r>
              <a:rPr sz="1200" b="0" i="0">
                <a:solidFill>
                  <a:srgbClr val="2D6A4F"/>
                </a:solidFill>
                <a:latin typeface="Calibri"/>
              </a:rPr>
              <a:t>▪  </a:t>
            </a:r>
            <a:r>
              <a:rPr sz="1200" b="0" i="0">
                <a:solidFill>
                  <a:srgbClr val="1F242E"/>
                </a:solidFill>
                <a:latin typeface="Calibri"/>
              </a:rPr>
              <a:t>Subscripts are preserved — the model wrote </a:t>
            </a:r>
            <a:r>
              <a:rPr sz="1200" b="1" i="0">
                <a:solidFill>
                  <a:srgbClr val="1F242E"/>
                </a:solidFill>
                <a:latin typeface="Calibri"/>
              </a:rPr>
              <a:t>(0045)₁₆</a:t>
            </a:r>
            <a:r>
              <a:rPr sz="1200" b="0" i="0">
                <a:solidFill>
                  <a:srgbClr val="1F242E"/>
                </a:solidFill>
                <a:latin typeface="Calibri"/>
              </a:rPr>
              <a:t>, not (0045)16</a:t>
            </a:r>
          </a:p>
          <a:p>
            <a:pPr>
              <a:lnSpc>
                <a:spcPct val="100000"/>
              </a:lnSpc>
              <a:spcAft>
                <a:spcPts val="200"/>
              </a:spcAft>
            </a:pPr>
            <a:r>
              <a:rPr sz="1200" b="0" i="0">
                <a:solidFill>
                  <a:srgbClr val="B26B0F"/>
                </a:solidFill>
                <a:latin typeface="Calibri"/>
              </a:rPr>
              <a:t>▪  </a:t>
            </a:r>
            <a:r>
              <a:rPr sz="1200" b="0" i="0">
                <a:solidFill>
                  <a:srgbClr val="1F242E"/>
                </a:solidFill>
                <a:latin typeface="Calibri"/>
              </a:rPr>
              <a:t>The student's crossed-out </a:t>
            </a:r>
            <a:r>
              <a:rPr sz="1200" b="1" i="0">
                <a:solidFill>
                  <a:srgbClr val="1F242E"/>
                </a:solidFill>
                <a:latin typeface="Calibri"/>
              </a:rPr>
              <a:t>“server to”</a:t>
            </a:r>
            <a:r>
              <a:rPr sz="1200" b="0" i="0">
                <a:solidFill>
                  <a:srgbClr val="1F242E"/>
                </a:solidFill>
                <a:latin typeface="Calibri"/>
              </a:rPr>
              <a:t> survives as brackets rather than as struck-through text — a small loss</a:t>
            </a:r>
          </a:p>
        </p:txBody>
      </p:sp>
      <p:sp>
        <p:nvSpPr>
          <p:cNvPr id="10" name="Rounded Rectangle 9"/>
          <p:cNvSpPr/>
          <p:nvPr/>
        </p:nvSpPr>
        <p:spPr>
          <a:xfrm>
            <a:off x="9646920" y="475488"/>
            <a:ext cx="1920240" cy="384048"/>
          </a:xfrm>
          <a:prstGeom prst="roundRect">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i="0">
                <a:solidFill>
                  <a:srgbClr val="FFFFFF"/>
                </a:solidFill>
                <a:latin typeface="Calibri"/>
              </a:rPr>
              <a:t>NEAT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Example 2 — Mathematics</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12</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Worked arithmetic with powers and modulo. Layout carries meaning here, so it has to be preserved.</a:t>
            </a:r>
          </a:p>
        </p:txBody>
      </p:sp>
      <p:pic>
        <p:nvPicPr>
          <p:cNvPr id="6" name="Picture 5" descr="s03_math.png"/>
          <p:cNvPicPr>
            <a:picLocks noChangeAspect="1"/>
          </p:cNvPicPr>
          <p:nvPr/>
        </p:nvPicPr>
        <p:blipFill>
          <a:blip r:embed="rId2"/>
          <a:stretch>
            <a:fillRect/>
          </a:stretch>
        </p:blipFill>
        <p:spPr>
          <a:xfrm>
            <a:off x="640080" y="1874519"/>
            <a:ext cx="2923795" cy="3977639"/>
          </a:xfrm>
          <a:prstGeom prst="rect">
            <a:avLst/>
          </a:prstGeom>
        </p:spPr>
      </p:pic>
      <p:sp>
        <p:nvSpPr>
          <p:cNvPr id="7" name="TextBox 6"/>
          <p:cNvSpPr txBox="1"/>
          <p:nvPr/>
        </p:nvSpPr>
        <p:spPr>
          <a:xfrm>
            <a:off x="640080" y="5916168"/>
            <a:ext cx="3657600" cy="292608"/>
          </a:xfrm>
          <a:prstGeom prst="rect">
            <a:avLst/>
          </a:prstGeom>
          <a:noFill/>
        </p:spPr>
        <p:txBody>
          <a:bodyPr wrap="square" lIns="0" rIns="0" tIns="0" bIns="0">
            <a:spAutoFit/>
          </a:bodyPr>
          <a:lstStyle/>
          <a:p>
            <a:pPr algn="l"/>
            <a:r>
              <a:rPr sz="1250" b="0" i="1">
                <a:solidFill>
                  <a:srgbClr val="6E7582"/>
                </a:solidFill>
                <a:latin typeface="Calibri"/>
              </a:rPr>
              <a:t>scanned page, after preparation</a:t>
            </a:r>
          </a:p>
        </p:txBody>
      </p:sp>
      <p:sp>
        <p:nvSpPr>
          <p:cNvPr id="8" name="Rounded Rectangle 7"/>
          <p:cNvSpPr/>
          <p:nvPr/>
        </p:nvSpPr>
        <p:spPr>
          <a:xfrm>
            <a:off x="4069080" y="1874519"/>
            <a:ext cx="7498079" cy="3977639"/>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600"/>
              </a:spcAft>
            </a:pPr>
            <a:r>
              <a:rPr sz="1100" b="1" i="0">
                <a:solidFill>
                  <a:srgbClr val="2E5A88"/>
                </a:solidFill>
                <a:latin typeface="Calibri"/>
              </a:rPr>
              <a:t>Markdown produced by the model</a:t>
            </a:r>
          </a:p>
          <a:p>
            <a:pPr>
              <a:spcAft>
                <a:spcPts val="100"/>
              </a:spcAft>
            </a:pPr>
            <a:r>
              <a:rPr sz="950" b="1" i="0">
                <a:solidFill>
                  <a:srgbClr val="2E5A88"/>
                </a:solidFill>
                <a:latin typeface="Consolas"/>
              </a:rPr>
              <a:t>### 3(b)</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$m = 5.$</a:t>
            </a:r>
          </a:p>
          <a:p>
            <a:pPr>
              <a:spcAft>
                <a:spcPts val="100"/>
              </a:spcAft>
            </a:pPr>
            <a:r>
              <a:rPr sz="950" b="0" i="0">
                <a:solidFill>
                  <a:srgbClr val="1F242E"/>
                </a:solidFill>
                <a:latin typeface="Consolas"/>
              </a:rPr>
              <a:t>$(100 - 1) \mod 2^5$</a:t>
            </a:r>
          </a:p>
          <a:p>
            <a:pPr>
              <a:spcAft>
                <a:spcPts val="100"/>
              </a:spcAft>
            </a:pPr>
            <a:r>
              <a:rPr sz="950" b="0" i="0">
                <a:solidFill>
                  <a:srgbClr val="1F242E"/>
                </a:solidFill>
                <a:latin typeface="Consolas"/>
              </a:rPr>
              <a:t>$= 99 \mod 32$</a:t>
            </a:r>
          </a:p>
          <a:p>
            <a:pPr>
              <a:spcAft>
                <a:spcPts val="100"/>
              </a:spcAft>
            </a:pPr>
            <a:r>
              <a:rPr sz="950" b="0" i="0">
                <a:solidFill>
                  <a:srgbClr val="1F242E"/>
                </a:solidFill>
                <a:latin typeface="Consolas"/>
              </a:rPr>
              <a:t>$= 3$</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sequence no. of 100th packet is 3.</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 $\Rightarrow$ stop and wait protocol does not</a:t>
            </a:r>
          </a:p>
          <a:p>
            <a:pPr>
              <a:spcAft>
                <a:spcPts val="100"/>
              </a:spcAft>
            </a:pPr>
            <a:r>
              <a:rPr sz="950" b="0" i="0">
                <a:solidFill>
                  <a:srgbClr val="1F242E"/>
                </a:solidFill>
                <a:latin typeface="Consolas"/>
              </a:rPr>
              <a:t>include sequence numbers so wrap around does</a:t>
            </a:r>
          </a:p>
          <a:p>
            <a:pPr>
              <a:spcAft>
                <a:spcPts val="100"/>
              </a:spcAft>
            </a:pPr>
            <a:r>
              <a:rPr sz="950" b="0" i="0">
                <a:solidFill>
                  <a:srgbClr val="1F242E"/>
                </a:solidFill>
                <a:latin typeface="Consolas"/>
              </a:rPr>
              <a:t>NOT occur.</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(b)</a:t>
            </a:r>
          </a:p>
          <a:p>
            <a:pPr>
              <a:spcAft>
                <a:spcPts val="100"/>
              </a:spcAft>
            </a:pPr>
            <a:r>
              <a:rPr sz="950" b="0" i="0">
                <a:solidFill>
                  <a:srgbClr val="1F242E"/>
                </a:solidFill>
                <a:latin typeface="Consolas"/>
              </a:rPr>
              <a:t>$m = 8.$</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No. of packets that can have independent seq.</a:t>
            </a:r>
          </a:p>
          <a:p>
            <a:pPr>
              <a:spcAft>
                <a:spcPts val="100"/>
              </a:spcAft>
            </a:pPr>
            <a:r>
              <a:rPr sz="950" b="0" i="0">
                <a:solidFill>
                  <a:srgbClr val="1F242E"/>
                </a:solidFill>
                <a:latin typeface="Consolas"/>
              </a:rPr>
              <a:t>no. in GBN</a:t>
            </a:r>
          </a:p>
          <a:p>
            <a:pPr>
              <a:spcAft>
                <a:spcPts val="100"/>
              </a:spcAft>
            </a:pPr>
            <a:r>
              <a:rPr sz="950" b="0" i="0">
                <a:solidFill>
                  <a:srgbClr val="1F242E"/>
                </a:solidFill>
                <a:latin typeface="Consolas"/>
              </a:rPr>
              <a:t>$= 2^m - 1$</a:t>
            </a:r>
          </a:p>
        </p:txBody>
      </p:sp>
      <p:sp>
        <p:nvSpPr>
          <p:cNvPr id="9" name="TextBox 8"/>
          <p:cNvSpPr txBox="1"/>
          <p:nvPr/>
        </p:nvSpPr>
        <p:spPr>
          <a:xfrm>
            <a:off x="4069080" y="5916168"/>
            <a:ext cx="7498079" cy="777240"/>
          </a:xfrm>
          <a:prstGeom prst="rect">
            <a:avLst/>
          </a:prstGeom>
          <a:noFill/>
        </p:spPr>
        <p:txBody>
          <a:bodyPr wrap="square" lIns="0" rIns="0" tIns="0" bIns="0">
            <a:spAutoFit/>
          </a:bodyPr>
          <a:lstStyle/>
          <a:p>
            <a:pPr algn="l">
              <a:lnSpc>
                <a:spcPct val="100000"/>
              </a:lnSpc>
              <a:spcAft>
                <a:spcPts val="200"/>
              </a:spcAft>
            </a:pPr>
            <a:r>
              <a:rPr sz="1200" b="0" i="0">
                <a:solidFill>
                  <a:srgbClr val="2D6A4F"/>
                </a:solidFill>
                <a:latin typeface="Calibri"/>
              </a:rPr>
              <a:t>▪  </a:t>
            </a:r>
            <a:r>
              <a:rPr sz="1200" b="0" i="0">
                <a:solidFill>
                  <a:srgbClr val="1F242E"/>
                </a:solidFill>
                <a:latin typeface="Calibri"/>
              </a:rPr>
              <a:t>Superscripts become real LaTeX — </a:t>
            </a:r>
            <a:r>
              <a:rPr sz="1200" b="1" i="0">
                <a:solidFill>
                  <a:srgbClr val="1F242E"/>
                </a:solidFill>
                <a:latin typeface="Calibri"/>
              </a:rPr>
              <a:t>2^5</a:t>
            </a:r>
            <a:r>
              <a:rPr sz="1200" b="0" i="0">
                <a:solidFill>
                  <a:srgbClr val="1F242E"/>
                </a:solidFill>
                <a:latin typeface="Calibri"/>
              </a:rPr>
              <a:t>, </a:t>
            </a:r>
            <a:r>
              <a:rPr sz="1200" b="1" i="0">
                <a:solidFill>
                  <a:srgbClr val="1F242E"/>
                </a:solidFill>
                <a:latin typeface="Calibri"/>
              </a:rPr>
              <a:t>2^m - 1</a:t>
            </a:r>
            <a:r>
              <a:rPr sz="1200" b="0" i="0">
                <a:solidFill>
                  <a:srgbClr val="1F242E"/>
                </a:solidFill>
                <a:latin typeface="Calibri"/>
              </a:rPr>
              <a:t> — so the arithmetic stays machine-readable</a:t>
            </a:r>
          </a:p>
          <a:p>
            <a:pPr>
              <a:lnSpc>
                <a:spcPct val="100000"/>
              </a:lnSpc>
              <a:spcAft>
                <a:spcPts val="200"/>
              </a:spcAft>
            </a:pPr>
            <a:r>
              <a:rPr sz="1200" b="0" i="0">
                <a:solidFill>
                  <a:srgbClr val="2D6A4F"/>
                </a:solidFill>
                <a:latin typeface="Calibri"/>
              </a:rPr>
              <a:t>▪  </a:t>
            </a:r>
            <a:r>
              <a:rPr sz="1200" b="0" i="0">
                <a:solidFill>
                  <a:srgbClr val="1F242E"/>
                </a:solidFill>
                <a:latin typeface="Calibri"/>
              </a:rPr>
              <a:t>The label </a:t>
            </a:r>
            <a:r>
              <a:rPr sz="1200" b="1" i="0">
                <a:solidFill>
                  <a:srgbClr val="1F242E"/>
                </a:solidFill>
                <a:latin typeface="Calibri"/>
              </a:rPr>
              <a:t>3(b)</a:t>
            </a:r>
            <a:r>
              <a:rPr sz="1200" b="0" i="0">
                <a:solidFill>
                  <a:srgbClr val="1F242E"/>
                </a:solidFill>
                <a:latin typeface="Calibri"/>
              </a:rPr>
              <a:t> is a bracketed form; the parser accepts it alongside 3b, 3 b) and Q3)</a:t>
            </a:r>
          </a:p>
        </p:txBody>
      </p:sp>
      <p:sp>
        <p:nvSpPr>
          <p:cNvPr id="10" name="Rounded Rectangle 9"/>
          <p:cNvSpPr/>
          <p:nvPr/>
        </p:nvSpPr>
        <p:spPr>
          <a:xfrm>
            <a:off x="9646920" y="475488"/>
            <a:ext cx="1920240" cy="38404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i="0">
                <a:solidFill>
                  <a:srgbClr val="FFFFFF"/>
                </a:solidFill>
                <a:latin typeface="Calibri"/>
              </a:rPr>
              <a:t>MATHS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Example 3 — A hand-ruled table</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13</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 routing table drawn with a ruler. The model reproduces the grid and admits where it could not read a cell.</a:t>
            </a:r>
          </a:p>
        </p:txBody>
      </p:sp>
      <p:pic>
        <p:nvPicPr>
          <p:cNvPr id="6" name="Picture 5" descr="s09_table.png"/>
          <p:cNvPicPr>
            <a:picLocks noChangeAspect="1"/>
          </p:cNvPicPr>
          <p:nvPr/>
        </p:nvPicPr>
        <p:blipFill>
          <a:blip r:embed="rId2"/>
          <a:stretch>
            <a:fillRect/>
          </a:stretch>
        </p:blipFill>
        <p:spPr>
          <a:xfrm>
            <a:off x="640080" y="1874519"/>
            <a:ext cx="2923795" cy="3977639"/>
          </a:xfrm>
          <a:prstGeom prst="rect">
            <a:avLst/>
          </a:prstGeom>
        </p:spPr>
      </p:pic>
      <p:sp>
        <p:nvSpPr>
          <p:cNvPr id="7" name="TextBox 6"/>
          <p:cNvSpPr txBox="1"/>
          <p:nvPr/>
        </p:nvSpPr>
        <p:spPr>
          <a:xfrm>
            <a:off x="640080" y="5916168"/>
            <a:ext cx="3657600" cy="292608"/>
          </a:xfrm>
          <a:prstGeom prst="rect">
            <a:avLst/>
          </a:prstGeom>
          <a:noFill/>
        </p:spPr>
        <p:txBody>
          <a:bodyPr wrap="square" lIns="0" rIns="0" tIns="0" bIns="0">
            <a:spAutoFit/>
          </a:bodyPr>
          <a:lstStyle/>
          <a:p>
            <a:pPr algn="l"/>
            <a:r>
              <a:rPr sz="1250" b="0" i="1">
                <a:solidFill>
                  <a:srgbClr val="6E7582"/>
                </a:solidFill>
                <a:latin typeface="Calibri"/>
              </a:rPr>
              <a:t>scanned page, after preparation</a:t>
            </a:r>
          </a:p>
        </p:txBody>
      </p:sp>
      <p:sp>
        <p:nvSpPr>
          <p:cNvPr id="8" name="Rounded Rectangle 7"/>
          <p:cNvSpPr/>
          <p:nvPr/>
        </p:nvSpPr>
        <p:spPr>
          <a:xfrm>
            <a:off x="4069080" y="1874519"/>
            <a:ext cx="7498079" cy="3977639"/>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600"/>
              </a:spcAft>
            </a:pPr>
            <a:r>
              <a:rPr sz="1100" b="1" i="0">
                <a:solidFill>
                  <a:srgbClr val="2E5A88"/>
                </a:solidFill>
                <a:latin typeface="Calibri"/>
              </a:rPr>
              <a:t>Markdown produced by the model</a:t>
            </a:r>
          </a:p>
          <a:p>
            <a:pPr>
              <a:spcAft>
                <a:spcPts val="100"/>
              </a:spcAft>
            </a:pPr>
            <a:r>
              <a:rPr sz="950" b="1" i="0">
                <a:solidFill>
                  <a:srgbClr val="2E5A88"/>
                </a:solidFill>
                <a:latin typeface="Consolas"/>
              </a:rPr>
              <a:t>### 2b) Routing Table</a:t>
            </a:r>
          </a:p>
          <a:p>
            <a:pPr>
              <a:spcAft>
                <a:spcPts val="100"/>
              </a:spcAft>
            </a:pPr>
            <a:r>
              <a:rPr sz="950" b="0" i="0">
                <a:solidFill>
                  <a:srgbClr val="1F242E"/>
                </a:solidFill>
                <a:latin typeface="Consolas"/>
              </a:rPr>
              <a:t> </a:t>
            </a:r>
          </a:p>
          <a:p>
            <a:pPr>
              <a:spcAft>
                <a:spcPts val="100"/>
              </a:spcAft>
            </a:pPr>
            <a:r>
              <a:rPr sz="950" b="0" i="0">
                <a:solidFill>
                  <a:srgbClr val="444C59"/>
                </a:solidFill>
                <a:latin typeface="Consolas"/>
              </a:rPr>
              <a:t>| A | A | 0 | B | E | A | 24 | D | A | 20 |</a:t>
            </a:r>
          </a:p>
          <a:p>
            <a:pPr>
              <a:spcAft>
                <a:spcPts val="100"/>
              </a:spcAft>
            </a:pPr>
            <a:r>
              <a:rPr sz="950" b="0" i="0">
                <a:solidFill>
                  <a:srgbClr val="444C59"/>
                </a:solidFill>
                <a:latin typeface="Consolas"/>
              </a:rPr>
              <a:t>|---|---|---|---|---|---|---|---|---|---|</a:t>
            </a:r>
          </a:p>
          <a:p>
            <a:pPr>
              <a:spcAft>
                <a:spcPts val="100"/>
              </a:spcAft>
            </a:pPr>
            <a:r>
              <a:rPr sz="950" b="0" i="0">
                <a:solidFill>
                  <a:srgbClr val="444C59"/>
                </a:solidFill>
                <a:latin typeface="Consolas"/>
              </a:rPr>
              <a:t>| B | 40 | [?] | B | 27 | C | 7 | [?] | B | 8 |</a:t>
            </a:r>
          </a:p>
          <a:p>
            <a:pPr>
              <a:spcAft>
                <a:spcPts val="100"/>
              </a:spcAft>
            </a:pPr>
            <a:r>
              <a:rPr sz="950" b="0" i="0">
                <a:solidFill>
                  <a:srgbClr val="444C59"/>
                </a:solidFill>
                <a:latin typeface="Consolas"/>
              </a:rPr>
              <a:t>| C | 14 | [?] | C | 7 | D | 20 | [?] | C | 30 |</a:t>
            </a:r>
          </a:p>
          <a:p>
            <a:pPr>
              <a:spcAft>
                <a:spcPts val="100"/>
              </a:spcAft>
            </a:pPr>
            <a:r>
              <a:rPr sz="950" b="0" i="0">
                <a:solidFill>
                  <a:srgbClr val="444C59"/>
                </a:solidFill>
                <a:latin typeface="Consolas"/>
              </a:rPr>
              <a:t>| D | 17 | [?] | D | 20 | E | 0 | [?] | D | 0 |</a:t>
            </a:r>
          </a:p>
          <a:p>
            <a:pPr>
              <a:spcAft>
                <a:spcPts val="100"/>
              </a:spcAft>
            </a:pPr>
            <a:r>
              <a:rPr sz="950" b="0" i="0">
                <a:solidFill>
                  <a:srgbClr val="444C59"/>
                </a:solidFill>
                <a:latin typeface="Consolas"/>
              </a:rPr>
              <a:t>| E | 21 | [?] | E | 0 | F | 11 | [?] | E | 14 |</a:t>
            </a:r>
          </a:p>
          <a:p>
            <a:pPr>
              <a:spcAft>
                <a:spcPts val="100"/>
              </a:spcAft>
            </a:pPr>
            <a:r>
              <a:rPr sz="950" b="0" i="0">
                <a:solidFill>
                  <a:srgbClr val="444C59"/>
                </a:solidFill>
                <a:latin typeface="Consolas"/>
              </a:rPr>
              <a:t>| F | 9 | [?] | F | 11 | G | 22 | [?] | F | 7 |</a:t>
            </a:r>
          </a:p>
          <a:p>
            <a:pPr>
              <a:spcAft>
                <a:spcPts val="100"/>
              </a:spcAft>
            </a:pPr>
            <a:r>
              <a:rPr sz="950" b="0" i="0">
                <a:solidFill>
                  <a:srgbClr val="444C59"/>
                </a:solidFill>
                <a:latin typeface="Consolas"/>
              </a:rPr>
              <a:t>| G | 24 | [?] | G | 22 | [?] | [?] | [?] | G | 22 |</a:t>
            </a:r>
          </a:p>
          <a:p>
            <a:pPr>
              <a:spcAft>
                <a:spcPts val="100"/>
              </a:spcAft>
            </a:pPr>
            <a:r>
              <a:rPr sz="950" b="0" i="0">
                <a:solidFill>
                  <a:srgbClr val="1F242E"/>
                </a:solidFill>
                <a:latin typeface="Consolas"/>
              </a:rPr>
              <a:t> </a:t>
            </a:r>
          </a:p>
          <a:p>
            <a:pPr>
              <a:spcAft>
                <a:spcPts val="100"/>
              </a:spcAft>
            </a:pPr>
            <a:r>
              <a:rPr sz="950" b="0" i="0">
                <a:solidFill>
                  <a:srgbClr val="444C59"/>
                </a:solidFill>
                <a:latin typeface="Consolas"/>
              </a:rPr>
              <a:t>| G | A | 21 |</a:t>
            </a:r>
          </a:p>
          <a:p>
            <a:pPr>
              <a:spcAft>
                <a:spcPts val="100"/>
              </a:spcAft>
            </a:pPr>
            <a:r>
              <a:rPr sz="950" b="0" i="0">
                <a:solidFill>
                  <a:srgbClr val="444C59"/>
                </a:solidFill>
                <a:latin typeface="Consolas"/>
              </a:rPr>
              <a:t>|---|---|---|</a:t>
            </a:r>
          </a:p>
          <a:p>
            <a:pPr>
              <a:spcAft>
                <a:spcPts val="100"/>
              </a:spcAft>
            </a:pPr>
            <a:r>
              <a:rPr sz="950" b="0" i="0">
                <a:solidFill>
                  <a:srgbClr val="444C59"/>
                </a:solidFill>
                <a:latin typeface="Consolas"/>
              </a:rPr>
              <a:t>| B | 24 |</a:t>
            </a:r>
          </a:p>
          <a:p>
            <a:pPr>
              <a:spcAft>
                <a:spcPts val="100"/>
              </a:spcAft>
            </a:pPr>
            <a:r>
              <a:rPr sz="950" b="0" i="0">
                <a:solidFill>
                  <a:srgbClr val="444C59"/>
                </a:solidFill>
                <a:latin typeface="Consolas"/>
              </a:rPr>
              <a:t>| C | 22 |</a:t>
            </a:r>
          </a:p>
          <a:p>
            <a:pPr>
              <a:spcAft>
                <a:spcPts val="100"/>
              </a:spcAft>
            </a:pPr>
            <a:r>
              <a:rPr sz="950" b="0" i="0">
                <a:solidFill>
                  <a:srgbClr val="444C59"/>
                </a:solidFill>
                <a:latin typeface="Consolas"/>
              </a:rPr>
              <a:t>| D | 14 |</a:t>
            </a:r>
          </a:p>
          <a:p>
            <a:pPr>
              <a:spcAft>
                <a:spcPts val="100"/>
              </a:spcAft>
            </a:pPr>
            <a:r>
              <a:rPr sz="950" b="0" i="0">
                <a:solidFill>
                  <a:srgbClr val="444C59"/>
                </a:solidFill>
                <a:latin typeface="Consolas"/>
              </a:rPr>
              <a:t>| E | 22 |</a:t>
            </a:r>
          </a:p>
          <a:p>
            <a:pPr>
              <a:spcAft>
                <a:spcPts val="100"/>
              </a:spcAft>
            </a:pPr>
            <a:r>
              <a:rPr sz="950" b="0" i="0">
                <a:solidFill>
                  <a:srgbClr val="444C59"/>
                </a:solidFill>
                <a:latin typeface="Consolas"/>
              </a:rPr>
              <a:t>| F | 10 |</a:t>
            </a:r>
          </a:p>
          <a:p>
            <a:pPr>
              <a:spcAft>
                <a:spcPts val="100"/>
              </a:spcAft>
            </a:pPr>
            <a:r>
              <a:rPr sz="950" b="0" i="0">
                <a:solidFill>
                  <a:srgbClr val="444C59"/>
                </a:solidFill>
                <a:latin typeface="Consolas"/>
              </a:rPr>
              <a:t>| G | 0 |</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For the F node the updated value is 8 and 20 msc.</a:t>
            </a:r>
          </a:p>
        </p:txBody>
      </p:sp>
      <p:sp>
        <p:nvSpPr>
          <p:cNvPr id="9" name="TextBox 8"/>
          <p:cNvSpPr txBox="1"/>
          <p:nvPr/>
        </p:nvSpPr>
        <p:spPr>
          <a:xfrm>
            <a:off x="4069080" y="5916168"/>
            <a:ext cx="7498079" cy="777240"/>
          </a:xfrm>
          <a:prstGeom prst="rect">
            <a:avLst/>
          </a:prstGeom>
          <a:noFill/>
        </p:spPr>
        <p:txBody>
          <a:bodyPr wrap="square" lIns="0" rIns="0" tIns="0" bIns="0">
            <a:spAutoFit/>
          </a:bodyPr>
          <a:lstStyle/>
          <a:p>
            <a:pPr algn="l">
              <a:lnSpc>
                <a:spcPct val="100000"/>
              </a:lnSpc>
              <a:spcAft>
                <a:spcPts val="200"/>
              </a:spcAft>
            </a:pPr>
            <a:r>
              <a:rPr sz="1200" b="0" i="0">
                <a:solidFill>
                  <a:srgbClr val="2D6A4F"/>
                </a:solidFill>
                <a:latin typeface="Calibri"/>
              </a:rPr>
              <a:t>▪  </a:t>
            </a:r>
            <a:r>
              <a:rPr sz="1200" b="0" i="0">
                <a:solidFill>
                  <a:srgbClr val="1F242E"/>
                </a:solidFill>
                <a:latin typeface="Calibri"/>
              </a:rPr>
              <a:t>Numbers are read correctly — the distance values are usable as data</a:t>
            </a:r>
          </a:p>
          <a:p>
            <a:pPr>
              <a:lnSpc>
                <a:spcPct val="100000"/>
              </a:lnSpc>
              <a:spcAft>
                <a:spcPts val="200"/>
              </a:spcAft>
            </a:pPr>
            <a:r>
              <a:rPr sz="1200" b="0" i="0">
                <a:solidFill>
                  <a:srgbClr val="2D6A4F"/>
                </a:solidFill>
                <a:latin typeface="Calibri"/>
              </a:rPr>
              <a:t>▪  </a:t>
            </a:r>
            <a:r>
              <a:rPr sz="1200" b="1" i="0">
                <a:solidFill>
                  <a:srgbClr val="1F242E"/>
                </a:solidFill>
                <a:latin typeface="Calibri"/>
              </a:rPr>
              <a:t>[?]</a:t>
            </a:r>
            <a:r>
              <a:rPr sz="1200" b="0" i="0">
                <a:solidFill>
                  <a:srgbClr val="1F242E"/>
                </a:solidFill>
                <a:latin typeface="Calibri"/>
              </a:rPr>
              <a:t> marks cells the model could not read. It says so instead of inventing a number</a:t>
            </a:r>
          </a:p>
          <a:p>
            <a:pPr>
              <a:lnSpc>
                <a:spcPct val="100000"/>
              </a:lnSpc>
              <a:spcAft>
                <a:spcPts val="200"/>
              </a:spcAft>
            </a:pPr>
            <a:r>
              <a:rPr sz="1200" b="0" i="0">
                <a:solidFill>
                  <a:srgbClr val="B26B0F"/>
                </a:solidFill>
                <a:latin typeface="Calibri"/>
              </a:rPr>
              <a:t>▪  </a:t>
            </a:r>
            <a:r>
              <a:rPr sz="1200" b="0" i="0">
                <a:solidFill>
                  <a:srgbClr val="1F242E"/>
                </a:solidFill>
                <a:latin typeface="Calibri"/>
              </a:rPr>
              <a:t>Four separate tables on the page are run together into two — column alignment is the weakest part of the output</a:t>
            </a:r>
          </a:p>
        </p:txBody>
      </p:sp>
      <p:sp>
        <p:nvSpPr>
          <p:cNvPr id="10" name="Rounded Rectangle 9"/>
          <p:cNvSpPr/>
          <p:nvPr/>
        </p:nvSpPr>
        <p:spPr>
          <a:xfrm>
            <a:off x="9646920" y="475488"/>
            <a:ext cx="1920240" cy="38404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i="0">
                <a:solidFill>
                  <a:srgbClr val="FFFFFF"/>
                </a:solidFill>
                <a:latin typeface="Calibri"/>
              </a:rPr>
              <a:t>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Example 4 — A page with a diagram</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14</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An ARP exchange: prose, a drawing and a packet table on one page.</a:t>
            </a:r>
          </a:p>
        </p:txBody>
      </p:sp>
      <p:pic>
        <p:nvPicPr>
          <p:cNvPr id="6" name="Picture 5" descr="s01_arp.png"/>
          <p:cNvPicPr>
            <a:picLocks noChangeAspect="1"/>
          </p:cNvPicPr>
          <p:nvPr/>
        </p:nvPicPr>
        <p:blipFill>
          <a:blip r:embed="rId2"/>
          <a:stretch>
            <a:fillRect/>
          </a:stretch>
        </p:blipFill>
        <p:spPr>
          <a:xfrm>
            <a:off x="640080" y="1874519"/>
            <a:ext cx="2923795" cy="3977639"/>
          </a:xfrm>
          <a:prstGeom prst="rect">
            <a:avLst/>
          </a:prstGeom>
        </p:spPr>
      </p:pic>
      <p:sp>
        <p:nvSpPr>
          <p:cNvPr id="7" name="TextBox 6"/>
          <p:cNvSpPr txBox="1"/>
          <p:nvPr/>
        </p:nvSpPr>
        <p:spPr>
          <a:xfrm>
            <a:off x="640080" y="5916168"/>
            <a:ext cx="3657600" cy="292608"/>
          </a:xfrm>
          <a:prstGeom prst="rect">
            <a:avLst/>
          </a:prstGeom>
          <a:noFill/>
        </p:spPr>
        <p:txBody>
          <a:bodyPr wrap="square" lIns="0" rIns="0" tIns="0" bIns="0">
            <a:spAutoFit/>
          </a:bodyPr>
          <a:lstStyle/>
          <a:p>
            <a:pPr algn="l"/>
            <a:r>
              <a:rPr sz="1250" b="0" i="1">
                <a:solidFill>
                  <a:srgbClr val="6E7582"/>
                </a:solidFill>
                <a:latin typeface="Calibri"/>
              </a:rPr>
              <a:t>scanned page, after preparation</a:t>
            </a:r>
          </a:p>
        </p:txBody>
      </p:sp>
      <p:sp>
        <p:nvSpPr>
          <p:cNvPr id="8" name="Rounded Rectangle 7"/>
          <p:cNvSpPr/>
          <p:nvPr/>
        </p:nvSpPr>
        <p:spPr>
          <a:xfrm>
            <a:off x="4069080" y="1874519"/>
            <a:ext cx="7498079" cy="3977639"/>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600"/>
              </a:spcAft>
            </a:pPr>
            <a:r>
              <a:rPr sz="1100" b="1" i="0">
                <a:solidFill>
                  <a:srgbClr val="2E5A88"/>
                </a:solidFill>
                <a:latin typeface="Calibri"/>
              </a:rPr>
              <a:t>Markdown produced by the model</a:t>
            </a:r>
          </a:p>
          <a:p>
            <a:pPr>
              <a:spcAft>
                <a:spcPts val="100"/>
              </a:spcAft>
            </a:pPr>
            <a:r>
              <a:rPr sz="950" b="1" i="0">
                <a:solidFill>
                  <a:srgbClr val="2E5A88"/>
                </a:solidFill>
                <a:latin typeface="Consolas"/>
              </a:rPr>
              <a:t>### 2a)</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ARP (address resolution protocol) packet is sent</a:t>
            </a:r>
          </a:p>
          <a:p>
            <a:pPr>
              <a:spcAft>
                <a:spcPts val="100"/>
              </a:spcAft>
            </a:pPr>
            <a:r>
              <a:rPr sz="950" b="0" i="0">
                <a:solidFill>
                  <a:srgbClr val="1F242E"/>
                </a:solidFill>
                <a:latin typeface="Consolas"/>
              </a:rPr>
              <a:t>to initiate transmission i.e. to fetch L2 the MAC</a:t>
            </a:r>
          </a:p>
          <a:p>
            <a:pPr>
              <a:spcAft>
                <a:spcPts val="100"/>
              </a:spcAft>
            </a:pPr>
            <a:r>
              <a:rPr sz="950" b="0" i="0">
                <a:solidFill>
                  <a:srgbClr val="1F242E"/>
                </a:solidFill>
                <a:latin typeface="Consolas"/>
              </a:rPr>
              <a:t>address of Host B.</a:t>
            </a:r>
          </a:p>
          <a:p>
            <a:pPr>
              <a:spcAft>
                <a:spcPts val="100"/>
              </a:spcAft>
            </a:pPr>
            <a:r>
              <a:rPr sz="950" b="0" i="0">
                <a:solidFill>
                  <a:srgbClr val="1F242E"/>
                </a:solidFill>
                <a:latin typeface="Consolas"/>
              </a:rPr>
              <a:t> </a:t>
            </a:r>
          </a:p>
          <a:p>
            <a:pPr>
              <a:spcAft>
                <a:spcPts val="100"/>
              </a:spcAft>
            </a:pPr>
            <a:r>
              <a:rPr sz="950" b="0" i="0">
                <a:solidFill>
                  <a:srgbClr val="B26B0F"/>
                </a:solidFill>
                <a:latin typeface="Consolas"/>
              </a:rPr>
              <a:t>![diagram: ARP packet diagram]</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Host A request Host B</a:t>
            </a:r>
          </a:p>
          <a:p>
            <a:pPr>
              <a:spcAft>
                <a:spcPts val="100"/>
              </a:spcAft>
            </a:pPr>
            <a:r>
              <a:rPr sz="950" b="0" i="0">
                <a:solidFill>
                  <a:srgbClr val="1F242E"/>
                </a:solidFill>
                <a:latin typeface="Consolas"/>
              </a:rPr>
              <a:t>Request sent by Host A ARP packet</a:t>
            </a:r>
          </a:p>
          <a:p>
            <a:pPr>
              <a:spcAft>
                <a:spcPts val="100"/>
              </a:spcAft>
            </a:pPr>
            <a:r>
              <a:rPr sz="950" b="0" i="0">
                <a:solidFill>
                  <a:srgbClr val="1F242E"/>
                </a:solidFill>
                <a:latin typeface="Consolas"/>
              </a:rPr>
              <a:t>L1 L0 N1 N2 data payload</a:t>
            </a:r>
          </a:p>
          <a:p>
            <a:pPr>
              <a:spcAft>
                <a:spcPts val="100"/>
              </a:spcAft>
            </a:pPr>
            <a:r>
              <a:rPr sz="950" b="0" i="0">
                <a:solidFill>
                  <a:srgbClr val="1F242E"/>
                </a:solidFill>
                <a:latin typeface="Consolas"/>
              </a:rPr>
              <a:t> </a:t>
            </a:r>
          </a:p>
          <a:p>
            <a:pPr>
              <a:spcAft>
                <a:spcPts val="100"/>
              </a:spcAft>
            </a:pPr>
            <a:r>
              <a:rPr sz="950" b="0" i="0">
                <a:solidFill>
                  <a:srgbClr val="444C59"/>
                </a:solidFill>
                <a:latin typeface="Consolas"/>
              </a:rPr>
              <a:t>| 0x0001 | 0x0800 |</a:t>
            </a:r>
          </a:p>
          <a:p>
            <a:pPr>
              <a:spcAft>
                <a:spcPts val="100"/>
              </a:spcAft>
            </a:pPr>
            <a:r>
              <a:rPr sz="950" b="0" i="0">
                <a:solidFill>
                  <a:srgbClr val="444C59"/>
                </a:solidFill>
                <a:latin typeface="Consolas"/>
              </a:rPr>
              <a:t>| --- | --- |</a:t>
            </a:r>
          </a:p>
          <a:p>
            <a:pPr>
              <a:spcAft>
                <a:spcPts val="100"/>
              </a:spcAft>
            </a:pPr>
            <a:r>
              <a:rPr sz="950" b="0" i="0">
                <a:solidFill>
                  <a:srgbClr val="444C59"/>
                </a:solidFill>
                <a:latin typeface="Consolas"/>
              </a:rPr>
              <a:t>| Hardware length | Operation |</a:t>
            </a:r>
          </a:p>
          <a:p>
            <a:pPr>
              <a:spcAft>
                <a:spcPts val="100"/>
              </a:spcAft>
            </a:pPr>
            <a:r>
              <a:rPr sz="950" b="0" i="0">
                <a:solidFill>
                  <a:srgbClr val="444C59"/>
                </a:solidFill>
                <a:latin typeface="Consolas"/>
              </a:rPr>
              <a:t>| L1 | Source hardware address (network) |</a:t>
            </a:r>
          </a:p>
          <a:p>
            <a:pPr>
              <a:spcAft>
                <a:spcPts val="100"/>
              </a:spcAft>
            </a:pPr>
            <a:r>
              <a:rPr sz="950" b="0" i="0">
                <a:solidFill>
                  <a:srgbClr val="444C59"/>
                </a:solidFill>
                <a:latin typeface="Consolas"/>
              </a:rPr>
              <a:t>| N1 | Source protocol address |</a:t>
            </a:r>
          </a:p>
          <a:p>
            <a:pPr>
              <a:spcAft>
                <a:spcPts val="100"/>
              </a:spcAft>
            </a:pPr>
            <a:r>
              <a:rPr sz="950" b="0" i="0">
                <a:solidFill>
                  <a:srgbClr val="444C59"/>
                </a:solidFill>
                <a:latin typeface="Consolas"/>
              </a:rPr>
              <a:t>| L2 (empty) | Destination hardware address |</a:t>
            </a:r>
          </a:p>
          <a:p>
            <a:pPr>
              <a:spcAft>
                <a:spcPts val="100"/>
              </a:spcAft>
            </a:pPr>
            <a:r>
              <a:rPr sz="950" b="0" i="0">
                <a:solidFill>
                  <a:srgbClr val="444C59"/>
                </a:solidFill>
                <a:latin typeface="Consolas"/>
              </a:rPr>
              <a:t>| N2 | Destination protocol address |</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Sent from Host A to Host B contents of request</a:t>
            </a:r>
          </a:p>
          <a:p>
            <a:pPr>
              <a:spcAft>
                <a:spcPts val="100"/>
              </a:spcAft>
            </a:pPr>
            <a:r>
              <a:rPr sz="950" b="0" i="0">
                <a:solidFill>
                  <a:srgbClr val="1F242E"/>
                </a:solidFill>
                <a:latin typeface="Consolas"/>
              </a:rPr>
              <a:t>protocol</a:t>
            </a:r>
          </a:p>
        </p:txBody>
      </p:sp>
      <p:sp>
        <p:nvSpPr>
          <p:cNvPr id="9" name="TextBox 8"/>
          <p:cNvSpPr txBox="1"/>
          <p:nvPr/>
        </p:nvSpPr>
        <p:spPr>
          <a:xfrm>
            <a:off x="4069080" y="5916168"/>
            <a:ext cx="7498079" cy="777240"/>
          </a:xfrm>
          <a:prstGeom prst="rect">
            <a:avLst/>
          </a:prstGeom>
          <a:noFill/>
        </p:spPr>
        <p:txBody>
          <a:bodyPr wrap="square" lIns="0" rIns="0" tIns="0" bIns="0">
            <a:spAutoFit/>
          </a:bodyPr>
          <a:lstStyle/>
          <a:p>
            <a:pPr algn="l">
              <a:lnSpc>
                <a:spcPct val="100000"/>
              </a:lnSpc>
              <a:spcAft>
                <a:spcPts val="200"/>
              </a:spcAft>
            </a:pPr>
            <a:r>
              <a:rPr sz="1200" b="0" i="0">
                <a:solidFill>
                  <a:srgbClr val="2D6A4F"/>
                </a:solidFill>
                <a:latin typeface="Calibri"/>
              </a:rPr>
              <a:t>▪  </a:t>
            </a:r>
            <a:r>
              <a:rPr sz="1200" b="0" i="0">
                <a:solidFill>
                  <a:srgbClr val="1F242E"/>
                </a:solidFill>
                <a:latin typeface="Calibri"/>
              </a:rPr>
              <a:t>The </a:t>
            </a:r>
            <a:r>
              <a:rPr sz="1200" b="1" i="0">
                <a:solidFill>
                  <a:srgbClr val="1F242E"/>
                </a:solidFill>
                <a:latin typeface="Calibri"/>
              </a:rPr>
              <a:t>![diagram: …]</a:t>
            </a:r>
            <a:r>
              <a:rPr sz="1200" b="0" i="0">
                <a:solidFill>
                  <a:srgbClr val="1F242E"/>
                </a:solidFill>
                <a:latin typeface="Calibri"/>
              </a:rPr>
              <a:t> marker records that a drawing sits here, and where in the reading order it belongs</a:t>
            </a:r>
          </a:p>
          <a:p>
            <a:pPr>
              <a:lnSpc>
                <a:spcPct val="100000"/>
              </a:lnSpc>
              <a:spcAft>
                <a:spcPts val="200"/>
              </a:spcAft>
            </a:pPr>
            <a:r>
              <a:rPr sz="1200" b="0" i="0">
                <a:solidFill>
                  <a:srgbClr val="2D6A4F"/>
                </a:solidFill>
                <a:latin typeface="Calibri"/>
              </a:rPr>
              <a:t>▪  </a:t>
            </a:r>
            <a:r>
              <a:rPr sz="1200" b="0" i="0">
                <a:solidFill>
                  <a:srgbClr val="1F242E"/>
                </a:solidFill>
                <a:latin typeface="Calibri"/>
              </a:rPr>
              <a:t>Prose, drawing and table on one page are each handled differently, in the order the student wrote them</a:t>
            </a:r>
          </a:p>
        </p:txBody>
      </p:sp>
      <p:sp>
        <p:nvSpPr>
          <p:cNvPr id="10" name="Rounded Rectangle 9"/>
          <p:cNvSpPr/>
          <p:nvPr/>
        </p:nvSpPr>
        <p:spPr>
          <a:xfrm>
            <a:off x="9646920" y="475488"/>
            <a:ext cx="1920240" cy="384048"/>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i="0">
                <a:solidFill>
                  <a:srgbClr val="FFFFFF"/>
                </a:solidFill>
                <a:latin typeface="Calibri"/>
              </a:rPr>
              <a:t>DIAGRAM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Example 5 — Difficult handwriting</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15</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Cramped, uneven writing with worked calculation. This is the hard end of the corpus.</a:t>
            </a:r>
          </a:p>
        </p:txBody>
      </p:sp>
      <p:pic>
        <p:nvPicPr>
          <p:cNvPr id="6" name="Picture 5" descr="s25_messy.png"/>
          <p:cNvPicPr>
            <a:picLocks noChangeAspect="1"/>
          </p:cNvPicPr>
          <p:nvPr/>
        </p:nvPicPr>
        <p:blipFill>
          <a:blip r:embed="rId2"/>
          <a:stretch>
            <a:fillRect/>
          </a:stretch>
        </p:blipFill>
        <p:spPr>
          <a:xfrm>
            <a:off x="640080" y="1874519"/>
            <a:ext cx="2923795" cy="3977639"/>
          </a:xfrm>
          <a:prstGeom prst="rect">
            <a:avLst/>
          </a:prstGeom>
        </p:spPr>
      </p:pic>
      <p:sp>
        <p:nvSpPr>
          <p:cNvPr id="7" name="TextBox 6"/>
          <p:cNvSpPr txBox="1"/>
          <p:nvPr/>
        </p:nvSpPr>
        <p:spPr>
          <a:xfrm>
            <a:off x="640080" y="5916168"/>
            <a:ext cx="3657600" cy="292608"/>
          </a:xfrm>
          <a:prstGeom prst="rect">
            <a:avLst/>
          </a:prstGeom>
          <a:noFill/>
        </p:spPr>
        <p:txBody>
          <a:bodyPr wrap="square" lIns="0" rIns="0" tIns="0" bIns="0">
            <a:spAutoFit/>
          </a:bodyPr>
          <a:lstStyle/>
          <a:p>
            <a:pPr algn="l"/>
            <a:r>
              <a:rPr sz="1250" b="0" i="1">
                <a:solidFill>
                  <a:srgbClr val="6E7582"/>
                </a:solidFill>
                <a:latin typeface="Calibri"/>
              </a:rPr>
              <a:t>scanned page, after preparation</a:t>
            </a:r>
          </a:p>
        </p:txBody>
      </p:sp>
      <p:sp>
        <p:nvSpPr>
          <p:cNvPr id="8" name="Rounded Rectangle 7"/>
          <p:cNvSpPr/>
          <p:nvPr/>
        </p:nvSpPr>
        <p:spPr>
          <a:xfrm>
            <a:off x="4069080" y="1874519"/>
            <a:ext cx="7498079" cy="3977639"/>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600"/>
              </a:spcAft>
            </a:pPr>
            <a:r>
              <a:rPr sz="1100" b="1" i="0">
                <a:solidFill>
                  <a:srgbClr val="2E5A88"/>
                </a:solidFill>
                <a:latin typeface="Calibri"/>
              </a:rPr>
              <a:t>Markdown produced by the model</a:t>
            </a:r>
          </a:p>
          <a:p>
            <a:pPr>
              <a:spcAft>
                <a:spcPts val="100"/>
              </a:spcAft>
            </a:pPr>
            <a:r>
              <a:rPr sz="950" b="1" i="0">
                <a:solidFill>
                  <a:srgbClr val="2E5A88"/>
                </a:solidFill>
                <a:latin typeface="Consolas"/>
              </a:rPr>
              <a:t>### A re at t3.</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The stations detect the line by</a:t>
            </a:r>
          </a:p>
          <a:p>
            <a:pPr>
              <a:spcAft>
                <a:spcPts val="100"/>
              </a:spcAft>
            </a:pPr>
            <a:r>
              <a:rPr sz="950" b="0" i="0">
                <a:solidFill>
                  <a:srgbClr val="1F242E"/>
                </a:solidFill>
                <a:latin typeface="Consolas"/>
              </a:rPr>
              <a:t>- 0 Energy → the line is idle.</a:t>
            </a:r>
          </a:p>
          <a:p>
            <a:pPr>
              <a:spcAft>
                <a:spcPts val="100"/>
              </a:spcAft>
            </a:pPr>
            <a:r>
              <a:rPr sz="950" b="0" i="0">
                <a:solidFill>
                  <a:srgbClr val="1F242E"/>
                </a:solidFill>
                <a:latin typeface="Consolas"/>
              </a:rPr>
              <a:t>- Energy → the signal is getting transmitted.</a:t>
            </a:r>
          </a:p>
          <a:p>
            <a:pPr>
              <a:spcAft>
                <a:spcPts val="100"/>
              </a:spcAft>
            </a:pPr>
            <a:r>
              <a:rPr sz="950" b="0" i="0">
                <a:solidFill>
                  <a:srgbClr val="1F242E"/>
                </a:solidFill>
                <a:latin typeface="Consolas"/>
              </a:rPr>
              <a:t>- Low Energy or High Energy → multiple stations</a:t>
            </a:r>
          </a:p>
          <a:p>
            <a:pPr>
              <a:spcAft>
                <a:spcPts val="100"/>
              </a:spcAft>
            </a:pPr>
            <a:r>
              <a:rPr sz="950" b="0" i="0">
                <a:solidFill>
                  <a:srgbClr val="1F242E"/>
                </a:solidFill>
                <a:latin typeface="Consolas"/>
              </a:rPr>
              <a:t>  are transmitting ie Collision.</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ii) distance = 2000 m</a:t>
            </a:r>
          </a:p>
          <a:p>
            <a:pPr>
              <a:spcAft>
                <a:spcPts val="100"/>
              </a:spcAft>
            </a:pPr>
            <a:r>
              <a:rPr sz="950" b="0" i="0">
                <a:solidFill>
                  <a:srgbClr val="1F242E"/>
                </a:solidFill>
                <a:latin typeface="Consolas"/>
              </a:rPr>
              <a:t>propagation speed = 2 x 10^8 m/s.</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f_p, propagation time = distance / speed.</a:t>
            </a:r>
          </a:p>
          <a:p>
            <a:pPr>
              <a:spcAft>
                <a:spcPts val="100"/>
              </a:spcAft>
            </a:pPr>
            <a:r>
              <a:rPr sz="950" b="0" i="0">
                <a:solidFill>
                  <a:srgbClr val="1F242E"/>
                </a:solidFill>
                <a:latin typeface="Consolas"/>
              </a:rPr>
              <a:t>        = 2000 / (2 x 10^8)</a:t>
            </a:r>
          </a:p>
          <a:p>
            <a:pPr>
              <a:spcAft>
                <a:spcPts val="100"/>
              </a:spcAft>
            </a:pPr>
            <a:r>
              <a:rPr sz="950" b="0" i="0">
                <a:solidFill>
                  <a:srgbClr val="1F242E"/>
                </a:solidFill>
                <a:latin typeface="Consolas"/>
              </a:rPr>
              <a:t>        = 10 x 10^-6 sec.   = 10 μs.</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a) Station B starts from waiting at t1 + 8 μs</a:t>
            </a:r>
          </a:p>
          <a:p>
            <a:pPr>
              <a:spcAft>
                <a:spcPts val="100"/>
              </a:spcAft>
            </a:pPr>
            <a:r>
              <a:rPr sz="950" b="0" i="0">
                <a:solidFill>
                  <a:srgbClr val="1F242E"/>
                </a:solidFill>
                <a:latin typeface="Consolas"/>
              </a:rPr>
              <a:t>It is not possible as the propagation time of</a:t>
            </a:r>
          </a:p>
          <a:p>
            <a:pPr>
              <a:spcAft>
                <a:spcPts val="100"/>
              </a:spcAft>
            </a:pPr>
            <a:r>
              <a:rPr sz="950" b="0" i="0">
                <a:solidFill>
                  <a:srgbClr val="1F242E"/>
                </a:solidFill>
                <a:latin typeface="Consolas"/>
              </a:rPr>
              <a:t>station A is 10 μs, so the line will be active</a:t>
            </a:r>
          </a:p>
          <a:p>
            <a:pPr>
              <a:spcAft>
                <a:spcPts val="100"/>
              </a:spcAft>
            </a:pPr>
            <a:r>
              <a:rPr sz="950" b="0" i="0">
                <a:solidFill>
                  <a:srgbClr val="1F242E"/>
                </a:solidFill>
                <a:latin typeface="Consolas"/>
              </a:rPr>
              <a:t>till t1 + 10 μs</a:t>
            </a:r>
          </a:p>
        </p:txBody>
      </p:sp>
      <p:sp>
        <p:nvSpPr>
          <p:cNvPr id="9" name="TextBox 8"/>
          <p:cNvSpPr txBox="1"/>
          <p:nvPr/>
        </p:nvSpPr>
        <p:spPr>
          <a:xfrm>
            <a:off x="4069080" y="5916168"/>
            <a:ext cx="7498079" cy="777240"/>
          </a:xfrm>
          <a:prstGeom prst="rect">
            <a:avLst/>
          </a:prstGeom>
          <a:noFill/>
        </p:spPr>
        <p:txBody>
          <a:bodyPr wrap="square" lIns="0" rIns="0" tIns="0" bIns="0">
            <a:spAutoFit/>
          </a:bodyPr>
          <a:lstStyle/>
          <a:p>
            <a:pPr algn="l">
              <a:lnSpc>
                <a:spcPct val="100000"/>
              </a:lnSpc>
              <a:spcAft>
                <a:spcPts val="200"/>
              </a:spcAft>
            </a:pPr>
            <a:r>
              <a:rPr sz="1200" b="0" i="0">
                <a:solidFill>
                  <a:srgbClr val="2D6A4F"/>
                </a:solidFill>
                <a:latin typeface="Calibri"/>
              </a:rPr>
              <a:t>▪  </a:t>
            </a:r>
            <a:r>
              <a:rPr sz="1200" b="0" i="0">
                <a:solidFill>
                  <a:srgbClr val="1F242E"/>
                </a:solidFill>
                <a:latin typeface="Calibri"/>
              </a:rPr>
              <a:t>The physics is read correctly — </a:t>
            </a:r>
            <a:r>
              <a:rPr sz="1200" b="1" i="0">
                <a:solidFill>
                  <a:srgbClr val="1F242E"/>
                </a:solidFill>
                <a:latin typeface="Calibri"/>
              </a:rPr>
              <a:t>2000 m</a:t>
            </a:r>
            <a:r>
              <a:rPr sz="1200" b="0" i="0">
                <a:solidFill>
                  <a:srgbClr val="1F242E"/>
                </a:solidFill>
                <a:latin typeface="Calibri"/>
              </a:rPr>
              <a:t>, </a:t>
            </a:r>
            <a:r>
              <a:rPr sz="1200" b="1" i="0">
                <a:solidFill>
                  <a:srgbClr val="1F242E"/>
                </a:solidFill>
                <a:latin typeface="Calibri"/>
              </a:rPr>
              <a:t>2 × 10⁸ m/s</a:t>
            </a:r>
            <a:r>
              <a:rPr sz="1200" b="0" i="0">
                <a:solidFill>
                  <a:srgbClr val="1F242E"/>
                </a:solidFill>
                <a:latin typeface="Calibri"/>
              </a:rPr>
              <a:t>, </a:t>
            </a:r>
            <a:r>
              <a:rPr sz="1200" b="1" i="0">
                <a:solidFill>
                  <a:srgbClr val="1F242E"/>
                </a:solidFill>
                <a:latin typeface="Calibri"/>
              </a:rPr>
              <a:t>10 μs</a:t>
            </a:r>
            <a:r>
              <a:rPr sz="1200" b="0" i="0">
                <a:solidFill>
                  <a:srgbClr val="1F242E"/>
                </a:solidFill>
                <a:latin typeface="Calibri"/>
              </a:rPr>
              <a:t> all survive, including the Greek mu</a:t>
            </a:r>
          </a:p>
          <a:p>
            <a:pPr>
              <a:lnSpc>
                <a:spcPct val="100000"/>
              </a:lnSpc>
              <a:spcAft>
                <a:spcPts val="200"/>
              </a:spcAft>
            </a:pPr>
            <a:r>
              <a:rPr sz="1200" b="0" i="0">
                <a:solidFill>
                  <a:srgbClr val="9B2C2C"/>
                </a:solidFill>
                <a:latin typeface="Calibri"/>
              </a:rPr>
              <a:t>▪  </a:t>
            </a:r>
            <a:r>
              <a:rPr sz="1200" b="0" i="0">
                <a:solidFill>
                  <a:srgbClr val="1F242E"/>
                </a:solidFill>
                <a:latin typeface="Calibri"/>
              </a:rPr>
              <a:t>The heading is wrong: </a:t>
            </a:r>
            <a:r>
              <a:rPr sz="1200" b="1" i="0">
                <a:solidFill>
                  <a:srgbClr val="1F242E"/>
                </a:solidFill>
                <a:latin typeface="Calibri"/>
              </a:rPr>
              <a:t>“A re at t3”</a:t>
            </a:r>
            <a:r>
              <a:rPr sz="1200" b="0" i="0">
                <a:solidFill>
                  <a:srgbClr val="1F242E"/>
                </a:solidFill>
                <a:latin typeface="Calibri"/>
              </a:rPr>
              <a:t> is not a question number. The page opens mid-answer, so there was none to find</a:t>
            </a:r>
          </a:p>
        </p:txBody>
      </p:sp>
      <p:sp>
        <p:nvSpPr>
          <p:cNvPr id="10" name="Rounded Rectangle 9"/>
          <p:cNvSpPr/>
          <p:nvPr/>
        </p:nvSpPr>
        <p:spPr>
          <a:xfrm>
            <a:off x="9646920" y="475488"/>
            <a:ext cx="1920240" cy="384048"/>
          </a:xfrm>
          <a:prstGeom prst="roundRect">
            <a:avLst/>
          </a:prstGeom>
          <a:solidFill>
            <a:srgbClr val="B26B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i="0">
                <a:solidFill>
                  <a:srgbClr val="FFFFFF"/>
                </a:solidFill>
                <a:latin typeface="Calibri"/>
              </a:rPr>
              <a:t>MESSY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Example 6 — Where it still fails</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16</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 DNS hierarchy drawn as labelled ellipses joined by lines.</a:t>
            </a:r>
          </a:p>
        </p:txBody>
      </p:sp>
      <p:pic>
        <p:nvPicPr>
          <p:cNvPr id="6" name="Picture 5" descr="s19_tree.png"/>
          <p:cNvPicPr>
            <a:picLocks noChangeAspect="1"/>
          </p:cNvPicPr>
          <p:nvPr/>
        </p:nvPicPr>
        <p:blipFill>
          <a:blip r:embed="rId2"/>
          <a:stretch>
            <a:fillRect/>
          </a:stretch>
        </p:blipFill>
        <p:spPr>
          <a:xfrm>
            <a:off x="640080" y="1874519"/>
            <a:ext cx="2923795" cy="3977639"/>
          </a:xfrm>
          <a:prstGeom prst="rect">
            <a:avLst/>
          </a:prstGeom>
        </p:spPr>
      </p:pic>
      <p:sp>
        <p:nvSpPr>
          <p:cNvPr id="7" name="TextBox 6"/>
          <p:cNvSpPr txBox="1"/>
          <p:nvPr/>
        </p:nvSpPr>
        <p:spPr>
          <a:xfrm>
            <a:off x="640080" y="5916168"/>
            <a:ext cx="3657600" cy="292608"/>
          </a:xfrm>
          <a:prstGeom prst="rect">
            <a:avLst/>
          </a:prstGeom>
          <a:noFill/>
        </p:spPr>
        <p:txBody>
          <a:bodyPr wrap="square" lIns="0" rIns="0" tIns="0" bIns="0">
            <a:spAutoFit/>
          </a:bodyPr>
          <a:lstStyle/>
          <a:p>
            <a:pPr algn="l"/>
            <a:r>
              <a:rPr sz="1250" b="0" i="1">
                <a:solidFill>
                  <a:srgbClr val="6E7582"/>
                </a:solidFill>
                <a:latin typeface="Calibri"/>
              </a:rPr>
              <a:t>scanned page, after preparation</a:t>
            </a:r>
          </a:p>
        </p:txBody>
      </p:sp>
      <p:sp>
        <p:nvSpPr>
          <p:cNvPr id="8" name="Rounded Rectangle 7"/>
          <p:cNvSpPr/>
          <p:nvPr/>
        </p:nvSpPr>
        <p:spPr>
          <a:xfrm>
            <a:off x="4069080" y="1874519"/>
            <a:ext cx="7498079" cy="3977639"/>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600"/>
              </a:spcAft>
            </a:pPr>
            <a:r>
              <a:rPr sz="1100" b="1" i="0">
                <a:solidFill>
                  <a:srgbClr val="2E5A88"/>
                </a:solidFill>
                <a:latin typeface="Calibri"/>
              </a:rPr>
              <a:t>Markdown produced by the model</a:t>
            </a:r>
          </a:p>
          <a:p>
            <a:pPr>
              <a:spcAft>
                <a:spcPts val="100"/>
              </a:spcAft>
            </a:pPr>
            <a:r>
              <a:rPr sz="950" b="1" i="0">
                <a:solidFill>
                  <a:srgbClr val="2E5A88"/>
                </a:solidFill>
                <a:latin typeface="Consolas"/>
              </a:rPr>
              <a:t>### 2b)</a:t>
            </a:r>
          </a:p>
          <a:p>
            <a:pPr>
              <a:spcAft>
                <a:spcPts val="100"/>
              </a:spcAft>
            </a:pPr>
            <a:r>
              <a:rPr sz="950" b="0" i="0">
                <a:solidFill>
                  <a:srgbClr val="1F242E"/>
                </a:solidFill>
                <a:latin typeface="Consolas"/>
              </a:rPr>
              <a:t> </a:t>
            </a:r>
          </a:p>
          <a:p>
            <a:pPr>
              <a:spcAft>
                <a:spcPts val="100"/>
              </a:spcAft>
            </a:pPr>
            <a:r>
              <a:rPr sz="950" b="0" i="0">
                <a:solidFill>
                  <a:srgbClr val="444C59"/>
                </a:solidFill>
                <a:latin typeface="Consolas"/>
              </a:rPr>
              <a:t>| root |</a:t>
            </a:r>
          </a:p>
          <a:p>
            <a:pPr>
              <a:spcAft>
                <a:spcPts val="100"/>
              </a:spcAft>
            </a:pPr>
            <a:r>
              <a:rPr sz="950" b="0" i="0">
                <a:solidFill>
                  <a:srgbClr val="444C59"/>
                </a:solidFill>
                <a:latin typeface="Consolas"/>
              </a:rPr>
              <a:t>| --- |</a:t>
            </a:r>
          </a:p>
          <a:p>
            <a:pPr>
              <a:spcAft>
                <a:spcPts val="100"/>
              </a:spcAft>
            </a:pPr>
            <a:r>
              <a:rPr sz="950" b="0" i="0">
                <a:solidFill>
                  <a:srgbClr val="444C59"/>
                </a:solidFill>
                <a:latin typeface="Consolas"/>
              </a:rPr>
              <a:t>| .com |</a:t>
            </a:r>
          </a:p>
          <a:p>
            <a:pPr>
              <a:spcAft>
                <a:spcPts val="100"/>
              </a:spcAft>
            </a:pPr>
            <a:r>
              <a:rPr sz="950" b="0" i="0">
                <a:solidFill>
                  <a:srgbClr val="444C59"/>
                </a:solidFill>
                <a:latin typeface="Consolas"/>
              </a:rPr>
              <a:t>| .edu |</a:t>
            </a:r>
          </a:p>
          <a:p>
            <a:pPr>
              <a:spcAft>
                <a:spcPts val="100"/>
              </a:spcAft>
            </a:pPr>
            <a:r>
              <a:rPr sz="950" b="0" i="0">
                <a:solidFill>
                  <a:srgbClr val="444C59"/>
                </a:solidFill>
                <a:latin typeface="Consolas"/>
              </a:rPr>
              <a:t>| .gov |</a:t>
            </a:r>
          </a:p>
          <a:p>
            <a:pPr>
              <a:spcAft>
                <a:spcPts val="100"/>
              </a:spcAft>
            </a:pPr>
            <a:r>
              <a:rPr sz="950" b="0" i="0">
                <a:solidFill>
                  <a:srgbClr val="444C59"/>
                </a:solidFill>
                <a:latin typeface="Consolas"/>
              </a:rPr>
              <a:t>| common |</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The whole DNS process happens as follows:</a:t>
            </a:r>
          </a:p>
          <a:p>
            <a:pPr>
              <a:spcAft>
                <a:spcPts val="100"/>
              </a:spcAft>
            </a:pPr>
            <a:r>
              <a:rPr sz="950" b="0" i="0">
                <a:solidFill>
                  <a:srgbClr val="1F242E"/>
                </a:solidFill>
                <a:latin typeface="Consolas"/>
              </a:rPr>
              <a:t>* First the DNS server fetches the domain name</a:t>
            </a:r>
          </a:p>
          <a:p>
            <a:pPr>
              <a:spcAft>
                <a:spcPts val="100"/>
              </a:spcAft>
            </a:pPr>
            <a:r>
              <a:rPr sz="950" b="0" i="0">
                <a:solidFill>
                  <a:srgbClr val="1F242E"/>
                </a:solidFill>
                <a:latin typeface="Consolas"/>
              </a:rPr>
              <a:t>  using DNS tree.</a:t>
            </a:r>
          </a:p>
          <a:p>
            <a:pPr>
              <a:spcAft>
                <a:spcPts val="100"/>
              </a:spcAft>
            </a:pPr>
            <a:r>
              <a:rPr sz="950" b="0" i="0">
                <a:solidFill>
                  <a:srgbClr val="1F242E"/>
                </a:solidFill>
                <a:latin typeface="Consolas"/>
              </a:rPr>
              <a:t>* Then it sends a DNS query in the prescribed</a:t>
            </a:r>
          </a:p>
          <a:p>
            <a:pPr>
              <a:spcAft>
                <a:spcPts val="100"/>
              </a:spcAft>
            </a:pPr>
            <a:r>
              <a:rPr sz="950" b="0" i="0">
                <a:solidFill>
                  <a:srgbClr val="1F242E"/>
                </a:solidFill>
                <a:latin typeface="Consolas"/>
              </a:rPr>
              <a:t>  format and get IP address as response.</a:t>
            </a:r>
          </a:p>
          <a:p>
            <a:pPr>
              <a:spcAft>
                <a:spcPts val="100"/>
              </a:spcAft>
            </a:pPr>
            <a:r>
              <a:rPr sz="950" b="0" i="0">
                <a:solidFill>
                  <a:srgbClr val="1F242E"/>
                </a:solidFill>
                <a:latin typeface="Consolas"/>
              </a:rPr>
              <a:t>* Using this IP address the browser locates the</a:t>
            </a:r>
          </a:p>
          <a:p>
            <a:pPr>
              <a:spcAft>
                <a:spcPts val="100"/>
              </a:spcAft>
            </a:pPr>
            <a:r>
              <a:rPr sz="950" b="0" i="0">
                <a:solidFill>
                  <a:srgbClr val="1F242E"/>
                </a:solidFill>
                <a:latin typeface="Consolas"/>
              </a:rPr>
              <a:t>  resource.</a:t>
            </a:r>
          </a:p>
          <a:p>
            <a:pPr>
              <a:spcAft>
                <a:spcPts val="100"/>
              </a:spcAft>
            </a:pPr>
            <a:r>
              <a:rPr sz="950" b="0" i="0">
                <a:solidFill>
                  <a:srgbClr val="1F242E"/>
                </a:solidFill>
                <a:latin typeface="Consolas"/>
              </a:rPr>
              <a:t> </a:t>
            </a:r>
          </a:p>
          <a:p>
            <a:pPr>
              <a:spcAft>
                <a:spcPts val="100"/>
              </a:spcAft>
            </a:pPr>
            <a:r>
              <a:rPr sz="950" b="0" i="0">
                <a:solidFill>
                  <a:srgbClr val="1F242E"/>
                </a:solidFill>
                <a:latin typeface="Consolas"/>
              </a:rPr>
              <a:t> </a:t>
            </a:r>
          </a:p>
          <a:p>
            <a:pPr>
              <a:spcAft>
                <a:spcPts val="100"/>
              </a:spcAft>
            </a:pPr>
            <a:r>
              <a:rPr sz="950" b="0" i="0">
                <a:solidFill>
                  <a:srgbClr val="9B2C2C"/>
                </a:solidFill>
                <a:latin typeface="Consolas"/>
              </a:rPr>
              <a:t>   &gt;&gt;  every node label was read correctly</a:t>
            </a:r>
          </a:p>
          <a:p>
            <a:pPr>
              <a:spcAft>
                <a:spcPts val="100"/>
              </a:spcAft>
            </a:pPr>
            <a:r>
              <a:rPr sz="950" b="0" i="0">
                <a:solidFill>
                  <a:srgbClr val="9B2C2C"/>
                </a:solidFill>
                <a:latin typeface="Consolas"/>
              </a:rPr>
              <a:t>   &gt;&gt;  but the tree was flattened into a list,</a:t>
            </a:r>
          </a:p>
          <a:p>
            <a:pPr>
              <a:spcAft>
                <a:spcPts val="100"/>
              </a:spcAft>
            </a:pPr>
            <a:r>
              <a:rPr sz="950" b="0" i="0">
                <a:solidFill>
                  <a:srgbClr val="1F242E"/>
                </a:solidFill>
                <a:latin typeface="Consolas"/>
              </a:rPr>
              <a:t>       and no ![diagram] marker was emitted</a:t>
            </a:r>
          </a:p>
          <a:p>
            <a:pPr>
              <a:spcAft>
                <a:spcPts val="100"/>
              </a:spcAft>
            </a:pPr>
            <a:r>
              <a:rPr sz="950" b="0" i="0">
                <a:solidFill>
                  <a:srgbClr val="1F242E"/>
                </a:solidFill>
                <a:latin typeface="Consolas"/>
              </a:rPr>
              <a:t>       so no picture was cropped</a:t>
            </a:r>
          </a:p>
        </p:txBody>
      </p:sp>
      <p:sp>
        <p:nvSpPr>
          <p:cNvPr id="9" name="TextBox 8"/>
          <p:cNvSpPr txBox="1"/>
          <p:nvPr/>
        </p:nvSpPr>
        <p:spPr>
          <a:xfrm>
            <a:off x="4069080" y="5916168"/>
            <a:ext cx="7498079" cy="777240"/>
          </a:xfrm>
          <a:prstGeom prst="rect">
            <a:avLst/>
          </a:prstGeom>
          <a:noFill/>
        </p:spPr>
        <p:txBody>
          <a:bodyPr wrap="square" lIns="0" rIns="0" tIns="0" bIns="0">
            <a:spAutoFit/>
          </a:bodyPr>
          <a:lstStyle/>
          <a:p>
            <a:pPr algn="l">
              <a:lnSpc>
                <a:spcPct val="100000"/>
              </a:lnSpc>
              <a:spcAft>
                <a:spcPts val="200"/>
              </a:spcAft>
            </a:pPr>
            <a:r>
              <a:rPr sz="1200" b="0" i="0">
                <a:solidFill>
                  <a:srgbClr val="2D6A4F"/>
                </a:solidFill>
                <a:latin typeface="Calibri"/>
              </a:rPr>
              <a:t>▪  </a:t>
            </a:r>
            <a:r>
              <a:rPr sz="1200" b="0" i="0">
                <a:solidFill>
                  <a:srgbClr val="1F242E"/>
                </a:solidFill>
                <a:latin typeface="Calibri"/>
              </a:rPr>
              <a:t>All five labels are correct — </a:t>
            </a:r>
            <a:r>
              <a:rPr sz="1200" b="1" i="0">
                <a:solidFill>
                  <a:srgbClr val="1F242E"/>
                </a:solidFill>
                <a:latin typeface="Calibri"/>
              </a:rPr>
              <a:t>root, .com, .edu, .gov, common</a:t>
            </a:r>
          </a:p>
          <a:p>
            <a:pPr>
              <a:lnSpc>
                <a:spcPct val="100000"/>
              </a:lnSpc>
              <a:spcAft>
                <a:spcPts val="200"/>
              </a:spcAft>
            </a:pPr>
            <a:r>
              <a:rPr sz="1200" b="0" i="0">
                <a:solidFill>
                  <a:srgbClr val="9B2C2C"/>
                </a:solidFill>
                <a:latin typeface="Calibri"/>
              </a:rPr>
              <a:t>▪  </a:t>
            </a:r>
            <a:r>
              <a:rPr sz="1200" b="0" i="0">
                <a:solidFill>
                  <a:srgbClr val="1F242E"/>
                </a:solidFill>
                <a:latin typeface="Calibri"/>
              </a:rPr>
              <a:t>The </a:t>
            </a:r>
            <a:r>
              <a:rPr sz="1200" b="1" i="0">
                <a:solidFill>
                  <a:srgbClr val="1F242E"/>
                </a:solidFill>
                <a:latin typeface="Calibri"/>
              </a:rPr>
              <a:t>structure</a:t>
            </a:r>
            <a:r>
              <a:rPr sz="1200" b="0" i="0">
                <a:solidFill>
                  <a:srgbClr val="1F242E"/>
                </a:solidFill>
                <a:latin typeface="Calibri"/>
              </a:rPr>
              <a:t> is lost: which node is the parent of which is not recoverable from the output</a:t>
            </a:r>
          </a:p>
          <a:p>
            <a:pPr>
              <a:lnSpc>
                <a:spcPct val="100000"/>
              </a:lnSpc>
              <a:spcAft>
                <a:spcPts val="200"/>
              </a:spcAft>
            </a:pPr>
            <a:r>
              <a:rPr sz="1200" b="0" i="0">
                <a:solidFill>
                  <a:srgbClr val="B26B0F"/>
                </a:solidFill>
                <a:latin typeface="Calibri"/>
              </a:rPr>
              <a:t>▪  </a:t>
            </a:r>
            <a:r>
              <a:rPr sz="1200" b="0" i="0">
                <a:solidFill>
                  <a:srgbClr val="1F242E"/>
                </a:solidFill>
                <a:latin typeface="Calibri"/>
              </a:rPr>
              <a:t>Fix in progress: detect the drawing geometrically and embed the picture regardless of what the model called it</a:t>
            </a:r>
          </a:p>
        </p:txBody>
      </p:sp>
      <p:sp>
        <p:nvSpPr>
          <p:cNvPr id="10" name="Rounded Rectangle 9"/>
          <p:cNvSpPr/>
          <p:nvPr/>
        </p:nvSpPr>
        <p:spPr>
          <a:xfrm>
            <a:off x="9646920" y="475488"/>
            <a:ext cx="1920240" cy="384048"/>
          </a:xfrm>
          <a:prstGeom prst="roundRect">
            <a:avLst/>
          </a:prstGeom>
          <a:solidFill>
            <a:srgbClr val="9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i="0">
                <a:solidFill>
                  <a:srgbClr val="FFFFFF"/>
                </a:solidFill>
                <a:latin typeface="Calibri"/>
              </a:rPr>
              <a:t>LIMITATION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3 — Working out which question each page answers</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17</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The pages are read independently, so they arrive as a pile of unordered answers.</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100"/>
              </a:spcAft>
            </a:pPr>
            <a:r>
              <a:rPr sz="1700" b="0" i="0">
                <a:solidFill>
                  <a:srgbClr val="2E5A88"/>
                </a:solidFill>
                <a:latin typeface="Calibri"/>
              </a:rPr>
              <a:t>•   </a:t>
            </a:r>
            <a:r>
              <a:rPr sz="1700" b="0" i="0">
                <a:solidFill>
                  <a:srgbClr val="1F242E"/>
                </a:solidFill>
                <a:latin typeface="Calibri"/>
              </a:rPr>
              <a:t>The system looks for the question label the model wrote as a heading, and uses it to file the page. The difficulty is that students write the same label many different ways.</a:t>
            </a:r>
          </a:p>
        </p:txBody>
      </p:sp>
      <p:sp>
        <p:nvSpPr>
          <p:cNvPr id="7" name="Rounded Rectangle 6"/>
          <p:cNvSpPr/>
          <p:nvPr/>
        </p:nvSpPr>
        <p:spPr>
          <a:xfrm>
            <a:off x="640080" y="2514600"/>
            <a:ext cx="10927080" cy="658368"/>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400" b="0" i="0">
                <a:solidFill>
                  <a:srgbClr val="1F242E"/>
                </a:solidFill>
                <a:latin typeface="Consolas"/>
              </a:rPr>
              <a:t>2(b)      Q3)      Q(2a)      Q. 4(a).      3 a)      ### 2a) HTTP request</a:t>
            </a:r>
          </a:p>
        </p:txBody>
      </p:sp>
      <p:sp>
        <p:nvSpPr>
          <p:cNvPr id="8" name="TextBox 7"/>
          <p:cNvSpPr txBox="1"/>
          <p:nvPr/>
        </p:nvSpPr>
        <p:spPr>
          <a:xfrm>
            <a:off x="640080" y="3383280"/>
            <a:ext cx="10972800" cy="3246120"/>
          </a:xfrm>
          <a:prstGeom prst="rect">
            <a:avLst/>
          </a:prstGeom>
          <a:noFill/>
        </p:spPr>
        <p:txBody>
          <a:bodyPr wrap="square" lIns="0" rIns="0" tIns="0" bIns="0">
            <a:spAutoFit/>
          </a:bodyPr>
          <a:lstStyle/>
          <a:p>
            <a:pPr algn="l">
              <a:lnSpc>
                <a:spcPct val="112000"/>
              </a:lnSpc>
              <a:spcAft>
                <a:spcPts val="1000"/>
              </a:spcAft>
            </a:pPr>
            <a:r>
              <a:rPr sz="1650" b="0" i="0">
                <a:solidFill>
                  <a:srgbClr val="2E5A88"/>
                </a:solidFill>
                <a:latin typeface="Calibri"/>
              </a:rPr>
              <a:t>•   </a:t>
            </a:r>
            <a:r>
              <a:rPr sz="1650" b="0" i="0">
                <a:solidFill>
                  <a:srgbClr val="1F242E"/>
                </a:solidFill>
                <a:latin typeface="Calibri"/>
              </a:rPr>
              <a:t>A first version required the whole heading to be a label, so </a:t>
            </a:r>
            <a:r>
              <a:rPr sz="1650" b="1" i="0">
                <a:solidFill>
                  <a:srgbClr val="1F242E"/>
                </a:solidFill>
                <a:latin typeface="Calibri"/>
              </a:rPr>
              <a:t>### 2a) HTTP request</a:t>
            </a:r>
            <a:r>
              <a:rPr sz="1650" b="0" i="0">
                <a:solidFill>
                  <a:srgbClr val="1F242E"/>
                </a:solidFill>
                <a:latin typeface="Calibri"/>
              </a:rPr>
              <a:t> was rejected. That single rule lost 79 real labels and left three booklets with no questions at all.</a:t>
            </a:r>
          </a:p>
          <a:p>
            <a:pPr>
              <a:lnSpc>
                <a:spcPct val="112000"/>
              </a:lnSpc>
              <a:spcAft>
                <a:spcPts val="1000"/>
              </a:spcAft>
            </a:pPr>
            <a:r>
              <a:rPr sz="1650" b="0" i="0">
                <a:solidFill>
                  <a:srgbClr val="2E5A88"/>
                </a:solidFill>
                <a:latin typeface="Calibri"/>
              </a:rPr>
              <a:t>•   </a:t>
            </a:r>
            <a:r>
              <a:rPr sz="1650" b="0" i="0">
                <a:solidFill>
                  <a:srgbClr val="1F242E"/>
                </a:solidFill>
                <a:latin typeface="Calibri"/>
              </a:rPr>
              <a:t>The label is now separated from any title text that follows it, and bracketed and prefixed forms are all accepted.</a:t>
            </a:r>
          </a:p>
          <a:p>
            <a:pPr>
              <a:lnSpc>
                <a:spcPct val="112000"/>
              </a:lnSpc>
              <a:spcAft>
                <a:spcPts val="1000"/>
              </a:spcAft>
            </a:pPr>
            <a:r>
              <a:rPr sz="1650" b="0" i="0">
                <a:solidFill>
                  <a:srgbClr val="2E5A88"/>
                </a:solidFill>
                <a:latin typeface="Calibri"/>
              </a:rPr>
              <a:t>•   </a:t>
            </a:r>
            <a:r>
              <a:rPr sz="1650" b="0" i="0">
                <a:solidFill>
                  <a:srgbClr val="1F242E"/>
                </a:solidFill>
                <a:latin typeface="Calibri"/>
              </a:rPr>
              <a:t>A page with no label is attached to the question above it, on the assumption that the answer continues. That is what stitches an answer running across a page break.</a:t>
            </a:r>
          </a:p>
        </p:txBody>
      </p:sp>
      <p:sp>
        <p:nvSpPr>
          <p:cNvPr id="9" name="Rectangle 8"/>
          <p:cNvSpPr/>
          <p:nvPr/>
        </p:nvSpPr>
        <p:spPr>
          <a:xfrm>
            <a:off x="640080" y="5596128"/>
            <a:ext cx="10927080" cy="548640"/>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733288"/>
            <a:ext cx="5486400" cy="365760"/>
          </a:xfrm>
          <a:prstGeom prst="rect">
            <a:avLst/>
          </a:prstGeom>
          <a:noFill/>
        </p:spPr>
        <p:txBody>
          <a:bodyPr wrap="square" lIns="0" rIns="0" tIns="0" bIns="0">
            <a:spAutoFit/>
          </a:bodyPr>
          <a:lstStyle/>
          <a:p>
            <a:pPr algn="l"/>
            <a:r>
              <a:rPr sz="1550" b="0" i="0">
                <a:solidFill>
                  <a:srgbClr val="1F242E"/>
                </a:solidFill>
                <a:latin typeface="Calibri"/>
              </a:rPr>
              <a:t>Pages filed under a question</a:t>
            </a:r>
          </a:p>
        </p:txBody>
      </p:sp>
      <p:sp>
        <p:nvSpPr>
          <p:cNvPr id="11" name="TextBox 10"/>
          <p:cNvSpPr txBox="1"/>
          <p:nvPr/>
        </p:nvSpPr>
        <p:spPr>
          <a:xfrm>
            <a:off x="6583680" y="5733288"/>
            <a:ext cx="1828800" cy="365760"/>
          </a:xfrm>
          <a:prstGeom prst="rect">
            <a:avLst/>
          </a:prstGeom>
          <a:noFill/>
        </p:spPr>
        <p:txBody>
          <a:bodyPr wrap="square" lIns="0" rIns="0" tIns="0" bIns="0">
            <a:spAutoFit/>
          </a:bodyPr>
          <a:lstStyle/>
          <a:p>
            <a:pPr algn="l"/>
            <a:r>
              <a:rPr sz="1500" b="0" i="0">
                <a:solidFill>
                  <a:srgbClr val="6E7582"/>
                </a:solidFill>
                <a:latin typeface="Consolas"/>
              </a:rPr>
              <a:t>before  96.8%</a:t>
            </a:r>
          </a:p>
        </p:txBody>
      </p:sp>
      <p:sp>
        <p:nvSpPr>
          <p:cNvPr id="12" name="TextBox 11"/>
          <p:cNvSpPr txBox="1"/>
          <p:nvPr/>
        </p:nvSpPr>
        <p:spPr>
          <a:xfrm>
            <a:off x="8961120" y="5733288"/>
            <a:ext cx="2194560" cy="365760"/>
          </a:xfrm>
          <a:prstGeom prst="rect">
            <a:avLst/>
          </a:prstGeom>
          <a:noFill/>
        </p:spPr>
        <p:txBody>
          <a:bodyPr wrap="square" lIns="0" rIns="0" tIns="0" bIns="0">
            <a:spAutoFit/>
          </a:bodyPr>
          <a:lstStyle/>
          <a:p>
            <a:pPr algn="l"/>
            <a:r>
              <a:rPr sz="1500" b="1" i="0">
                <a:solidFill>
                  <a:srgbClr val="2D6A4F"/>
                </a:solidFill>
                <a:latin typeface="Consolas"/>
              </a:rPr>
              <a:t>after  98.7%</a:t>
            </a:r>
          </a:p>
        </p:txBody>
      </p:sp>
      <p:sp>
        <p:nvSpPr>
          <p:cNvPr id="13" name="Rectangle 12"/>
          <p:cNvSpPr/>
          <p:nvPr/>
        </p:nvSpPr>
        <p:spPr>
          <a:xfrm>
            <a:off x="640080" y="6144768"/>
            <a:ext cx="10927080" cy="548640"/>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6281928"/>
            <a:ext cx="5486400" cy="365760"/>
          </a:xfrm>
          <a:prstGeom prst="rect">
            <a:avLst/>
          </a:prstGeom>
          <a:noFill/>
        </p:spPr>
        <p:txBody>
          <a:bodyPr wrap="square" lIns="0" rIns="0" tIns="0" bIns="0">
            <a:spAutoFit/>
          </a:bodyPr>
          <a:lstStyle/>
          <a:p>
            <a:pPr algn="l"/>
            <a:r>
              <a:rPr sz="1550" b="0" i="0">
                <a:solidFill>
                  <a:srgbClr val="1F242E"/>
                </a:solidFill>
                <a:latin typeface="Calibri"/>
              </a:rPr>
              <a:t>Booklets with no question found</a:t>
            </a:r>
          </a:p>
        </p:txBody>
      </p:sp>
      <p:sp>
        <p:nvSpPr>
          <p:cNvPr id="15" name="TextBox 14"/>
          <p:cNvSpPr txBox="1"/>
          <p:nvPr/>
        </p:nvSpPr>
        <p:spPr>
          <a:xfrm>
            <a:off x="6583680" y="6281928"/>
            <a:ext cx="1828800" cy="365760"/>
          </a:xfrm>
          <a:prstGeom prst="rect">
            <a:avLst/>
          </a:prstGeom>
          <a:noFill/>
        </p:spPr>
        <p:txBody>
          <a:bodyPr wrap="square" lIns="0" rIns="0" tIns="0" bIns="0">
            <a:spAutoFit/>
          </a:bodyPr>
          <a:lstStyle/>
          <a:p>
            <a:pPr algn="l"/>
            <a:r>
              <a:rPr sz="1500" b="0" i="0">
                <a:solidFill>
                  <a:srgbClr val="6E7582"/>
                </a:solidFill>
                <a:latin typeface="Consolas"/>
              </a:rPr>
              <a:t>before  3</a:t>
            </a:r>
          </a:p>
        </p:txBody>
      </p:sp>
      <p:sp>
        <p:nvSpPr>
          <p:cNvPr id="16" name="TextBox 15"/>
          <p:cNvSpPr txBox="1"/>
          <p:nvPr/>
        </p:nvSpPr>
        <p:spPr>
          <a:xfrm>
            <a:off x="8961120" y="6281928"/>
            <a:ext cx="2194560" cy="365760"/>
          </a:xfrm>
          <a:prstGeom prst="rect">
            <a:avLst/>
          </a:prstGeom>
          <a:noFill/>
        </p:spPr>
        <p:txBody>
          <a:bodyPr wrap="square" lIns="0" rIns="0" tIns="0" bIns="0">
            <a:spAutoFit/>
          </a:bodyPr>
          <a:lstStyle/>
          <a:p>
            <a:pPr algn="l"/>
            <a:r>
              <a:rPr sz="1500" b="1" i="0">
                <a:solidFill>
                  <a:srgbClr val="2D6A4F"/>
                </a:solidFill>
                <a:latin typeface="Consolas"/>
              </a:rPr>
              <a:t>after  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3 — Putting the drawings back</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18</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A marker in the text is not a picture. The picture has to be cut out of the page.</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100"/>
              </a:spcAft>
            </a:pPr>
            <a:r>
              <a:rPr sz="1700" b="0" i="0">
                <a:solidFill>
                  <a:srgbClr val="2E5A88"/>
                </a:solidFill>
                <a:latin typeface="Calibri"/>
              </a:rPr>
              <a:t>•   </a:t>
            </a:r>
            <a:r>
              <a:rPr sz="1700" b="0" i="0">
                <a:solidFill>
                  <a:srgbClr val="1F242E"/>
                </a:solidFill>
                <a:latin typeface="Calibri"/>
              </a:rPr>
              <a:t>The model says </a:t>
            </a:r>
            <a:r>
              <a:rPr sz="1700" b="1" i="0">
                <a:solidFill>
                  <a:srgbClr val="1F242E"/>
                </a:solidFill>
                <a:latin typeface="Calibri"/>
              </a:rPr>
              <a:t>that</a:t>
            </a:r>
            <a:r>
              <a:rPr sz="1700" b="0" i="0">
                <a:solidFill>
                  <a:srgbClr val="1F242E"/>
                </a:solidFill>
                <a:latin typeface="Calibri"/>
              </a:rPr>
              <a:t> there is a drawing and roughly where it belongs in the reading order. It is not reliable at saying </a:t>
            </a:r>
            <a:r>
              <a:rPr sz="1700" b="1" i="0">
                <a:solidFill>
                  <a:srgbClr val="1F242E"/>
                </a:solidFill>
                <a:latin typeface="Calibri"/>
              </a:rPr>
              <a:t>where</a:t>
            </a:r>
            <a:r>
              <a:rPr sz="1700" b="0" i="0">
                <a:solidFill>
                  <a:srgbClr val="1F242E"/>
                </a:solidFill>
                <a:latin typeface="Calibri"/>
              </a:rPr>
              <a:t> on the page, in pixels.</a:t>
            </a:r>
          </a:p>
          <a:p>
            <a:pPr>
              <a:lnSpc>
                <a:spcPct val="112000"/>
              </a:lnSpc>
              <a:spcAft>
                <a:spcPts val="1100"/>
              </a:spcAft>
            </a:pPr>
            <a:r>
              <a:rPr sz="1700" b="0" i="0">
                <a:solidFill>
                  <a:srgbClr val="2E5A88"/>
                </a:solidFill>
                <a:latin typeface="Calibri"/>
              </a:rPr>
              <a:t>•   </a:t>
            </a:r>
            <a:r>
              <a:rPr sz="1700" b="0" i="0">
                <a:solidFill>
                  <a:srgbClr val="1F242E"/>
                </a:solidFill>
                <a:latin typeface="Calibri"/>
              </a:rPr>
              <a:t>So the pixels are found by image processing instead: remove the printed rules, group the remaining ink into connected strokes, and take the bounding box of anything too large and too tall to be a line of text.</a:t>
            </a:r>
          </a:p>
          <a:p>
            <a:pPr>
              <a:lnSpc>
                <a:spcPct val="112000"/>
              </a:lnSpc>
              <a:spcAft>
                <a:spcPts val="1100"/>
              </a:spcAft>
            </a:pPr>
            <a:r>
              <a:rPr sz="1700" b="0" i="0">
                <a:solidFill>
                  <a:srgbClr val="2E5A88"/>
                </a:solidFill>
                <a:latin typeface="Calibri"/>
              </a:rPr>
              <a:t>•   </a:t>
            </a:r>
            <a:r>
              <a:rPr sz="1700" b="0" i="0">
                <a:solidFill>
                  <a:srgbClr val="1F242E"/>
                </a:solidFill>
                <a:latin typeface="Calibri"/>
              </a:rPr>
              <a:t>That box is cropped from the page, saved into the booklet's </a:t>
            </a:r>
            <a:r>
              <a:rPr sz="1700" b="1" i="0">
                <a:solidFill>
                  <a:srgbClr val="1F242E"/>
                </a:solidFill>
                <a:latin typeface="Calibri"/>
              </a:rPr>
              <a:t>figures/</a:t>
            </a:r>
            <a:r>
              <a:rPr sz="1700" b="0" i="0">
                <a:solidFill>
                  <a:srgbClr val="1F242E"/>
                </a:solidFill>
                <a:latin typeface="Calibri"/>
              </a:rPr>
              <a:t> folder, and linked from the Markdown at the point the drawing appeared.</a:t>
            </a:r>
          </a:p>
        </p:txBody>
      </p:sp>
      <p:pic>
        <p:nvPicPr>
          <p:cNvPr id="7" name="Picture 6" descr="s19_detected.png"/>
          <p:cNvPicPr>
            <a:picLocks noChangeAspect="1"/>
          </p:cNvPicPr>
          <p:nvPr/>
        </p:nvPicPr>
        <p:blipFill>
          <a:blip r:embed="rId2"/>
          <a:stretch>
            <a:fillRect/>
          </a:stretch>
        </p:blipFill>
        <p:spPr>
          <a:xfrm>
            <a:off x="640080" y="4526280"/>
            <a:ext cx="2968935" cy="1874519"/>
          </a:xfrm>
          <a:prstGeom prst="rect">
            <a:avLst/>
          </a:prstGeom>
        </p:spPr>
      </p:pic>
      <p:sp>
        <p:nvSpPr>
          <p:cNvPr id="8" name="TextBox 7"/>
          <p:cNvSpPr txBox="1"/>
          <p:nvPr/>
        </p:nvSpPr>
        <p:spPr>
          <a:xfrm>
            <a:off x="640080" y="6446520"/>
            <a:ext cx="4343400" cy="292608"/>
          </a:xfrm>
          <a:prstGeom prst="rect">
            <a:avLst/>
          </a:prstGeom>
          <a:noFill/>
        </p:spPr>
        <p:txBody>
          <a:bodyPr wrap="square" lIns="0" rIns="0" tIns="0" bIns="0">
            <a:spAutoFit/>
          </a:bodyPr>
          <a:lstStyle/>
          <a:p>
            <a:pPr algn="l"/>
            <a:r>
              <a:rPr sz="1250" b="0" i="1">
                <a:solidFill>
                  <a:srgbClr val="6E7582"/>
                </a:solidFill>
                <a:latin typeface="Calibri"/>
              </a:rPr>
              <a:t>rules removed, ink grouped, drawing found as one region</a:t>
            </a:r>
          </a:p>
        </p:txBody>
      </p:sp>
      <p:sp>
        <p:nvSpPr>
          <p:cNvPr id="9" name="Rounded Rectangle 8"/>
          <p:cNvSpPr/>
          <p:nvPr/>
        </p:nvSpPr>
        <p:spPr>
          <a:xfrm>
            <a:off x="5029200" y="4526280"/>
            <a:ext cx="6537960" cy="548640"/>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250" b="0" i="0">
                <a:solidFill>
                  <a:srgbClr val="B26B0F"/>
                </a:solidFill>
                <a:latin typeface="Consolas"/>
              </a:rPr>
              <a:t>![DNS hierarchy](figures/s19_c1_p08_f01.png)</a:t>
            </a:r>
          </a:p>
        </p:txBody>
      </p:sp>
      <p:sp>
        <p:nvSpPr>
          <p:cNvPr id="10" name="TextBox 9"/>
          <p:cNvSpPr txBox="1"/>
          <p:nvPr/>
        </p:nvSpPr>
        <p:spPr>
          <a:xfrm>
            <a:off x="5029200" y="5257800"/>
            <a:ext cx="6537960" cy="1371600"/>
          </a:xfrm>
          <a:prstGeom prst="rect">
            <a:avLst/>
          </a:prstGeom>
          <a:noFill/>
        </p:spPr>
        <p:txBody>
          <a:bodyPr wrap="square" lIns="0" rIns="0" tIns="0" bIns="0">
            <a:spAutoFit/>
          </a:bodyPr>
          <a:lstStyle/>
          <a:p>
            <a:pPr algn="l">
              <a:lnSpc>
                <a:spcPct val="112000"/>
              </a:lnSpc>
              <a:spcAft>
                <a:spcPts val="800"/>
              </a:spcAft>
            </a:pPr>
            <a:r>
              <a:rPr sz="1500" b="0" i="0">
                <a:solidFill>
                  <a:srgbClr val="2E5A88"/>
                </a:solidFill>
                <a:latin typeface="Calibri"/>
              </a:rPr>
              <a:t>•   </a:t>
            </a:r>
            <a:r>
              <a:rPr sz="1500" b="1" i="0">
                <a:solidFill>
                  <a:srgbClr val="1F242E"/>
                </a:solidFill>
                <a:latin typeface="Calibri"/>
              </a:rPr>
              <a:t>619 figures</a:t>
            </a:r>
            <a:r>
              <a:rPr sz="1500" b="0" i="0">
                <a:solidFill>
                  <a:srgbClr val="1F242E"/>
                </a:solidFill>
                <a:latin typeface="Calibri"/>
              </a:rPr>
              <a:t> have been cropped and embedded across the 122 booklets.</a:t>
            </a:r>
          </a:p>
          <a:p>
            <a:pPr>
              <a:lnSpc>
                <a:spcPct val="112000"/>
              </a:lnSpc>
              <a:spcAft>
                <a:spcPts val="800"/>
              </a:spcAft>
            </a:pPr>
            <a:r>
              <a:rPr sz="1500" b="0" i="0">
                <a:solidFill>
                  <a:srgbClr val="2E5A88"/>
                </a:solidFill>
                <a:latin typeface="Calibri"/>
              </a:rPr>
              <a:t>•   </a:t>
            </a:r>
            <a:r>
              <a:rPr sz="1500" b="0" i="0">
                <a:solidFill>
                  <a:srgbClr val="1F242E"/>
                </a:solidFill>
                <a:latin typeface="Calibri"/>
              </a:rPr>
              <a:t>Sparse line drawings, like the tree on the left, are the case this still misses — they break into many small pieces rather than one solid block.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Step 4 — Assembling the booklet</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19</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Everything collected so far is written out as a single document.</a:t>
            </a:r>
          </a:p>
        </p:txBody>
      </p:sp>
      <p:sp>
        <p:nvSpPr>
          <p:cNvPr id="6" name="TextBox 5"/>
          <p:cNvSpPr txBox="1"/>
          <p:nvPr/>
        </p:nvSpPr>
        <p:spPr>
          <a:xfrm>
            <a:off x="640080" y="1828800"/>
            <a:ext cx="10972800" cy="4572000"/>
          </a:xfrm>
          <a:prstGeom prst="rect">
            <a:avLst/>
          </a:prstGeom>
          <a:noFill/>
        </p:spPr>
        <p:txBody>
          <a:bodyPr wrap="square" lIns="0" rIns="0" tIns="0" bIns="0">
            <a:spAutoFit/>
          </a:bodyPr>
          <a:lstStyle/>
          <a:p>
            <a:pPr algn="l">
              <a:lnSpc>
                <a:spcPct val="112000"/>
              </a:lnSpc>
              <a:spcAft>
                <a:spcPts val="1200"/>
              </a:spcAft>
            </a:pPr>
            <a:r>
              <a:rPr sz="1700" b="0" i="0">
                <a:solidFill>
                  <a:srgbClr val="2E5A88"/>
                </a:solidFill>
                <a:latin typeface="Calibri"/>
              </a:rPr>
              <a:t>•   </a:t>
            </a:r>
            <a:r>
              <a:rPr sz="1700" b="0" i="0">
                <a:solidFill>
                  <a:srgbClr val="1F242E"/>
                </a:solidFill>
                <a:latin typeface="Calibri"/>
              </a:rPr>
              <a:t>Pages are taken </a:t>
            </a:r>
            <a:r>
              <a:rPr sz="1700" b="1" i="0">
                <a:solidFill>
                  <a:srgbClr val="1F242E"/>
                </a:solidFill>
                <a:latin typeface="Calibri"/>
              </a:rPr>
              <a:t>in order</a:t>
            </a:r>
            <a:r>
              <a:rPr sz="1700" b="0" i="0">
                <a:solidFill>
                  <a:srgbClr val="1F242E"/>
                </a:solidFill>
                <a:latin typeface="Calibri"/>
              </a:rPr>
              <a:t>, and each one's text is appended under the question it was filed against, so an answer split across three pages becomes one continuous answer.</a:t>
            </a:r>
          </a:p>
          <a:p>
            <a:pPr>
              <a:lnSpc>
                <a:spcPct val="112000"/>
              </a:lnSpc>
              <a:spcAft>
                <a:spcPts val="1200"/>
              </a:spcAft>
            </a:pPr>
            <a:r>
              <a:rPr sz="1700" b="0" i="0">
                <a:solidFill>
                  <a:srgbClr val="2E5A88"/>
                </a:solidFill>
                <a:latin typeface="Calibri"/>
              </a:rPr>
              <a:t>•   </a:t>
            </a:r>
            <a:r>
              <a:rPr sz="1700" b="0" i="0">
                <a:solidFill>
                  <a:srgbClr val="1F242E"/>
                </a:solidFill>
                <a:latin typeface="Calibri"/>
              </a:rPr>
              <a:t>Questions are emitted in </a:t>
            </a:r>
            <a:r>
              <a:rPr sz="1700" b="1" i="0">
                <a:solidFill>
                  <a:srgbClr val="1F242E"/>
                </a:solidFill>
                <a:latin typeface="Calibri"/>
              </a:rPr>
              <a:t>exam order</a:t>
            </a:r>
            <a:r>
              <a:rPr sz="1700" b="0" i="0">
                <a:solidFill>
                  <a:srgbClr val="1F242E"/>
                </a:solidFill>
                <a:latin typeface="Calibri"/>
              </a:rPr>
              <a:t> — 1, 2a, 2b, 2c, then the Part C questions — not in the order the student happened to answer them.</a:t>
            </a:r>
          </a:p>
          <a:p>
            <a:pPr>
              <a:lnSpc>
                <a:spcPct val="112000"/>
              </a:lnSpc>
              <a:spcAft>
                <a:spcPts val="1200"/>
              </a:spcAft>
            </a:pPr>
            <a:r>
              <a:rPr sz="1700" b="0" i="0">
                <a:solidFill>
                  <a:srgbClr val="2E5A88"/>
                </a:solidFill>
                <a:latin typeface="Calibri"/>
              </a:rPr>
              <a:t>•   </a:t>
            </a:r>
            <a:r>
              <a:rPr sz="1700" b="0" i="0">
                <a:solidFill>
                  <a:srgbClr val="1F242E"/>
                </a:solidFill>
                <a:latin typeface="Calibri"/>
              </a:rPr>
              <a:t>Every block keeps a comment recording </a:t>
            </a:r>
            <a:r>
              <a:rPr sz="1700" b="1" i="0">
                <a:solidFill>
                  <a:srgbClr val="1F242E"/>
                </a:solidFill>
                <a:latin typeface="Calibri"/>
              </a:rPr>
              <a:t>which page it came from</a:t>
            </a:r>
            <a:r>
              <a:rPr sz="1700" b="0" i="0">
                <a:solidFill>
                  <a:srgbClr val="1F242E"/>
                </a:solidFill>
                <a:latin typeface="Calibri"/>
              </a:rPr>
              <a:t>, so any line in the final document can be traced back to a scan.</a:t>
            </a:r>
          </a:p>
          <a:p>
            <a:pPr>
              <a:lnSpc>
                <a:spcPct val="112000"/>
              </a:lnSpc>
              <a:spcAft>
                <a:spcPts val="1200"/>
              </a:spcAft>
            </a:pPr>
            <a:r>
              <a:rPr sz="1700" b="0" i="0">
                <a:solidFill>
                  <a:srgbClr val="2E5A88"/>
                </a:solidFill>
                <a:latin typeface="Calibri"/>
              </a:rPr>
              <a:t>•   </a:t>
            </a:r>
            <a:r>
              <a:rPr sz="1700" b="0" i="0">
                <a:solidFill>
                  <a:srgbClr val="1F242E"/>
                </a:solidFill>
                <a:latin typeface="Calibri"/>
              </a:rPr>
              <a:t>Where reading failed, the text is cut at the point it went wrong and </a:t>
            </a:r>
            <a:r>
              <a:rPr sz="1700" b="1" i="0">
                <a:solidFill>
                  <a:srgbClr val="1F242E"/>
                </a:solidFill>
                <a:latin typeface="Calibri"/>
              </a:rPr>
              <a:t>the whole page image is embedded instead</a:t>
            </a:r>
            <a:r>
              <a:rPr sz="1700" b="0" i="0">
                <a:solidFill>
                  <a:srgbClr val="1F242E"/>
                </a:solidFill>
                <a:latin typeface="Calibri"/>
              </a:rPr>
              <a:t>, with a note to read from the picture. Nothing is silently dropped.</a:t>
            </a:r>
          </a:p>
        </p:txBody>
      </p:sp>
      <p:sp>
        <p:nvSpPr>
          <p:cNvPr id="7" name="Rounded Rectangle 6"/>
          <p:cNvSpPr/>
          <p:nvPr/>
        </p:nvSpPr>
        <p:spPr>
          <a:xfrm>
            <a:off x="640080" y="5257800"/>
            <a:ext cx="10927080" cy="1188720"/>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300" b="0" i="0">
                <a:solidFill>
                  <a:srgbClr val="9B2C2C"/>
                </a:solidFill>
                <a:latin typeface="Consolas"/>
              </a:rPr>
              <a:t>&gt; **Reading failed partway down this page.** Mark from the image,</a:t>
            </a:r>
          </a:p>
          <a:p>
            <a:pPr>
              <a:spcAft>
                <a:spcPts val="100"/>
              </a:spcAft>
            </a:pPr>
            <a:r>
              <a:rPr sz="1300" b="0" i="0">
                <a:solidFill>
                  <a:srgbClr val="9B2C2C"/>
                </a:solidFill>
                <a:latin typeface="Consolas"/>
              </a:rPr>
              <a:t>&gt; not from the text.</a:t>
            </a:r>
          </a:p>
          <a:p>
            <a:pPr>
              <a:spcAft>
                <a:spcPts val="100"/>
              </a:spcAft>
            </a:pPr>
            <a:r>
              <a:rPr sz="1300" b="0" i="0">
                <a:solidFill>
                  <a:srgbClr val="1F242E"/>
                </a:solidFill>
                <a:latin typeface="Consolas"/>
              </a:rPr>
              <a:t> </a:t>
            </a:r>
          </a:p>
          <a:p>
            <a:pPr>
              <a:spcAft>
                <a:spcPts val="100"/>
              </a:spcAft>
            </a:pPr>
            <a:r>
              <a:rPr sz="1300" b="0" i="0">
                <a:solidFill>
                  <a:srgbClr val="B26B0F"/>
                </a:solidFill>
                <a:latin typeface="Consolas"/>
              </a:rPr>
              <a:t>![s21_c3_p04 full page](figures/s21_c3_p04_page.png)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The result</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20</a:t>
            </a:r>
          </a:p>
        </p:txBody>
      </p:sp>
      <p:sp>
        <p:nvSpPr>
          <p:cNvPr id="5" name="TextBox 4"/>
          <p:cNvSpPr txBox="1"/>
          <p:nvPr/>
        </p:nvSpPr>
        <p:spPr>
          <a:xfrm>
            <a:off x="640080" y="1261872"/>
            <a:ext cx="10881360" cy="457200"/>
          </a:xfrm>
          <a:prstGeom prst="rect">
            <a:avLst/>
          </a:prstGeom>
          <a:noFill/>
        </p:spPr>
        <p:txBody>
          <a:bodyPr wrap="square" lIns="0" rIns="0" tIns="0" bIns="0">
            <a:spAutoFit/>
          </a:bodyPr>
          <a:lstStyle/>
          <a:p>
            <a:pPr algn="l"/>
            <a:r>
              <a:rPr sz="1550" b="0" i="1">
                <a:solidFill>
                  <a:srgbClr val="6E7582"/>
                </a:solidFill>
                <a:latin typeface="Calibri"/>
              </a:rPr>
              <a:t>One file per booklet, with its figures beside it.</a:t>
            </a:r>
          </a:p>
        </p:txBody>
      </p:sp>
      <p:sp>
        <p:nvSpPr>
          <p:cNvPr id="6" name="Rounded Rectangle 5"/>
          <p:cNvSpPr/>
          <p:nvPr/>
        </p:nvSpPr>
        <p:spPr>
          <a:xfrm>
            <a:off x="640080" y="1874519"/>
            <a:ext cx="7086600" cy="4343400"/>
          </a:xfrm>
          <a:prstGeom prst="roundRect">
            <a:avLst>
              <a:gd name="adj" fmla="val 2000"/>
            </a:avLst>
          </a:prstGeom>
          <a:solidFill>
            <a:srgbClr val="F7F8FA"/>
          </a:solidFill>
          <a:ln w="9525">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tIns="118872"/>
          <a:lstStyle/>
          <a:p>
            <a:pPr algn="ctr">
              <a:spcAft>
                <a:spcPts val="100"/>
              </a:spcAft>
            </a:pPr>
            <a:r>
              <a:rPr sz="1150" b="1" i="0">
                <a:solidFill>
                  <a:srgbClr val="2E5A88"/>
                </a:solidFill>
                <a:latin typeface="Consolas"/>
              </a:rPr>
              <a:t># student 07 — cie 2</a:t>
            </a:r>
          </a:p>
          <a:p>
            <a:pPr>
              <a:spcAft>
                <a:spcPts val="100"/>
              </a:spcAft>
            </a:pPr>
            <a:r>
              <a:rPr sz="1150" b="0" i="0">
                <a:solidFill>
                  <a:srgbClr val="1F242E"/>
                </a:solidFill>
                <a:latin typeface="Consolas"/>
              </a:rPr>
              <a:t> </a:t>
            </a:r>
          </a:p>
          <a:p>
            <a:pPr>
              <a:spcAft>
                <a:spcPts val="100"/>
              </a:spcAft>
            </a:pPr>
            <a:r>
              <a:rPr sz="1150" b="1" i="0">
                <a:solidFill>
                  <a:srgbClr val="2E5A88"/>
                </a:solidFill>
                <a:latin typeface="Consolas"/>
              </a:rPr>
              <a:t>## 1)</a:t>
            </a:r>
          </a:p>
          <a:p>
            <a:pPr>
              <a:spcAft>
                <a:spcPts val="100"/>
              </a:spcAft>
            </a:pPr>
            <a:r>
              <a:rPr sz="1150" b="0" i="0">
                <a:solidFill>
                  <a:srgbClr val="1F242E"/>
                </a:solidFill>
                <a:latin typeface="Consolas"/>
              </a:rPr>
              <a:t> </a:t>
            </a:r>
          </a:p>
          <a:p>
            <a:pPr>
              <a:spcAft>
                <a:spcPts val="100"/>
              </a:spcAft>
            </a:pPr>
            <a:r>
              <a:rPr sz="1150" b="0" i="0">
                <a:solidFill>
                  <a:srgbClr val="1F242E"/>
                </a:solidFill>
                <a:latin typeface="Consolas"/>
              </a:rPr>
              <a:t>&lt;!-- s07_c2_p02 --&gt;</a:t>
            </a:r>
          </a:p>
          <a:p>
            <a:pPr>
              <a:spcAft>
                <a:spcPts val="100"/>
              </a:spcAft>
            </a:pPr>
            <a:r>
              <a:rPr sz="1150" b="0" i="0">
                <a:solidFill>
                  <a:srgbClr val="1F242E"/>
                </a:solidFill>
                <a:latin typeface="Consolas"/>
              </a:rPr>
              <a:t>1. Host A is the client and Host B is the server.</a:t>
            </a:r>
          </a:p>
          <a:p>
            <a:pPr>
              <a:spcAft>
                <a:spcPts val="100"/>
              </a:spcAft>
            </a:pPr>
            <a:r>
              <a:rPr sz="1150" b="0" i="0">
                <a:solidFill>
                  <a:srgbClr val="1F242E"/>
                </a:solidFill>
                <a:latin typeface="Consolas"/>
              </a:rPr>
              <a:t>   A server never initiates a request with a client. It waits</a:t>
            </a:r>
          </a:p>
          <a:p>
            <a:pPr>
              <a:spcAft>
                <a:spcPts val="100"/>
              </a:spcAft>
            </a:pPr>
            <a:r>
              <a:rPr sz="1150" b="0" i="0">
                <a:solidFill>
                  <a:srgbClr val="1F242E"/>
                </a:solidFill>
                <a:latin typeface="Consolas"/>
              </a:rPr>
              <a:t>   for a request from the client.</a:t>
            </a:r>
          </a:p>
          <a:p>
            <a:pPr>
              <a:spcAft>
                <a:spcPts val="100"/>
              </a:spcAft>
            </a:pPr>
            <a:r>
              <a:rPr sz="1150" b="0" i="0">
                <a:solidFill>
                  <a:srgbClr val="1F242E"/>
                </a:solidFill>
                <a:latin typeface="Consolas"/>
              </a:rPr>
              <a:t> </a:t>
            </a:r>
          </a:p>
          <a:p>
            <a:pPr>
              <a:spcAft>
                <a:spcPts val="100"/>
              </a:spcAft>
            </a:pPr>
            <a:r>
              <a:rPr sz="1150" b="0" i="0">
                <a:solidFill>
                  <a:srgbClr val="1F242E"/>
                </a:solidFill>
                <a:latin typeface="Consolas"/>
              </a:rPr>
              <a:t>2. Missing acknowledgement number in the second segment is</a:t>
            </a:r>
          </a:p>
          <a:p>
            <a:pPr>
              <a:spcAft>
                <a:spcPts val="100"/>
              </a:spcAft>
            </a:pPr>
            <a:r>
              <a:rPr sz="1150" b="0" i="0">
                <a:solidFill>
                  <a:srgbClr val="1F242E"/>
                </a:solidFill>
                <a:latin typeface="Consolas"/>
              </a:rPr>
              <a:t>   8000 + 1 = 8001</a:t>
            </a:r>
          </a:p>
          <a:p>
            <a:pPr>
              <a:spcAft>
                <a:spcPts val="100"/>
              </a:spcAft>
            </a:pPr>
            <a:r>
              <a:rPr sz="1150" b="0" i="0">
                <a:solidFill>
                  <a:srgbClr val="1F242E"/>
                </a:solidFill>
                <a:latin typeface="Consolas"/>
              </a:rPr>
              <a:t> </a:t>
            </a:r>
          </a:p>
          <a:p>
            <a:pPr>
              <a:spcAft>
                <a:spcPts val="100"/>
              </a:spcAft>
            </a:pPr>
            <a:r>
              <a:rPr sz="1150" b="1" i="0">
                <a:solidFill>
                  <a:srgbClr val="2E5A88"/>
                </a:solidFill>
                <a:latin typeface="Consolas"/>
              </a:rPr>
              <a:t>## 2a)</a:t>
            </a:r>
          </a:p>
          <a:p>
            <a:pPr>
              <a:spcAft>
                <a:spcPts val="100"/>
              </a:spcAft>
            </a:pPr>
            <a:r>
              <a:rPr sz="1150" b="0" i="0">
                <a:solidFill>
                  <a:srgbClr val="1F242E"/>
                </a:solidFill>
                <a:latin typeface="Consolas"/>
              </a:rPr>
              <a:t> </a:t>
            </a:r>
          </a:p>
          <a:p>
            <a:pPr>
              <a:spcAft>
                <a:spcPts val="100"/>
              </a:spcAft>
            </a:pPr>
            <a:r>
              <a:rPr sz="1150" b="0" i="0">
                <a:solidFill>
                  <a:srgbClr val="1F242E"/>
                </a:solidFill>
                <a:latin typeface="Consolas"/>
              </a:rPr>
              <a:t>&lt;!-- s07_c2_p03 --&gt;</a:t>
            </a:r>
          </a:p>
          <a:p>
            <a:pPr>
              <a:spcAft>
                <a:spcPts val="100"/>
              </a:spcAft>
            </a:pPr>
            <a:r>
              <a:rPr sz="1150" b="0" i="0">
                <a:solidFill>
                  <a:srgbClr val="1F242E"/>
                </a:solidFill>
                <a:latin typeface="Consolas"/>
              </a:rPr>
              <a:t>1. Retransmission is triggered when the sender receives a</a:t>
            </a:r>
          </a:p>
          <a:p>
            <a:pPr>
              <a:spcAft>
                <a:spcPts val="100"/>
              </a:spcAft>
            </a:pPr>
            <a:r>
              <a:rPr sz="1150" b="0" i="0">
                <a:solidFill>
                  <a:srgbClr val="1F242E"/>
                </a:solidFill>
                <a:latin typeface="Consolas"/>
              </a:rPr>
              <a:t>   duplicate acknowledgment or when the packet timer runs out.</a:t>
            </a:r>
          </a:p>
          <a:p>
            <a:pPr>
              <a:spcAft>
                <a:spcPts val="100"/>
              </a:spcAft>
            </a:pPr>
            <a:r>
              <a:rPr sz="1150" b="0" i="0">
                <a:solidFill>
                  <a:srgbClr val="1F242E"/>
                </a:solidFill>
                <a:latin typeface="Consolas"/>
              </a:rPr>
              <a:t> </a:t>
            </a:r>
          </a:p>
          <a:p>
            <a:pPr>
              <a:spcAft>
                <a:spcPts val="100"/>
              </a:spcAft>
            </a:pPr>
            <a:r>
              <a:rPr sz="1150" b="0" i="0">
                <a:solidFill>
                  <a:srgbClr val="B26B0F"/>
                </a:solidFill>
                <a:latin typeface="Consolas"/>
              </a:rPr>
              <a:t>![handshake timeline](figures/s07_c2_p03_f01.png)</a:t>
            </a:r>
          </a:p>
        </p:txBody>
      </p:sp>
      <p:sp>
        <p:nvSpPr>
          <p:cNvPr id="7" name="TextBox 6"/>
          <p:cNvSpPr txBox="1"/>
          <p:nvPr/>
        </p:nvSpPr>
        <p:spPr>
          <a:xfrm>
            <a:off x="8001000" y="1874519"/>
            <a:ext cx="3566160" cy="4389120"/>
          </a:xfrm>
          <a:prstGeom prst="rect">
            <a:avLst/>
          </a:prstGeom>
          <a:noFill/>
        </p:spPr>
        <p:txBody>
          <a:bodyPr wrap="square" lIns="0" rIns="0" tIns="0" bIns="0">
            <a:spAutoFit/>
          </a:bodyPr>
          <a:lstStyle/>
          <a:p>
            <a:pPr algn="l"/>
            <a:r>
              <a:rPr sz="1800" b="1" i="0">
                <a:solidFill>
                  <a:srgbClr val="1F242E"/>
                </a:solidFill>
                <a:latin typeface="Calibri"/>
              </a:rPr>
              <a:t>What the file guarantees</a:t>
            </a:r>
          </a:p>
          <a:p>
            <a:pPr>
              <a:spcBef>
                <a:spcPts val="1100"/>
              </a:spcBef>
            </a:pPr>
            <a:r>
              <a:rPr sz="1500" b="0" i="0">
                <a:solidFill>
                  <a:srgbClr val="2E5A88"/>
                </a:solidFill>
                <a:latin typeface="Calibri"/>
              </a:rPr>
              <a:t>▪   </a:t>
            </a:r>
            <a:r>
              <a:rPr sz="1500" b="0" i="0">
                <a:solidFill>
                  <a:srgbClr val="1F242E"/>
                </a:solidFill>
                <a:latin typeface="Calibri"/>
              </a:rPr>
              <a:t>Questions in exam order, sub-parts nested</a:t>
            </a:r>
          </a:p>
          <a:p>
            <a:pPr>
              <a:spcBef>
                <a:spcPts val="1100"/>
              </a:spcBef>
            </a:pPr>
            <a:r>
              <a:rPr sz="1500" b="0" i="0">
                <a:solidFill>
                  <a:srgbClr val="2E5A88"/>
                </a:solidFill>
                <a:latin typeface="Calibri"/>
              </a:rPr>
              <a:t>▪   </a:t>
            </a:r>
            <a:r>
              <a:rPr sz="1500" b="0" i="0">
                <a:solidFill>
                  <a:srgbClr val="1F242E"/>
                </a:solidFill>
                <a:latin typeface="Calibri"/>
              </a:rPr>
              <a:t>Answers stitched across page breaks</a:t>
            </a:r>
          </a:p>
          <a:p>
            <a:pPr>
              <a:spcBef>
                <a:spcPts val="1100"/>
              </a:spcBef>
            </a:pPr>
            <a:r>
              <a:rPr sz="1500" b="0" i="0">
                <a:solidFill>
                  <a:srgbClr val="2E5A88"/>
                </a:solidFill>
                <a:latin typeface="Calibri"/>
              </a:rPr>
              <a:t>▪   </a:t>
            </a:r>
            <a:r>
              <a:rPr sz="1500" b="0" i="0">
                <a:solidFill>
                  <a:srgbClr val="1F242E"/>
                </a:solidFill>
                <a:latin typeface="Calibri"/>
              </a:rPr>
              <a:t>Diagrams embedded as real images</a:t>
            </a:r>
          </a:p>
          <a:p>
            <a:pPr>
              <a:spcBef>
                <a:spcPts val="1100"/>
              </a:spcBef>
            </a:pPr>
            <a:r>
              <a:rPr sz="1500" b="0" i="0">
                <a:solidFill>
                  <a:srgbClr val="2E5A88"/>
                </a:solidFill>
                <a:latin typeface="Calibri"/>
              </a:rPr>
              <a:t>▪   </a:t>
            </a:r>
            <a:r>
              <a:rPr sz="1500" b="0" i="0">
                <a:solidFill>
                  <a:srgbClr val="1F242E"/>
                </a:solidFill>
                <a:latin typeface="Calibri"/>
              </a:rPr>
              <a:t>Every block traceable to its page</a:t>
            </a:r>
          </a:p>
          <a:p>
            <a:pPr>
              <a:spcBef>
                <a:spcPts val="1100"/>
              </a:spcBef>
            </a:pPr>
            <a:r>
              <a:rPr sz="1500" b="0" i="0">
                <a:solidFill>
                  <a:srgbClr val="2E5A88"/>
                </a:solidFill>
                <a:latin typeface="Calibri"/>
              </a:rPr>
              <a:t>▪   </a:t>
            </a:r>
            <a:r>
              <a:rPr sz="1500" b="0" i="0">
                <a:solidFill>
                  <a:srgbClr val="1F242E"/>
                </a:solidFill>
                <a:latin typeface="Calibri"/>
              </a:rPr>
              <a:t>Failures visible, never silent</a:t>
            </a:r>
          </a:p>
          <a:p>
            <a:pPr>
              <a:spcBef>
                <a:spcPts val="1800"/>
              </a:spcBef>
            </a:pPr>
            <a:r>
              <a:rPr sz="1300" b="1" i="0">
                <a:solidFill>
                  <a:srgbClr val="2E5A88"/>
                </a:solidFill>
                <a:latin typeface="Consolas"/>
              </a:rPr>
              <a:t>student_07_cie_2/</a:t>
            </a:r>
          </a:p>
          <a:p>
            <a:r>
              <a:rPr sz="1300" b="0" i="0">
                <a:solidFill>
                  <a:srgbClr val="6E7582"/>
                </a:solidFill>
                <a:latin typeface="Consolas"/>
              </a:rPr>
              <a:t>    booklet.md</a:t>
            </a:r>
          </a:p>
          <a:p>
            <a:r>
              <a:rPr sz="1300" b="0" i="0">
                <a:solidFill>
                  <a:srgbClr val="6E7582"/>
                </a:solidFill>
                <a:latin typeface="Consolas"/>
              </a:rPr>
              <a:t>    figures/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972800" cy="777240"/>
          </a:xfrm>
          <a:prstGeom prst="rect">
            <a:avLst/>
          </a:prstGeom>
          <a:noFill/>
        </p:spPr>
        <p:txBody>
          <a:bodyPr wrap="square" lIns="0" rIns="0" tIns="0" bIns="0">
            <a:spAutoFit/>
          </a:bodyPr>
          <a:lstStyle/>
          <a:p>
            <a:pPr algn="l"/>
            <a:r>
              <a:rPr sz="3000" b="1" i="0">
                <a:solidFill>
                  <a:srgbClr val="1F242E"/>
                </a:solidFill>
                <a:latin typeface="Calibri"/>
              </a:rPr>
              <a:t>Where it stands</a:t>
            </a:r>
          </a:p>
        </p:txBody>
      </p:sp>
      <p:sp>
        <p:nvSpPr>
          <p:cNvPr id="3" name="Rectangle 2"/>
          <p:cNvSpPr/>
          <p:nvPr/>
        </p:nvSpPr>
        <p:spPr>
          <a:xfrm>
            <a:off x="640080" y="1078992"/>
            <a:ext cx="960120" cy="3810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6355080"/>
            <a:ext cx="548640" cy="274320"/>
          </a:xfrm>
          <a:prstGeom prst="rect">
            <a:avLst/>
          </a:prstGeom>
          <a:noFill/>
        </p:spPr>
        <p:txBody>
          <a:bodyPr wrap="square" lIns="0" rIns="0" tIns="0" bIns="0">
            <a:spAutoFit/>
          </a:bodyPr>
          <a:lstStyle/>
          <a:p>
            <a:pPr algn="r"/>
            <a:r>
              <a:rPr sz="1100" b="0" i="0">
                <a:solidFill>
                  <a:srgbClr val="D2D7DE"/>
                </a:solidFill>
                <a:latin typeface="Calibri"/>
              </a:rPr>
              <a:t>21</a:t>
            </a:r>
          </a:p>
        </p:txBody>
      </p:sp>
      <p:sp>
        <p:nvSpPr>
          <p:cNvPr id="5" name="Rectangle 4"/>
          <p:cNvSpPr/>
          <p:nvPr/>
        </p:nvSpPr>
        <p:spPr>
          <a:xfrm>
            <a:off x="640080" y="1527048"/>
            <a:ext cx="6766560" cy="530352"/>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55064"/>
            <a:ext cx="4572000" cy="365760"/>
          </a:xfrm>
          <a:prstGeom prst="rect">
            <a:avLst/>
          </a:prstGeom>
          <a:noFill/>
        </p:spPr>
        <p:txBody>
          <a:bodyPr wrap="square" lIns="0" rIns="0" tIns="0" bIns="0">
            <a:spAutoFit/>
          </a:bodyPr>
          <a:lstStyle/>
          <a:p>
            <a:pPr algn="l"/>
            <a:r>
              <a:rPr sz="1500" b="0" i="0">
                <a:solidFill>
                  <a:srgbClr val="1F242E"/>
                </a:solidFill>
                <a:latin typeface="Calibri"/>
              </a:rPr>
              <a:t>Booklets assembled</a:t>
            </a:r>
          </a:p>
        </p:txBody>
      </p:sp>
      <p:sp>
        <p:nvSpPr>
          <p:cNvPr id="7" name="TextBox 6"/>
          <p:cNvSpPr txBox="1"/>
          <p:nvPr/>
        </p:nvSpPr>
        <p:spPr>
          <a:xfrm>
            <a:off x="5577840" y="1645920"/>
            <a:ext cx="1645920" cy="365760"/>
          </a:xfrm>
          <a:prstGeom prst="rect">
            <a:avLst/>
          </a:prstGeom>
          <a:noFill/>
        </p:spPr>
        <p:txBody>
          <a:bodyPr wrap="square" lIns="0" rIns="0" tIns="0" bIns="0">
            <a:spAutoFit/>
          </a:bodyPr>
          <a:lstStyle/>
          <a:p>
            <a:pPr algn="r"/>
            <a:r>
              <a:rPr sz="1500" b="1" i="0">
                <a:solidFill>
                  <a:srgbClr val="2E5A88"/>
                </a:solidFill>
                <a:latin typeface="Consolas"/>
              </a:rPr>
              <a:t>122 of 122</a:t>
            </a:r>
          </a:p>
        </p:txBody>
      </p:sp>
      <p:sp>
        <p:nvSpPr>
          <p:cNvPr id="8" name="Rectangle 7"/>
          <p:cNvSpPr/>
          <p:nvPr/>
        </p:nvSpPr>
        <p:spPr>
          <a:xfrm>
            <a:off x="640080" y="2075688"/>
            <a:ext cx="6766560" cy="530352"/>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03704"/>
            <a:ext cx="4572000" cy="365760"/>
          </a:xfrm>
          <a:prstGeom prst="rect">
            <a:avLst/>
          </a:prstGeom>
          <a:noFill/>
        </p:spPr>
        <p:txBody>
          <a:bodyPr wrap="square" lIns="0" rIns="0" tIns="0" bIns="0">
            <a:spAutoFit/>
          </a:bodyPr>
          <a:lstStyle/>
          <a:p>
            <a:pPr algn="l"/>
            <a:r>
              <a:rPr sz="1500" b="0" i="0">
                <a:solidFill>
                  <a:srgbClr val="1F242E"/>
                </a:solidFill>
                <a:latin typeface="Calibri"/>
              </a:rPr>
              <a:t>Pages read</a:t>
            </a:r>
          </a:p>
        </p:txBody>
      </p:sp>
      <p:sp>
        <p:nvSpPr>
          <p:cNvPr id="10" name="TextBox 9"/>
          <p:cNvSpPr txBox="1"/>
          <p:nvPr/>
        </p:nvSpPr>
        <p:spPr>
          <a:xfrm>
            <a:off x="5577840" y="2194560"/>
            <a:ext cx="1645920" cy="365760"/>
          </a:xfrm>
          <a:prstGeom prst="rect">
            <a:avLst/>
          </a:prstGeom>
          <a:noFill/>
        </p:spPr>
        <p:txBody>
          <a:bodyPr wrap="square" lIns="0" rIns="0" tIns="0" bIns="0">
            <a:spAutoFit/>
          </a:bodyPr>
          <a:lstStyle/>
          <a:p>
            <a:pPr algn="r"/>
            <a:r>
              <a:rPr sz="1500" b="1" i="0">
                <a:solidFill>
                  <a:srgbClr val="2E5A88"/>
                </a:solidFill>
                <a:latin typeface="Consolas"/>
              </a:rPr>
              <a:t>1,000 of 1,231</a:t>
            </a:r>
          </a:p>
        </p:txBody>
      </p:sp>
      <p:sp>
        <p:nvSpPr>
          <p:cNvPr id="11" name="Rectangle 10"/>
          <p:cNvSpPr/>
          <p:nvPr/>
        </p:nvSpPr>
        <p:spPr>
          <a:xfrm>
            <a:off x="640080" y="2624328"/>
            <a:ext cx="6766560" cy="530352"/>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752344"/>
            <a:ext cx="4572000" cy="365760"/>
          </a:xfrm>
          <a:prstGeom prst="rect">
            <a:avLst/>
          </a:prstGeom>
          <a:noFill/>
        </p:spPr>
        <p:txBody>
          <a:bodyPr wrap="square" lIns="0" rIns="0" tIns="0" bIns="0">
            <a:spAutoFit/>
          </a:bodyPr>
          <a:lstStyle/>
          <a:p>
            <a:pPr algn="l"/>
            <a:r>
              <a:rPr sz="1500" b="0" i="0">
                <a:solidFill>
                  <a:srgbClr val="1F242E"/>
                </a:solidFill>
                <a:latin typeface="Calibri"/>
              </a:rPr>
              <a:t>Pages filed under a question</a:t>
            </a:r>
          </a:p>
        </p:txBody>
      </p:sp>
      <p:sp>
        <p:nvSpPr>
          <p:cNvPr id="13" name="TextBox 12"/>
          <p:cNvSpPr txBox="1"/>
          <p:nvPr/>
        </p:nvSpPr>
        <p:spPr>
          <a:xfrm>
            <a:off x="5577840" y="2743200"/>
            <a:ext cx="1645920" cy="365760"/>
          </a:xfrm>
          <a:prstGeom prst="rect">
            <a:avLst/>
          </a:prstGeom>
          <a:noFill/>
        </p:spPr>
        <p:txBody>
          <a:bodyPr wrap="square" lIns="0" rIns="0" tIns="0" bIns="0">
            <a:spAutoFit/>
          </a:bodyPr>
          <a:lstStyle/>
          <a:p>
            <a:pPr algn="r"/>
            <a:r>
              <a:rPr sz="1500" b="1" i="0">
                <a:solidFill>
                  <a:srgbClr val="2E5A88"/>
                </a:solidFill>
                <a:latin typeface="Consolas"/>
              </a:rPr>
              <a:t>98.7%</a:t>
            </a:r>
          </a:p>
        </p:txBody>
      </p:sp>
      <p:sp>
        <p:nvSpPr>
          <p:cNvPr id="14" name="Rectangle 13"/>
          <p:cNvSpPr/>
          <p:nvPr/>
        </p:nvSpPr>
        <p:spPr>
          <a:xfrm>
            <a:off x="640080" y="3172968"/>
            <a:ext cx="6766560" cy="530352"/>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300984"/>
            <a:ext cx="4572000" cy="365760"/>
          </a:xfrm>
          <a:prstGeom prst="rect">
            <a:avLst/>
          </a:prstGeom>
          <a:noFill/>
        </p:spPr>
        <p:txBody>
          <a:bodyPr wrap="square" lIns="0" rIns="0" tIns="0" bIns="0">
            <a:spAutoFit/>
          </a:bodyPr>
          <a:lstStyle/>
          <a:p>
            <a:pPr algn="l"/>
            <a:r>
              <a:rPr sz="1500" b="0" i="0">
                <a:solidFill>
                  <a:srgbClr val="1F242E"/>
                </a:solidFill>
                <a:latin typeface="Calibri"/>
              </a:rPr>
              <a:t>Booklets with no question found</a:t>
            </a:r>
          </a:p>
        </p:txBody>
      </p:sp>
      <p:sp>
        <p:nvSpPr>
          <p:cNvPr id="16" name="TextBox 15"/>
          <p:cNvSpPr txBox="1"/>
          <p:nvPr/>
        </p:nvSpPr>
        <p:spPr>
          <a:xfrm>
            <a:off x="5577840" y="3291839"/>
            <a:ext cx="1645920" cy="365760"/>
          </a:xfrm>
          <a:prstGeom prst="rect">
            <a:avLst/>
          </a:prstGeom>
          <a:noFill/>
        </p:spPr>
        <p:txBody>
          <a:bodyPr wrap="square" lIns="0" rIns="0" tIns="0" bIns="0">
            <a:spAutoFit/>
          </a:bodyPr>
          <a:lstStyle/>
          <a:p>
            <a:pPr algn="r"/>
            <a:r>
              <a:rPr sz="1500" b="1" i="0">
                <a:solidFill>
                  <a:srgbClr val="2E5A88"/>
                </a:solidFill>
                <a:latin typeface="Consolas"/>
              </a:rPr>
              <a:t>0</a:t>
            </a:r>
          </a:p>
        </p:txBody>
      </p:sp>
      <p:sp>
        <p:nvSpPr>
          <p:cNvPr id="17" name="Rectangle 16"/>
          <p:cNvSpPr/>
          <p:nvPr/>
        </p:nvSpPr>
        <p:spPr>
          <a:xfrm>
            <a:off x="640080" y="3721608"/>
            <a:ext cx="6766560" cy="530352"/>
          </a:xfrm>
          <a:prstGeom prst="rect">
            <a:avLst/>
          </a:prstGeom>
          <a:solidFill>
            <a:srgbClr val="F3F5F8"/>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849624"/>
            <a:ext cx="4572000" cy="365760"/>
          </a:xfrm>
          <a:prstGeom prst="rect">
            <a:avLst/>
          </a:prstGeom>
          <a:noFill/>
        </p:spPr>
        <p:txBody>
          <a:bodyPr wrap="square" lIns="0" rIns="0" tIns="0" bIns="0">
            <a:spAutoFit/>
          </a:bodyPr>
          <a:lstStyle/>
          <a:p>
            <a:pPr algn="l"/>
            <a:r>
              <a:rPr sz="1500" b="0" i="0">
                <a:solidFill>
                  <a:srgbClr val="1F242E"/>
                </a:solidFill>
                <a:latin typeface="Calibri"/>
              </a:rPr>
              <a:t>Figures cropped and embedded</a:t>
            </a:r>
          </a:p>
        </p:txBody>
      </p:sp>
      <p:sp>
        <p:nvSpPr>
          <p:cNvPr id="19" name="TextBox 18"/>
          <p:cNvSpPr txBox="1"/>
          <p:nvPr/>
        </p:nvSpPr>
        <p:spPr>
          <a:xfrm>
            <a:off x="5577840" y="3840480"/>
            <a:ext cx="1645920" cy="365760"/>
          </a:xfrm>
          <a:prstGeom prst="rect">
            <a:avLst/>
          </a:prstGeom>
          <a:noFill/>
        </p:spPr>
        <p:txBody>
          <a:bodyPr wrap="square" lIns="0" rIns="0" tIns="0" bIns="0">
            <a:spAutoFit/>
          </a:bodyPr>
          <a:lstStyle/>
          <a:p>
            <a:pPr algn="r"/>
            <a:r>
              <a:rPr sz="1500" b="1" i="0">
                <a:solidFill>
                  <a:srgbClr val="2E5A88"/>
                </a:solidFill>
                <a:latin typeface="Consolas"/>
              </a:rPr>
              <a:t>619</a:t>
            </a:r>
          </a:p>
        </p:txBody>
      </p:sp>
      <p:sp>
        <p:nvSpPr>
          <p:cNvPr id="20" name="Rectangle 19"/>
          <p:cNvSpPr/>
          <p:nvPr/>
        </p:nvSpPr>
        <p:spPr>
          <a:xfrm>
            <a:off x="640080" y="4270248"/>
            <a:ext cx="6766560" cy="530352"/>
          </a:xfrm>
          <a:prstGeom prst="rect">
            <a:avLst/>
          </a:prstGeom>
          <a:solidFill>
            <a:srgbClr val="FFFFFF"/>
          </a:solidFill>
          <a:ln w="6350">
            <a:solidFill>
              <a:srgbClr val="D2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398264"/>
            <a:ext cx="4572000" cy="365760"/>
          </a:xfrm>
          <a:prstGeom prst="rect">
            <a:avLst/>
          </a:prstGeom>
          <a:noFill/>
        </p:spPr>
        <p:txBody>
          <a:bodyPr wrap="square" lIns="0" rIns="0" tIns="0" bIns="0">
            <a:spAutoFit/>
          </a:bodyPr>
          <a:lstStyle/>
          <a:p>
            <a:pPr algn="l"/>
            <a:r>
              <a:rPr sz="1500" b="0" i="0">
                <a:solidFill>
                  <a:srgbClr val="1F242E"/>
                </a:solidFill>
                <a:latin typeface="Calibri"/>
              </a:rPr>
              <a:t>Pages flagged for human attention</a:t>
            </a:r>
          </a:p>
        </p:txBody>
      </p:sp>
      <p:sp>
        <p:nvSpPr>
          <p:cNvPr id="22" name="TextBox 21"/>
          <p:cNvSpPr txBox="1"/>
          <p:nvPr/>
        </p:nvSpPr>
        <p:spPr>
          <a:xfrm>
            <a:off x="5577840" y="4389120"/>
            <a:ext cx="1645920" cy="365760"/>
          </a:xfrm>
          <a:prstGeom prst="rect">
            <a:avLst/>
          </a:prstGeom>
          <a:noFill/>
        </p:spPr>
        <p:txBody>
          <a:bodyPr wrap="square" lIns="0" rIns="0" tIns="0" bIns="0">
            <a:spAutoFit/>
          </a:bodyPr>
          <a:lstStyle/>
          <a:p>
            <a:pPr algn="r"/>
            <a:r>
              <a:rPr sz="1500" b="1" i="0">
                <a:solidFill>
                  <a:srgbClr val="2E5A88"/>
                </a:solidFill>
                <a:latin typeface="Consolas"/>
              </a:rPr>
              <a:t>59</a:t>
            </a:r>
          </a:p>
        </p:txBody>
      </p:sp>
      <p:sp>
        <p:nvSpPr>
          <p:cNvPr id="23" name="TextBox 22"/>
          <p:cNvSpPr txBox="1"/>
          <p:nvPr/>
        </p:nvSpPr>
        <p:spPr>
          <a:xfrm>
            <a:off x="7772400" y="1527048"/>
            <a:ext cx="3794760" cy="3474720"/>
          </a:xfrm>
          <a:prstGeom prst="rect">
            <a:avLst/>
          </a:prstGeom>
          <a:noFill/>
        </p:spPr>
        <p:txBody>
          <a:bodyPr wrap="square" lIns="0" rIns="0" tIns="0" bIns="0">
            <a:spAutoFit/>
          </a:bodyPr>
          <a:lstStyle/>
          <a:p>
            <a:pPr algn="l"/>
            <a:r>
              <a:rPr sz="1800" b="1" i="0">
                <a:solidFill>
                  <a:srgbClr val="1F242E"/>
                </a:solidFill>
                <a:latin typeface="Calibri"/>
              </a:rPr>
              <a:t>Remaining work</a:t>
            </a:r>
          </a:p>
          <a:p>
            <a:pPr>
              <a:spcBef>
                <a:spcPts val="1200"/>
              </a:spcBef>
            </a:pPr>
            <a:r>
              <a:rPr sz="1450" b="0" i="0">
                <a:solidFill>
                  <a:srgbClr val="6E7582"/>
                </a:solidFill>
                <a:latin typeface="Calibri"/>
              </a:rPr>
              <a:t>▪   </a:t>
            </a:r>
            <a:r>
              <a:rPr sz="1450" b="0" i="0">
                <a:solidFill>
                  <a:srgbClr val="1F242E"/>
                </a:solidFill>
                <a:latin typeface="Calibri"/>
              </a:rPr>
              <a:t>The last 231 pages, which are packed and waiting on GPU time</a:t>
            </a:r>
          </a:p>
          <a:p>
            <a:pPr>
              <a:spcBef>
                <a:spcPts val="1200"/>
              </a:spcBef>
            </a:pPr>
            <a:r>
              <a:rPr sz="1450" b="0" i="0">
                <a:solidFill>
                  <a:srgbClr val="6E7582"/>
                </a:solidFill>
                <a:latin typeface="Calibri"/>
              </a:rPr>
              <a:t>▪   </a:t>
            </a:r>
            <a:r>
              <a:rPr sz="1450" b="0" i="0">
                <a:solidFill>
                  <a:srgbClr val="1F242E"/>
                </a:solidFill>
                <a:latin typeface="Calibri"/>
              </a:rPr>
              <a:t>Sparse line drawings that the figure detector still misses</a:t>
            </a:r>
          </a:p>
          <a:p>
            <a:pPr>
              <a:spcBef>
                <a:spcPts val="1200"/>
              </a:spcBef>
            </a:pPr>
            <a:r>
              <a:rPr sz="1450" b="0" i="0">
                <a:solidFill>
                  <a:srgbClr val="6E7582"/>
                </a:solidFill>
                <a:latin typeface="Calibri"/>
              </a:rPr>
              <a:t>▪   </a:t>
            </a:r>
            <a:r>
              <a:rPr sz="1450" b="0" i="0">
                <a:solidFill>
                  <a:srgbClr val="1F242E"/>
                </a:solidFill>
                <a:latin typeface="Calibri"/>
              </a:rPr>
              <a:t>13 pages that open mid-answer with no label to file them under</a:t>
            </a:r>
          </a:p>
        </p:txBody>
      </p:sp>
      <p:sp>
        <p:nvSpPr>
          <p:cNvPr id="24" name="Rectangle 23"/>
          <p:cNvSpPr/>
          <p:nvPr/>
        </p:nvSpPr>
        <p:spPr>
          <a:xfrm>
            <a:off x="640080" y="5074920"/>
            <a:ext cx="10927080" cy="25400"/>
          </a:xfrm>
          <a:prstGeom prst="rect">
            <a:avLst/>
          </a:prstGeom>
          <a:solidFill>
            <a:srgbClr val="D2D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349240"/>
            <a:ext cx="10927080" cy="914400"/>
          </a:xfrm>
          <a:prstGeom prst="rect">
            <a:avLst/>
          </a:prstGeom>
          <a:noFill/>
        </p:spPr>
        <p:txBody>
          <a:bodyPr wrap="square" lIns="0" rIns="0" tIns="0" bIns="0">
            <a:spAutoFit/>
          </a:bodyPr>
          <a:lstStyle/>
          <a:p>
            <a:pPr algn="l"/>
            <a:r>
              <a:rPr sz="2000" b="1" i="0">
                <a:solidFill>
                  <a:srgbClr val="1F242E"/>
                </a:solidFill>
                <a:latin typeface="Calibri"/>
              </a:rPr>
              <a:t>A scanned booklet is now a document that can be read, searched and processed.</a:t>
            </a:r>
          </a:p>
          <a:p>
            <a:pPr>
              <a:spcBef>
                <a:spcPts val="700"/>
              </a:spcBef>
            </a:pPr>
            <a:r>
              <a:rPr sz="1550" b="0" i="0">
                <a:solidFill>
                  <a:srgbClr val="6E7582"/>
                </a:solidFill>
                <a:latin typeface="Calibri"/>
              </a:rPr>
              <a:t>Automatic marking against the official schemes is the next stage, and it begins from these files.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